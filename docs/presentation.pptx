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to remember: retrieval sits behind a real MCP server; every answer cites its source; the system refuses instead of guessing when evidence is weak.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classic failure modes this design targets: an LLM given a corpus will still fabricate, and the reader cannot verify where an answer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top down. The key property is at the server layer: it holds no conversation state, so any MCP host can drive it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numbers at the bottom decide where optimisation effort should go: a smaller model, streaming, fewer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optional install upgrades one layer; without them the system still answers, extractively and with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memory or an LLM moved into the server, it would become an HTTP API wearing the MCP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Cosine and BM25 live on different scales; fusing by rank avoids normalising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extraction bugs were not cosmetic: the site name sat as a prefix on all 47 titles, so every chunk opened with the same 12 characters.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Splitting the subagents keeps each stage separately traceable and gives the refusal gate one definite place to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 because they have different lifetimes and different token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Calibration scores questions the corpus should answer against ones it should not, then reports where the distributions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an empty .env the system still runs: lexical retrieval plus extractive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unit tests, lint clean, plus the evaluation and calibration scripts.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Knowing the limits of your own system is part of the work, not an apology.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ZE UNIVERSITY  ·  AI CENTER  (ICAIA)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82880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YZU AI Center Assistant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7889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 client–server RAG system — grounded answers that cite their sources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Anh Cao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4892040"/>
            <a:ext cx="237744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49926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431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4892040"/>
            <a:ext cx="237744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49926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5431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chunks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33872" y="4892040"/>
            <a:ext cx="237744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33872" y="49926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833872" y="5431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67344" y="4892040"/>
            <a:ext cx="237744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67344" y="49926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67344" y="5431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required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that answers questions about the Yuan Ze University AI Center using only that centre's own website.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64328" cy="1481328"/>
          </a:xfrm>
          <a:prstGeom prst="roundRect">
            <a:avLst>
              <a:gd name="adj" fmla="val 49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92224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755648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084832"/>
            <a:ext cx="439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factual sentence carries a [n] citation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the page it came from.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0440" y="1572768"/>
            <a:ext cx="5364328" cy="1481328"/>
          </a:xfrm>
          <a:prstGeom prst="roundRect">
            <a:avLst>
              <a:gd name="adj" fmla="val 493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1792224"/>
            <a:ext cx="365760" cy="3657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8184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755648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Refusal, not guessing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10248" y="2084832"/>
            <a:ext cx="439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 calibrated confidence threshold the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declines and says why.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364992"/>
            <a:ext cx="5364328" cy="1481328"/>
          </a:xfrm>
          <a:prstGeom prst="roundRect">
            <a:avLst>
              <a:gd name="adj" fmla="val 493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584448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3547872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behind MCP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3877056"/>
            <a:ext cx="439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stateless MCP server any host can connect to —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server are separate processes.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0440" y="3364992"/>
            <a:ext cx="5364328" cy="1481328"/>
          </a:xfrm>
          <a:prstGeom prst="roundRect">
            <a:avLst>
              <a:gd name="adj" fmla="val 493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8184" y="3584448"/>
            <a:ext cx="365760" cy="3657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8184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10248" y="3547872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without an API key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10248" y="3877056"/>
            <a:ext cx="439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to cited extractive answers, and the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states which mode it is in.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974336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4974336"/>
            <a:ext cx="914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801368" y="4974336"/>
            <a:ext cx="954907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TAICA credit programs  ·  courses  ·  labs and equipment  ·  faculty  ·  news and announcements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</p:txBody>
      </p:sp>
      <p:pic>
        <p:nvPicPr>
          <p:cNvPr id="3" name="Image 0" descr="/Users/macos/Documents/project2026/demo-rag-mcp/docs/diagram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997" y="1051560"/>
            <a:ext cx="964370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of one turn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and timings taken from the trace panel.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478682" cy="1572768"/>
          </a:xfrm>
          <a:prstGeom prst="roundRect">
            <a:avLst>
              <a:gd name="adj" fmla="val 465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92224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755648"/>
            <a:ext cx="2509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084832"/>
            <a:ext cx="2509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rules first; the LLM is called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ambiguity. ~0 ms, 0 tokens.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6506" y="1572768"/>
            <a:ext cx="3478682" cy="1572768"/>
          </a:xfrm>
          <a:prstGeom prst="roundRect">
            <a:avLst>
              <a:gd name="adj" fmla="val 465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4250" y="1792224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4250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06314" y="1755648"/>
            <a:ext cx="2509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06314" y="2084832"/>
            <a:ext cx="2509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table maps intent to an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subagent pipeline.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46085" y="1572768"/>
            <a:ext cx="3478682" cy="1572768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3829" y="1792224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3829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95893" y="1755648"/>
            <a:ext cx="2509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895893" y="2084832"/>
            <a:ext cx="2509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among the tools the server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advertised; the name is validated.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3419856"/>
            <a:ext cx="3478682" cy="1572768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639312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3602736"/>
            <a:ext cx="2509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16736" y="3931920"/>
            <a:ext cx="2509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rewritten from memory into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variants, issued in parallel.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56506" y="3419856"/>
            <a:ext cx="3478682" cy="1572768"/>
          </a:xfrm>
          <a:prstGeom prst="roundRect">
            <a:avLst>
              <a:gd name="adj" fmla="val 465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4250" y="3639312"/>
            <a:ext cx="365760" cy="3657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9425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06314" y="3602736"/>
            <a:ext cx="2509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106314" y="3931920"/>
            <a:ext cx="2509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score below MIN_SCORE → refuse,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control flow, before generation.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46085" y="3419856"/>
            <a:ext cx="3478682" cy="1572768"/>
          </a:xfrm>
          <a:prstGeom prst="roundRect">
            <a:avLst>
              <a:gd name="adj" fmla="val 465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83829" y="3639312"/>
            <a:ext cx="365760" cy="3657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83829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95893" y="3602736"/>
            <a:ext cx="2509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895893" y="3931920"/>
            <a:ext cx="2509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with [n] citations, then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updated and persisted.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6928" y="5138928"/>
            <a:ext cx="11057839" cy="969264"/>
          </a:xfrm>
          <a:prstGeom prst="roundRect">
            <a:avLst>
              <a:gd name="adj" fmla="val 754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86968" y="5138928"/>
            <a:ext cx="17373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ms</a:t>
            </a:r>
            <a:endParaRPr lang="en-US" sz="2500" dirty="0"/>
          </a:p>
        </p:txBody>
      </p:sp>
      <p:sp>
        <p:nvSpPr>
          <p:cNvPr id="36" name="Text 34"/>
          <p:cNvSpPr txBox="1"/>
          <p:nvPr/>
        </p:nvSpPr>
        <p:spPr>
          <a:xfrm>
            <a:off x="2670048" y="5138928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MCP retrieval calls, combined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144768" y="5138928"/>
            <a:ext cx="17373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2500" dirty="0"/>
          </a:p>
        </p:txBody>
      </p:sp>
      <p:sp>
        <p:nvSpPr>
          <p:cNvPr id="38" name="Text 36"/>
          <p:cNvSpPr txBox="1"/>
          <p:nvPr/>
        </p:nvSpPr>
        <p:spPr>
          <a:xfrm>
            <a:off x="7927848" y="5138928"/>
            <a:ext cx="337687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7.4 s turn is three LLM calls — latency lives in generation, not retrieval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so the whole system runs from a plain git clone, with no service to start and no API key.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64328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55648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84832"/>
            <a:ext cx="490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asyncio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0440" y="1627632"/>
            <a:ext cx="5364328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8184" y="1755648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98184" y="2084832"/>
            <a:ext cx="490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over JSON-RPC · stdio or streamable HTTP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761488"/>
            <a:ext cx="5364328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889504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218688"/>
            <a:ext cx="490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· multilingual-e5-small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0440" y="2761488"/>
            <a:ext cx="5364328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8184" y="2889504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8184" y="3218688"/>
            <a:ext cx="490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— persistent, cosine + metadata filter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5364328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402336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 search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352544"/>
            <a:ext cx="490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rank_bm25 (BM25Okapi) · jieba · CJK bigrams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0440" y="3895344"/>
            <a:ext cx="5364328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8184" y="4023360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98184" y="4352544"/>
            <a:ext cx="490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endpoint — GPT, Gemini, Ollama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5029200"/>
            <a:ext cx="5364328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515721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486400"/>
            <a:ext cx="490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pydantic-settings · vanilla JS console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0440" y="5029200"/>
            <a:ext cx="5364328" cy="93268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8184" y="515721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 &amp; eval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98184" y="5486400"/>
            <a:ext cx="490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BeautifulSoup · pytest · custom eval set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MCP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server are separate processes that discover each other through a standard schema.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5364328" cy="1572768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28800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792224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is stateless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121408"/>
            <a:ext cx="439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memory, no LLM, no conversation state.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lets any host — ours, or a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one — drive it unchanged.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0440" y="1609344"/>
            <a:ext cx="5364328" cy="1572768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1828800"/>
            <a:ext cx="365760" cy="3657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8184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792224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picks the tool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10248" y="2121408"/>
            <a:ext cx="439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cannot answer "what's new" —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needs date ordering. The client chooses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schemas MCP sends at discovery.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401568"/>
            <a:ext cx="11057839" cy="1883664"/>
          </a:xfrm>
          <a:prstGeom prst="roundRect">
            <a:avLst>
              <a:gd name="adj" fmla="val 388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529584"/>
            <a:ext cx="10509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MCP primitives — most implementations expose only Tools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3931920"/>
            <a:ext cx="33567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TOOLS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206240"/>
            <a:ext cx="33567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search_documents · get_document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get_news · list_by_section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list_sources · index_status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17466" y="3931920"/>
            <a:ext cx="33567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RESOURCES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417466" y="4206240"/>
            <a:ext cx="33567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yzu://doc/{url}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yzu://index/manifest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993685" y="3931920"/>
            <a:ext cx="33567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PROMPT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93685" y="4206240"/>
            <a:ext cx="33567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grounded_answer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citation-first template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4864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is a deployment decision: MCP_TRANSPORT=stdio | http — one environment variable, no code change.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hybrid search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alone misses exact identifiers; BM25 alone misses paraphrase.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956816" cy="1133856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01168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4203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or English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06040" y="2304288"/>
            <a:ext cx="219456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1828800"/>
            <a:ext cx="1956816" cy="1133856"/>
          </a:xfrm>
          <a:prstGeom prst="roundRect">
            <a:avLst>
              <a:gd name="adj" fmla="val 6452"/>
            </a:avLst>
          </a:prstGeom>
          <a:solidFill>
            <a:srgbClr val="ECFDF5"/>
          </a:solidFill>
          <a:ln w="15875">
            <a:solidFill>
              <a:srgbClr val="A7F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7792" y="201168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BM25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254203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 each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46904" y="2304288"/>
            <a:ext cx="219456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48656" y="1828800"/>
            <a:ext cx="1956816" cy="1133856"/>
          </a:xfrm>
          <a:prstGeom prst="roundRect">
            <a:avLst>
              <a:gd name="adj" fmla="val 6452"/>
            </a:avLst>
          </a:prstGeom>
          <a:solidFill>
            <a:srgbClr val="F5F3FF"/>
          </a:solidFill>
          <a:ln w="15875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48656" y="201168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248656" y="254203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fusion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87768" y="2304288"/>
            <a:ext cx="219456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1828800"/>
            <a:ext cx="1956816" cy="1133856"/>
          </a:xfrm>
          <a:prstGeom prst="roundRect">
            <a:avLst>
              <a:gd name="adj" fmla="val 6452"/>
            </a:avLst>
          </a:prstGeom>
          <a:solidFill>
            <a:srgbClr val="FFFBEB"/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01168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54203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separately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28632" y="2304288"/>
            <a:ext cx="219456" cy="18288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30384" y="1828800"/>
            <a:ext cx="1956816" cy="1133856"/>
          </a:xfrm>
          <a:prstGeom prst="roundRect">
            <a:avLst>
              <a:gd name="adj" fmla="val 6452"/>
            </a:avLst>
          </a:prstGeom>
          <a:solidFill>
            <a:srgbClr val="EFF6FF"/>
          </a:solidFill>
          <a:ln w="15875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30384" y="201168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930384" y="254203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310128"/>
            <a:ext cx="5364328" cy="1316736"/>
          </a:xfrm>
          <a:prstGeom prst="roundRect">
            <a:avLst>
              <a:gd name="adj" fmla="val 555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3493008"/>
            <a:ext cx="490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orders — it does not score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" y="3822192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top hit always scores 1/(k+1), however bad.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computed separately as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max(cosine, query-term coverage).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0440" y="3310128"/>
            <a:ext cx="5364328" cy="1316736"/>
          </a:xfrm>
          <a:prstGeom prst="roundRect">
            <a:avLst>
              <a:gd name="adj" fmla="val 555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8184" y="3493008"/>
            <a:ext cx="490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jieba + CJK character bigrams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98184" y="3822192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jieba segments query and document differently.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give a segmentation-independent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backstop — standard practice in Chinese IR.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4882896"/>
            <a:ext cx="11057839" cy="950976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1248" y="4992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ChromaDB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" y="5266944"/>
            <a:ext cx="105091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its metadata query surface — that is what get_news and list_by_section filter on — plus persistence with no service to run. At 373 chunks a flat matmul would match its speed.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— chunks that carry their own context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Heading-aware first, then length-bounded: 500 characters, 80 overlap, cut at sentence ends.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5346040" cy="1920240"/>
          </a:xfrm>
          <a:prstGeom prst="roundRect">
            <a:avLst>
              <a:gd name="adj" fmla="val 381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3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bare chunk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12848"/>
            <a:ext cx="483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本聯盟各學分學程總修習學分為 15 學分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79776"/>
            <a:ext cx="483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fragment with no subject — the reader cannot tell which programme it describes.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682496"/>
            <a:ext cx="534604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4760" y="1828800"/>
            <a:ext cx="483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title + heading prefix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4760" y="2212848"/>
            <a:ext cx="483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TAICA聯盟學分學程介紹 &gt; 人工智慧視覺技術學分學程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本聯盟各學分學程總修習學分為 15 學分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4760" y="3017520"/>
            <a:ext cx="483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chunk keeps its own context once it is separated from its neighbours.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84048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fixing the crawler removed from the index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242816"/>
            <a:ext cx="25587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4370832"/>
            <a:ext cx="255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 → 373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" y="4828032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— 60% was noise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99968" y="4242816"/>
            <a:ext cx="25587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99968" y="4370832"/>
            <a:ext cx="255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 → 4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527984" y="4828032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lines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4242816"/>
            <a:ext cx="25587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4370832"/>
            <a:ext cx="255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 → 46%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361024" y="4828032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page's share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66047" y="4242816"/>
            <a:ext cx="25587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66047" y="4370832"/>
            <a:ext cx="255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168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194063" y="4828032"/>
            <a:ext cx="230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rows preserved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— intent, routing, subagents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conversational lives on the client, so the server can stay stateless.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5364328" cy="1481328"/>
          </a:xfrm>
          <a:prstGeom prst="roundRect">
            <a:avLst>
              <a:gd name="adj" fmla="val 49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28800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792224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— rules before the model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121408"/>
            <a:ext cx="439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labels. A regex fast path settles greetings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obvious off-topic queries in ~0 ms, which is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what keeps the system working with no LLM.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0440" y="1609344"/>
            <a:ext cx="5364328" cy="1481328"/>
          </a:xfrm>
          <a:prstGeom prst="roundRect">
            <a:avLst>
              <a:gd name="adj" fmla="val 493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1828800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8184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792224"/>
            <a:ext cx="439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— a table, not if-else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10248" y="2121408"/>
            <a:ext cx="439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capability means adding a row, and the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decision stays inspectable — it appears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named stage in the trace panel.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3101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subagents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255872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877056"/>
            <a:ext cx="219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tool_selector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224528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tool from the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server's own schemas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99968" y="3712464"/>
            <a:ext cx="255872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82848" y="3877056"/>
            <a:ext cx="219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582848" y="4224528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and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fan-out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33008" y="3712464"/>
            <a:ext cx="255872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5888" y="3877056"/>
            <a:ext cx="219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15888" y="4224528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generation,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refusal gate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66047" y="3712464"/>
            <a:ext cx="255872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48927" y="3877056"/>
            <a:ext cx="219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48927" y="4224528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28523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is what makes a follow-up work: “那個學程呢？” retrieves nothing standalone, but resolved against memory it retrieves correctly.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— three tiers, three lifetimes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blob either forgets too fast or floods the context window.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466490" cy="2926080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39696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turns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29544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6 exchanges, verbatim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80944"/>
            <a:ext cx="295442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into every prompt, so the model sees the thread without replaying the whole history.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2602" y="1645920"/>
            <a:ext cx="3466490" cy="2926080"/>
          </a:xfrm>
          <a:prstGeom prst="roundRect">
            <a:avLst>
              <a:gd name="adj" fmla="val 25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8634" y="1828800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8634" y="2139696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&amp; entities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18634" y="2560320"/>
            <a:ext cx="29544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topic + up to 12 entities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18634" y="2980944"/>
            <a:ext cx="295442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an elliptical follow-up answerable — the retrieval agent splices it into the query.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8277" y="1645920"/>
            <a:ext cx="3466490" cy="292608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4309" y="1828800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414309" y="2139696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summary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14309" y="2560320"/>
            <a:ext cx="29544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every 8 exchanges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14309" y="2980944"/>
            <a:ext cx="295442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per session to data/memory/, so a conversation survives a restart.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828032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4828032"/>
            <a:ext cx="1050919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answered turn is written to disk before summarisation runs — compaction is best-effort and must never discard the turn that triggered it.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refusal gate is calibrated, not guessed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630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EF2F2"/>
          </a:solidFill>
          <a:ln w="15875">
            <a:solidFill>
              <a:srgbClr val="FECAC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6824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4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MIN_SCORE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011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0.854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9443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in-scope  0.863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out-of-scope  0.844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9392" y="1463040"/>
            <a:ext cx="7345375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7136" y="1645920"/>
            <a:ext cx="6888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 happens in control flow, not in the prompt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17136" y="1975104"/>
            <a:ext cx="6888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handed weak context still writes a confident paragraph. The only reliable place to stop that is before generation.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79392" y="2670048"/>
            <a:ext cx="7345375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7136" y="2852928"/>
            <a:ext cx="6888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by calibration, not by tests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3182112"/>
            <a:ext cx="6888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sat at 0.35 while every query scored above 0.83 — the gate was live code that could never fire.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986784"/>
            <a:ext cx="11057839" cy="1737360"/>
          </a:xfrm>
          <a:prstGeom prst="roundRect">
            <a:avLst>
              <a:gd name="adj" fmla="val 421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4151376"/>
            <a:ext cx="104726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margin is 0.019 — clean, but thin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4517136"/>
            <a:ext cx="104726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multilingual-e5-small has a high similarity floor: unrelated text pairs already sit around 0.75–0.85, so the usable band is narrow and one badly worded out-of-scope question could still cross it.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fix — score the top hit against the corpus's own background similarity instead of raw cosine — is identified but not yet done.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degrade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missing layer costs one capability — and the UI states which mode it is 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27632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LLM, or no network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24528" y="1627632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become cited extractive excerpts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339328" y="1627632"/>
            <a:ext cx="30111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LLM_MODE=offline and HF_HUB_OFFLINE=1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70048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67004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embedding model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24528" y="2670048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BM25 alone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339328" y="2670048"/>
            <a:ext cx="30111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badge reads “lexical”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712464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71246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deployment needed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24528" y="3712464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switches to streamable HTTP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3712464"/>
            <a:ext cx="30111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environment variable, no code change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754880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75488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MCP host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24528" y="4754880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same server unchanged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4754880"/>
            <a:ext cx="30111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 state to carry over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650992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never pretends to be more capable than it is — both degradations are visible in the status bar and in index_status.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crawl, hybrid mode, 15-question evaluation set.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2558720" cy="1517904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856232"/>
            <a:ext cx="255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0.933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255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hit @5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9968" y="1591056"/>
            <a:ext cx="2558720" cy="1517904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99968" y="1856232"/>
            <a:ext cx="255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0.813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399968" y="2514600"/>
            <a:ext cx="255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MRR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591056"/>
            <a:ext cx="2558720" cy="1517904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3008" y="1856232"/>
            <a:ext cx="255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0.667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233008" y="2514600"/>
            <a:ext cx="255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span @5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66047" y="1591056"/>
            <a:ext cx="2558720" cy="1517904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66047" y="1856232"/>
            <a:ext cx="255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ms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066047" y="2514600"/>
            <a:ext cx="255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310128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493008"/>
            <a:ext cx="106006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answer_span is the number that matters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8221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the retrieved text actually contains the expected fact. A system can score a perfect hit@5 while returning a page's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menu — which is why it is reported separately, and why it is the lowest number here rather than the flattering one.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663440"/>
            <a:ext cx="11057839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4846320"/>
            <a:ext cx="106006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of the five misses are a Unicode bug, not retrieval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5175504"/>
            <a:ext cx="10600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uses compatibility ideographs — 領 U+F9B4 — identical in appearance to what users type, 領 U+9818. The facts are in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index; keyword matching cannot see them. Fix: normalise at ingest and query time.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limits, and what comes next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481328"/>
            <a:ext cx="534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278728" y="1481328"/>
            <a:ext cx="534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865376"/>
            <a:ext cx="534604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865376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margin is 0.019 — the e5 similarity floor.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865376"/>
            <a:ext cx="5346040" cy="749808"/>
          </a:xfrm>
          <a:prstGeom prst="roundRect">
            <a:avLst>
              <a:gd name="adj" fmla="val 73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8184" y="1865376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top hit against the corpus's own background similarity.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761488"/>
            <a:ext cx="534604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2761488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evaluation misses from look-alike Unicode characters.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2761488"/>
            <a:ext cx="5346040" cy="749808"/>
          </a:xfrm>
          <a:prstGeom prst="roundRect">
            <a:avLst>
              <a:gd name="adj" fmla="val 73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8184" y="2761488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compatibility ideographs at ingest and query 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657600"/>
            <a:ext cx="534604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657600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is 46% of the corpus.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8728" y="3657600"/>
            <a:ext cx="5346040" cy="749808"/>
          </a:xfrm>
          <a:prstGeom prst="roundRect">
            <a:avLst>
              <a:gd name="adj" fmla="val 73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8184" y="3657600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or down-weight each document's share of the index.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553712"/>
            <a:ext cx="534604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4553712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is a point-in-time snapshot.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8728" y="4553712"/>
            <a:ext cx="5346040" cy="749808"/>
          </a:xfrm>
          <a:prstGeom prst="roundRect">
            <a:avLst>
              <a:gd name="adj" fmla="val 73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8184" y="4553712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update with change detection.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449824"/>
            <a:ext cx="5346040" cy="749808"/>
          </a:xfrm>
          <a:prstGeom prst="roundRect">
            <a:avLst>
              <a:gd name="adj" fmla="val 73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" y="5449824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of generated answers is judged by hand.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78728" y="5449824"/>
            <a:ext cx="5346040" cy="749808"/>
          </a:xfrm>
          <a:prstGeom prst="roundRect">
            <a:avLst>
              <a:gd name="adj" fmla="val 73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8184" y="5449824"/>
            <a:ext cx="490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RAGAS evaluation pass.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5544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48716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3566160"/>
            <a:ext cx="5346040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3730752"/>
            <a:ext cx="476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4078224"/>
            <a:ext cx="4760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install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ingest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        # http://127.0.0.1:8000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78728" y="3566160"/>
            <a:ext cx="5346040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71336" y="3730752"/>
            <a:ext cx="476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71336" y="4078224"/>
            <a:ext cx="4760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docs/functional-spec.md — full specification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— design notes and demo script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6692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 Cao  ·  Yuan Ze University AI Center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YZU AI Center Assistant</dc:title>
  <dc:subject>PptxGenJS Presentation</dc:subject>
  <dc:creator>Anh Cao</dc:creator>
  <cp:lastModifiedBy>Anh Cao</cp:lastModifiedBy>
  <cp:revision>1</cp:revision>
  <dcterms:created xsi:type="dcterms:W3CDTF">2026-09-14T15:34:15Z</dcterms:created>
  <dcterms:modified xsi:type="dcterms:W3CDTF">2026-09-14T15:34:15Z</dcterms:modified>
</cp:coreProperties>
</file>