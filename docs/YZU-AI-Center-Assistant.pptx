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Time per stage</c:v>
                </c:pt>
              </c:strCache>
            </c:strRef>
          </c:tx>
          <c:spPr>
            <a:solidFill>
              <a:srgbClr val="2563EB"/>
            </a:solidFill>
            <a:effectLst/>
          </c:spPr>
          <c:invertIfNegative val="0"/>
          <c:dLbls>
            <c:numFmt formatCode="0&quot; ms&quot;" sourceLinked="0"/>
            <c:txPr>
              <a:bodyPr/>
              <a:lstStyle/>
              <a:p>
                <a:pPr>
                  <a:defRPr b="0" i="0" strike="noStrike" sz="1100" u="none">
                    <a:solidFill>
                      <a:srgbClr val="0F172A"/>
                    </a:solidFill>
                    <a:latin typeface="Calibri"/>
                  </a:defRPr>
                </a:pPr>
              </a:p>
            </c:txPr>
            <c:showLegendKey val="0"/>
            <c:showVal val="1"/>
            <c:showCatName val="0"/>
            <c:showSerName val="0"/>
            <c:showPercent val="0"/>
            <c:showBubbleSize val="0"/>
            <c:showLeaderLines val="0"/>
          </c:dLbls>
          <c:cat>
            <c:multiLvlStrRef>
              <c:f>Sheet1!$A$2:$A$8</c:f>
              <c:multiLvlStrCache>
                <c:ptCount val="7"/>
                <c:lvl>
                  <c:pt idx="0">
                    <c:v>intent (rules)</c:v>
                  </c:pt>
                  <c:pt idx="1">
                    <c:v>router</c:v>
                  </c:pt>
                  <c:pt idx="2">
                    <c:v>tool_selector (LLM)</c:v>
                  </c:pt>
                  <c:pt idx="3">
                    <c:v>retrieval rewrite (LLM)</c:v>
                  </c:pt>
                  <c:pt idx="4">
                    <c:v>mcp: get_news</c:v>
                  </c:pt>
                  <c:pt idx="5">
                    <c:v>mcp: get_document</c:v>
                  </c:pt>
                  <c:pt idx="6">
                    <c:v>answer (LLM)</c:v>
                  </c:pt>
                </c:lvl>
              </c:multiLvlStrCache>
            </c:multiLvlStrRef>
          </c:cat>
          <c:val>
            <c:numRef>
              <c:f>Sheet1!$B$2:$B$8</c:f>
              <c:numCache>
                <c:formatCode>General</c:formatCode>
                <c:ptCount val="7"/>
                <c:pt idx="0">
                  <c:v>1.8</c:v>
                </c:pt>
                <c:pt idx="1">
                  <c:v>0</c:v>
                </c:pt>
                <c:pt idx="2">
                  <c:v>3633.8</c:v>
                </c:pt>
                <c:pt idx="3">
                  <c:v>1004.7</c:v>
                </c:pt>
                <c:pt idx="4">
                  <c:v>17.8</c:v>
                </c:pt>
                <c:pt idx="5">
                  <c:v>9.1</c:v>
                </c:pt>
                <c:pt idx="6">
                  <c:v>2774.3</c:v>
                </c:pt>
              </c:numCache>
            </c:numRef>
          </c:val>
        </c:ser>
        <c:dLbls>
          <c:numFmt formatCode="0&quot; ms&quot;" sourceLinked="0"/>
          <c:txPr>
            <a:bodyPr/>
            <a:lstStyle/>
            <a:p>
              <a:pPr>
                <a:defRPr b="0" i="0" strike="noStrike" sz="1100" u="none">
                  <a:solidFill>
                    <a:srgbClr val="0F172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49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Off-topic (must be refused)</c:v>
                </c:pt>
              </c:strCache>
            </c:strRef>
          </c:tx>
          <c:spPr>
            <a:solidFill>
              <a:srgbClr val="DC262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Sheet1!$A$2:$A$19</c:f>
              <c:multiLvlStrCache>
                <c:ptCount val="18"/>
                <c:lvl>
                  <c:pt idx="0">
                    <c:v>off-topic 1</c:v>
                  </c:pt>
                  <c:pt idx="1">
                    <c:v>off-topic 2</c:v>
                  </c:pt>
                  <c:pt idx="2">
                    <c:v>off-topic 3</c:v>
                  </c:pt>
                  <c:pt idx="3">
                    <c:v>off-topic 4</c:v>
                  </c:pt>
                  <c:pt idx="4">
                    <c:v>off-topic 5</c:v>
                  </c:pt>
                  <c:pt idx="5">
                    <c:v>off-topic 6</c:v>
                  </c:pt>
                  <c:pt idx="6">
                    <c:v>answerable 1</c:v>
                  </c:pt>
                  <c:pt idx="7">
                    <c:v>answerable 2</c:v>
                  </c:pt>
                  <c:pt idx="8">
                    <c:v>answerable 3</c:v>
                  </c:pt>
                  <c:pt idx="9">
                    <c:v>answerable 4</c:v>
                  </c:pt>
                  <c:pt idx="10">
                    <c:v>answerable 5</c:v>
                  </c:pt>
                  <c:pt idx="11">
                    <c:v>answerable 6</c:v>
                  </c:pt>
                  <c:pt idx="12">
                    <c:v>answerable 7</c:v>
                  </c:pt>
                  <c:pt idx="13">
                    <c:v>answerable 8</c:v>
                  </c:pt>
                  <c:pt idx="14">
                    <c:v>answerable 9</c:v>
                  </c:pt>
                  <c:pt idx="15">
                    <c:v>answerable 10</c:v>
                  </c:pt>
                  <c:pt idx="16">
                    <c:v>answerable 11</c:v>
                  </c:pt>
                  <c:pt idx="17">
                    <c:v>answerable 12</c:v>
                  </c:pt>
                </c:lvl>
              </c:multiLvlStrCache>
            </c:multiLvlStrRef>
          </c:cat>
          <c:val>
            <c:numRef>
              <c:f>Sheet1!$B$2:$B$19</c:f>
              <c:numCache>
                <c:formatCode>General</c:formatCode>
                <c:ptCount val="18"/>
                <c:pt idx="0">
                  <c:v>0.7748</c:v>
                </c:pt>
                <c:pt idx="1">
                  <c:v>0.8326</c:v>
                </c:pt>
                <c:pt idx="2">
                  <c:v>0.837</c:v>
                </c:pt>
                <c:pt idx="3">
                  <c:v>0.8384</c:v>
                </c:pt>
                <c:pt idx="4">
                  <c:v>0.8405</c:v>
                </c:pt>
                <c:pt idx="5">
                  <c:v>0.8439</c:v>
                </c:pt>
                <c:pt idx="6">
                  <c:v>0</c:v>
                </c:pt>
                <c:pt idx="7">
                  <c:v>0</c:v>
                </c:pt>
                <c:pt idx="8">
                  <c:v>0</c:v>
                </c:pt>
                <c:pt idx="9">
                  <c:v>0</c:v>
                </c:pt>
                <c:pt idx="10">
                  <c:v>0</c:v>
                </c:pt>
                <c:pt idx="11">
                  <c:v>0</c:v>
                </c:pt>
                <c:pt idx="12">
                  <c:v>0</c:v>
                </c:pt>
                <c:pt idx="13">
                  <c:v>0</c:v>
                </c:pt>
                <c:pt idx="14">
                  <c:v>0</c:v>
                </c:pt>
                <c:pt idx="15">
                  <c:v>0</c:v>
                </c:pt>
                <c:pt idx="16">
                  <c:v>0</c:v>
                </c:pt>
                <c:pt idx="17">
                  <c:v>0</c:v>
                </c:pt>
              </c:numCache>
            </c:numRef>
          </c:val>
        </c:ser>
        <c:ser>
          <c:idx val="1"/>
          <c:order val="1"/>
          <c:tx>
            <c:strRef>
              <c:f>Sheet1!$C$1</c:f>
              <c:strCache>
                <c:ptCount val="1"/>
                <c:pt idx="0">
                  <c:v>Answerable</c:v>
                </c:pt>
              </c:strCache>
            </c:strRef>
          </c:tx>
          <c:spPr>
            <a:solidFill>
              <a:srgbClr val="2563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Sheet1!$A$2:$A$19</c:f>
              <c:multiLvlStrCache>
                <c:ptCount val="18"/>
                <c:lvl>
                  <c:pt idx="0">
                    <c:v>off-topic 1</c:v>
                  </c:pt>
                  <c:pt idx="1">
                    <c:v>off-topic 2</c:v>
                  </c:pt>
                  <c:pt idx="2">
                    <c:v>off-topic 3</c:v>
                  </c:pt>
                  <c:pt idx="3">
                    <c:v>off-topic 4</c:v>
                  </c:pt>
                  <c:pt idx="4">
                    <c:v>off-topic 5</c:v>
                  </c:pt>
                  <c:pt idx="5">
                    <c:v>off-topic 6</c:v>
                  </c:pt>
                  <c:pt idx="6">
                    <c:v>answerable 1</c:v>
                  </c:pt>
                  <c:pt idx="7">
                    <c:v>answerable 2</c:v>
                  </c:pt>
                  <c:pt idx="8">
                    <c:v>answerable 3</c:v>
                  </c:pt>
                  <c:pt idx="9">
                    <c:v>answerable 4</c:v>
                  </c:pt>
                  <c:pt idx="10">
                    <c:v>answerable 5</c:v>
                  </c:pt>
                  <c:pt idx="11">
                    <c:v>answerable 6</c:v>
                  </c:pt>
                  <c:pt idx="12">
                    <c:v>answerable 7</c:v>
                  </c:pt>
                  <c:pt idx="13">
                    <c:v>answerable 8</c:v>
                  </c:pt>
                  <c:pt idx="14">
                    <c:v>answerable 9</c:v>
                  </c:pt>
                  <c:pt idx="15">
                    <c:v>answerable 10</c:v>
                  </c:pt>
                  <c:pt idx="16">
                    <c:v>answerable 11</c:v>
                  </c:pt>
                  <c:pt idx="17">
                    <c:v>answerable 12</c:v>
                  </c:pt>
                </c:lvl>
              </c:multiLvlStrCache>
            </c:multiLvlStrRef>
          </c:cat>
          <c:val>
            <c:numRef>
              <c:f>Sheet1!$C$2:$C$19</c:f>
              <c:numCache>
                <c:formatCode>General</c:formatCode>
                <c:ptCount val="18"/>
                <c:pt idx="0">
                  <c:v>0</c:v>
                </c:pt>
                <c:pt idx="1">
                  <c:v>0</c:v>
                </c:pt>
                <c:pt idx="2">
                  <c:v>0</c:v>
                </c:pt>
                <c:pt idx="3">
                  <c:v>0</c:v>
                </c:pt>
                <c:pt idx="4">
                  <c:v>0</c:v>
                </c:pt>
                <c:pt idx="5">
                  <c:v>0</c:v>
                </c:pt>
                <c:pt idx="6">
                  <c:v>0.8632</c:v>
                </c:pt>
                <c:pt idx="7">
                  <c:v>0.8655</c:v>
                </c:pt>
                <c:pt idx="8">
                  <c:v>0.8659</c:v>
                </c:pt>
                <c:pt idx="9">
                  <c:v>0.8691</c:v>
                </c:pt>
                <c:pt idx="10">
                  <c:v>0.8772</c:v>
                </c:pt>
                <c:pt idx="11">
                  <c:v>0.8838</c:v>
                </c:pt>
                <c:pt idx="12">
                  <c:v>0.8869</c:v>
                </c:pt>
                <c:pt idx="13">
                  <c:v>0.8943</c:v>
                </c:pt>
                <c:pt idx="14">
                  <c:v>0.8994</c:v>
                </c:pt>
                <c:pt idx="15">
                  <c:v>0.9257</c:v>
                </c:pt>
                <c:pt idx="16">
                  <c:v>1</c:v>
                </c:pt>
                <c:pt idx="17">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100"/>
        <c:axId val="2094734554"/>
        <c:axId val="2094734552"/>
        <c:axId val="2094734556"/>
      </c:barChart>
      <c:lineChart>
        <c:varyColors val="0"/>
        <c:ser>
          <c:idx val="2"/>
          <c:order val="2"/>
          <c:tx>
            <c:strRef>
              <c:f>Sheet1!$D$1</c:f>
              <c:strCache>
                <c:ptCount val="1"/>
                <c:pt idx="0">
                  <c:v>MIN_SCORE 0.854</c:v>
                </c:pt>
              </c:strCache>
            </c:strRef>
          </c:tx>
          <c:spPr>
            <a:solidFill>
              <a:srgbClr val="0F172A"/>
            </a:solidFill>
            <a:ln w="25400" cap="flat">
              <a:solidFill>
                <a:srgbClr val="0F172A"/>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172A"/>
              </a:solidFill>
              <a:ln w="9525" cap="flat">
                <a:solidFill>
                  <a:srgbClr val="0F172A"/>
                </a:solidFill>
                <a:prstDash val="solid"/>
                <a:round/>
              </a:ln>
              <a:effectLst/>
            </c:spPr>
          </c:marker>
          <c:cat>
            <c:multiLvlStrRef>
              <c:f>Sheet1!$A$2:$A$19</c:f>
              <c:multiLvlStrCache>
                <c:ptCount val="18"/>
                <c:lvl>
                  <c:pt idx="0">
                    <c:v>off-topic 1</c:v>
                  </c:pt>
                  <c:pt idx="1">
                    <c:v>off-topic 2</c:v>
                  </c:pt>
                  <c:pt idx="2">
                    <c:v>off-topic 3</c:v>
                  </c:pt>
                  <c:pt idx="3">
                    <c:v>off-topic 4</c:v>
                  </c:pt>
                  <c:pt idx="4">
                    <c:v>off-topic 5</c:v>
                  </c:pt>
                  <c:pt idx="5">
                    <c:v>off-topic 6</c:v>
                  </c:pt>
                  <c:pt idx="6">
                    <c:v>answerable 1</c:v>
                  </c:pt>
                  <c:pt idx="7">
                    <c:v>answerable 2</c:v>
                  </c:pt>
                  <c:pt idx="8">
                    <c:v>answerable 3</c:v>
                  </c:pt>
                  <c:pt idx="9">
                    <c:v>answerable 4</c:v>
                  </c:pt>
                  <c:pt idx="10">
                    <c:v>answerable 5</c:v>
                  </c:pt>
                  <c:pt idx="11">
                    <c:v>answerable 6</c:v>
                  </c:pt>
                  <c:pt idx="12">
                    <c:v>answerable 7</c:v>
                  </c:pt>
                  <c:pt idx="13">
                    <c:v>answerable 8</c:v>
                  </c:pt>
                  <c:pt idx="14">
                    <c:v>answerable 9</c:v>
                  </c:pt>
                  <c:pt idx="15">
                    <c:v>answerable 10</c:v>
                  </c:pt>
                  <c:pt idx="16">
                    <c:v>answerable 11</c:v>
                  </c:pt>
                  <c:pt idx="17">
                    <c:v>answerable 12</c:v>
                  </c:pt>
                </c:lvl>
              </c:multiLvlStrCache>
            </c:multiLvlStrRef>
          </c:cat>
          <c:val>
            <c:numRef>
              <c:f>Sheet1!$D$2:$D$19</c:f>
              <c:numCache>
                <c:formatCode>General</c:formatCode>
                <c:ptCount val="18"/>
                <c:pt idx="0">
                  <c:v>0.854</c:v>
                </c:pt>
                <c:pt idx="1">
                  <c:v>0.854</c:v>
                </c:pt>
                <c:pt idx="2">
                  <c:v>0.854</c:v>
                </c:pt>
                <c:pt idx="3">
                  <c:v>0.854</c:v>
                </c:pt>
                <c:pt idx="4">
                  <c:v>0.854</c:v>
                </c:pt>
                <c:pt idx="5">
                  <c:v>0.854</c:v>
                </c:pt>
                <c:pt idx="6">
                  <c:v>0.854</c:v>
                </c:pt>
                <c:pt idx="7">
                  <c:v>0.854</c:v>
                </c:pt>
                <c:pt idx="8">
                  <c:v>0.854</c:v>
                </c:pt>
                <c:pt idx="9">
                  <c:v>0.854</c:v>
                </c:pt>
                <c:pt idx="10">
                  <c:v>0.854</c:v>
                </c:pt>
                <c:pt idx="11">
                  <c:v>0.854</c:v>
                </c:pt>
                <c:pt idx="12">
                  <c:v>0.854</c:v>
                </c:pt>
                <c:pt idx="13">
                  <c:v>0.854</c:v>
                </c:pt>
                <c:pt idx="14">
                  <c:v>0.854</c:v>
                </c:pt>
                <c:pt idx="15">
                  <c:v>0.854</c:v>
                </c:pt>
                <c:pt idx="16">
                  <c:v>0.854</c:v>
                </c:pt>
                <c:pt idx="17">
                  <c:v>0.854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75"/>
        </c:scaling>
        <c:delete val="1"/>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0.05"/>
      </c:valAx>
      <c:spPr>
        <a:noFill/>
        <a:ln>
          <a:noFill/>
        </a:ln>
        <a:effectLst/>
      </c:spPr>
    </c:plotArea>
    <c:legend>
      <c:legendPos val="t"/>
      <c:overlay val="0"/>
      <c:txPr>
        <a:bodyPr/>
        <a:lstStyle/>
        <a:p>
          <a:pPr>
            <a:defRPr sz="11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Hello, I am Anh Cao. The assignment: an MCP client–server application where the server provides RAG retrieval and the client manages the conversation. I built it over the AI Center's own website, so every answer can be checked against the real page. I will show it working first, then explain how it is built, what I measured, and what broke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(0:30–1:30) Left: each thing the assignment asked for, and how it is met. Right: the skills the position lists, and the exact file where each one lives — so during questions I can open any of them. Everything is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(1:30–5:30) Keep the trace panel open throughout. 1: point at the [n] citations and click one to show the real page. 2: the question has no noun — the trace shows the rewritten query; that is working memory. 3: "latest news" cannot be answered by keyword relevance — expand the tool_selector payload: the tools offered, the one chosen, and why. 4: same shape of question, a different tool. 5: the refusal — say it is calibrated and come back to it on slide 10. 6: reload — the sidebar keeps the session. Each LLM turn takes about 7 seconds: talk through the trace while it runs. Warm up with one question before presenting (the first request loads the embedding model). Backup if the network fails: LLM_MODE=offline HF_HUB_OFFLINE=1 make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(5:30–6:15) What you just saw, stated as requirements. Eight capabilities; the full specification in the repository has 15 functional requirements, the MCP and HTTP interfaces, and the non-functional requirements. The last card matters to me: when a component is missing, the system says so rather than pretending.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(6:15–7:30) One sentence to remember: the server knows nothing about conversations. It exposes retrieval and nothing else — no memory, no LLM. Everything conversational lives in the client. That boundary is what MCP is for: the same server runs in Claude Desktop without a code change. Transport is stdio by default — the client spawns the server as a subprocess — or streamable HTTP with one environment variable. Bottom right: the offline pipeline that builds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(7:30–8:30) One real turn, from the trace panel. Intent is decided by rules in 2 ms. Three LLM calls — tool selection, query rewriting, and the answer — take 99.6% of the 7.4 seconds. The MCP retrieval itself is 27 ms. So if latency matters, the work is in generation, not in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(8:30–9:30) The server advertises six tools, each with a description and an argument schema. The client keeps those schemas at discovery and lets a subagent choose. "Latest news" needs date order; "which teachers" needs a listing — keyword search cannot do either. The choice is validated: an invented tool name is rejected, and an empty result falls back to search. The weather question never reaches a tool: it is refused at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(9:30–10:15) [Skip if short on time.] Four retrieval decisions. The one to highlight: RRF is a rank aggregator, so its top score is always the same number — useless for deciding whether to refuse. Confidence is computed separately, from cosine similarity and how much of the question actually appears in the chunk.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(10:15–11:00) Three tiers because they have different lifetimes and different token costs. Short-term is the last six exchanges. Working memory holds the topic and entities — that is what resolved "那個" in the demo. Long-term: every eight exchanges the summary subagent folds older turns into a rolling summary, so prompt size stays flat. Summarising is best-effort: the turn is saved first, so a failed summary can never lose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(11:00–12:00) The refusal is the feature. It happens in control flow, before generation — not as a polite request inside the prompt. The threshold is calibrated from 6 off-topic and 12 answerable questions and sits between them. Be upfront that the margin is 0.019, because this embedding model scores unrelated text high. And the story: the threshold was at 0.35, so the gate could never fire. All the tests passed; calibration is what found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(12:00–12:45) [Skip if short on time.] The BFS itself was fine — the frontier logic, the visited set, the domain scoping. The extraction was not: 60% of the index was noise. Three causes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(12:45–13:45) Three bugs worth telling, each found by measuring rather than by reading code. If time is short, tell one in full: the refusal gate is the most important, the ChromaDB race the most engineering-heavy.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(13:45–14:30) Numbers on a 15-question evaluation set. answer_span is the strict metric: does the retrieved text actually contain the fact. It is 0.667, and the reason is honest: three of the five misses are Unicode look-alike characters on the website itself, which the fix addresses. On the right: what happens when parts are missing — each one verified, not just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(14:30–15:15) Each limit is paired with its next step. Lead with the refusal margin — it is the one a reviewer is most likely to 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Three commands to run it. Happy to open any file listed on slide 2.
Likely questions:
• Why ChromaDB at 373 chunks? — Persistence and metadata filtering without running a service; get_news and list_by_section filter on that metadata. A flat numpy matmul would also be fast enough at this size.
• Why does the client choose the tool, not the server? — The server must stay conversation-agnostic so any MCP host can use it.
• How do you prevent hallucination? — Refusal before generation, a citation-only prompt, and an extractive fallback.
• What if the LLM API is down? — Offline mode: cited excerpts, no API key.
• How would you scale it? — A vector service above ~100k chunks, incremental crawling, and streaming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914400"/>
            <a:ext cx="4114800" cy="4114800"/>
          </a:xfrm>
          <a:prstGeom prst="rect">
            <a:avLst/>
          </a:prstGeom>
        </p:spPr>
      </p:pic>
      <p:sp>
        <p:nvSpPr>
          <p:cNvPr id="3" name="Text 0"/>
          <p:cNvSpPr txBox="1"/>
          <p:nvPr/>
        </p:nvSpPr>
        <p:spPr>
          <a:xfrm>
            <a:off x="548640" y="1463040"/>
            <a:ext cx="6858000" cy="320040"/>
          </a:xfrm>
          <a:prstGeom prst="rect">
            <a:avLst/>
          </a:prstGeom>
          <a:noFill/>
          <a:ln/>
        </p:spPr>
        <p:txBody>
          <a:bodyPr wrap="square" lIns="0" tIns="0" rIns="0" bIns="0" rtlCol="0" anchor="t"/>
          <a:lstStyle/>
          <a:p>
            <a:pPr indent="0" marL="0">
              <a:buNone/>
            </a:pPr>
            <a:r>
              <a:rPr lang="en-US" sz="1300" b="1" spc="200" kern="0" dirty="0">
                <a:solidFill>
                  <a:srgbClr val="93C5FD"/>
                </a:solidFill>
                <a:latin typeface="Calibri" pitchFamily="34" charset="0"/>
                <a:ea typeface="Calibri" pitchFamily="34" charset="-122"/>
                <a:cs typeface="Calibri" pitchFamily="34" charset="-120"/>
              </a:rPr>
              <a:t>YZU AI CENTER  ·  WORK-STUDY ASSIGNMENT</a:t>
            </a:r>
            <a:endParaRPr lang="en-US" sz="1300" dirty="0"/>
          </a:p>
        </p:txBody>
      </p:sp>
      <p:sp>
        <p:nvSpPr>
          <p:cNvPr id="4" name="Text 1"/>
          <p:cNvSpPr txBox="1"/>
          <p:nvPr/>
        </p:nvSpPr>
        <p:spPr>
          <a:xfrm>
            <a:off x="548640" y="1874520"/>
            <a:ext cx="694944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YZU AI Center Assistant</a:t>
            </a:r>
            <a:endParaRPr lang="en-US" sz="4400" dirty="0"/>
          </a:p>
        </p:txBody>
      </p:sp>
      <p:sp>
        <p:nvSpPr>
          <p:cNvPr id="5" name="Text 2"/>
          <p:cNvSpPr txBox="1"/>
          <p:nvPr/>
        </p:nvSpPr>
        <p:spPr>
          <a:xfrm>
            <a:off x="548640" y="2880360"/>
            <a:ext cx="6492240" cy="914400"/>
          </a:xfrm>
          <a:prstGeom prst="rect">
            <a:avLst/>
          </a:prstGeom>
          <a:noFill/>
          <a:ln/>
        </p:spPr>
        <p:txBody>
          <a:bodyPr wrap="square" lIns="0" tIns="0" rIns="0" bIns="0" rtlCol="0" anchor="t"/>
          <a:lstStyle/>
          <a:p>
            <a:pPr indent="0" marL="0">
              <a:buNone/>
            </a:pPr>
            <a:r>
              <a:rPr lang="en-US" sz="2000" dirty="0">
                <a:solidFill>
                  <a:srgbClr val="CBD5E1"/>
                </a:solidFill>
                <a:latin typeface="Calibri" pitchFamily="34" charset="0"/>
                <a:ea typeface="Calibri" pitchFamily="34" charset="-122"/>
                <a:cs typeface="Calibri" pitchFamily="34" charset="-120"/>
              </a:rPr>
              <a:t>An MCP client–server RAG system: agents, memory, and answers that cite their sources</a:t>
            </a:r>
            <a:endParaRPr lang="en-US" sz="2000" dirty="0"/>
          </a:p>
        </p:txBody>
      </p:sp>
      <p:sp>
        <p:nvSpPr>
          <p:cNvPr id="6" name="Text 3"/>
          <p:cNvSpPr txBox="1"/>
          <p:nvPr/>
        </p:nvSpPr>
        <p:spPr>
          <a:xfrm>
            <a:off x="548640" y="4846320"/>
            <a:ext cx="64008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Anh Cao</a:t>
            </a:r>
            <a:endParaRPr lang="en-US" sz="1800" dirty="0"/>
          </a:p>
        </p:txBody>
      </p:sp>
      <p:sp>
        <p:nvSpPr>
          <p:cNvPr id="7" name="Text 4"/>
          <p:cNvSpPr txBox="1"/>
          <p:nvPr/>
        </p:nvSpPr>
        <p:spPr>
          <a:xfrm>
            <a:off x="548640" y="5257800"/>
            <a:ext cx="6400800" cy="36576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17 September 2026  ·  Room 5309, Building 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The brief, and where each part lives</a:t>
            </a:r>
            <a:endParaRPr lang="en-US" sz="3000" dirty="0"/>
          </a:p>
        </p:txBody>
      </p:sp>
      <p:sp>
        <p:nvSpPr>
          <p:cNvPr id="3" name="Shape 1"/>
          <p:cNvSpPr/>
          <p:nvPr/>
        </p:nvSpPr>
        <p:spPr>
          <a:xfrm>
            <a:off x="548640" y="1325880"/>
            <a:ext cx="5394960" cy="4846320"/>
          </a:xfrm>
          <a:prstGeom prst="roundRect">
            <a:avLst>
              <a:gd name="adj" fmla="val 1887"/>
            </a:avLst>
          </a:prstGeom>
          <a:solidFill>
            <a:srgbClr val="F8FAFC"/>
          </a:solidFill>
          <a:ln w="9525">
            <a:solidFill>
              <a:srgbClr val="E2E8F0"/>
            </a:solidFill>
            <a:prstDash val="solid"/>
          </a:ln>
        </p:spPr>
      </p:sp>
      <p:sp>
        <p:nvSpPr>
          <p:cNvPr id="4" name="Shape 2"/>
          <p:cNvSpPr/>
          <p:nvPr/>
        </p:nvSpPr>
        <p:spPr>
          <a:xfrm>
            <a:off x="6248095" y="1325880"/>
            <a:ext cx="5394960" cy="4846320"/>
          </a:xfrm>
          <a:prstGeom prst="roundRect">
            <a:avLst>
              <a:gd name="adj" fmla="val 1887"/>
            </a:avLst>
          </a:prstGeom>
          <a:solidFill>
            <a:srgbClr val="EFF6FF"/>
          </a:solidFill>
          <a:ln w="9525">
            <a:solidFill>
              <a:srgbClr val="BFDBFE"/>
            </a:solidFill>
            <a:prstDash val="solid"/>
          </a:ln>
        </p:spPr>
      </p:sp>
      <p:sp>
        <p:nvSpPr>
          <p:cNvPr id="5" name="Text 3"/>
          <p:cNvSpPr txBox="1"/>
          <p:nvPr/>
        </p:nvSpPr>
        <p:spPr>
          <a:xfrm>
            <a:off x="868680" y="1554480"/>
            <a:ext cx="4754880" cy="365760"/>
          </a:xfrm>
          <a:prstGeom prst="rect">
            <a:avLst/>
          </a:prstGeom>
          <a:noFill/>
          <a:ln/>
        </p:spPr>
        <p:txBody>
          <a:bodyPr wrap="square" lIns="0" tIns="0" rIns="0" bIns="0" rtlCol="0" anchor="t"/>
          <a:lstStyle/>
          <a:p>
            <a:pPr indent="0" marL="0">
              <a:buNone/>
            </a:pPr>
            <a:r>
              <a:rPr lang="en-US" sz="1800" b="1" dirty="0">
                <a:solidFill>
                  <a:srgbClr val="0F172A"/>
                </a:solidFill>
                <a:latin typeface="Arial" pitchFamily="34" charset="0"/>
                <a:ea typeface="Arial" pitchFamily="34" charset="-122"/>
                <a:cs typeface="Arial" pitchFamily="34" charset="-120"/>
              </a:rPr>
              <a:t>What the assignment asked for</a:t>
            </a:r>
            <a:endParaRPr lang="en-US" sz="1800" dirty="0"/>
          </a:p>
        </p:txBody>
      </p:sp>
      <p:sp>
        <p:nvSpPr>
          <p:cNvPr id="6" name="Shape 4"/>
          <p:cNvSpPr/>
          <p:nvPr/>
        </p:nvSpPr>
        <p:spPr>
          <a:xfrm>
            <a:off x="868680" y="2185416"/>
            <a:ext cx="384048" cy="384048"/>
          </a:xfrm>
          <a:prstGeom prst="ellipse">
            <a:avLst/>
          </a:prstGeom>
          <a:solidFill>
            <a:srgbClr val="059669"/>
          </a:solidFill>
          <a:ln/>
        </p:spPr>
      </p:sp>
      <p:pic>
        <p:nvPicPr>
          <p:cNvPr id="7" name="Image 0" descr="preencoded.png">    </p:cNvPr>
          <p:cNvPicPr>
            <a:picLocks noChangeAspect="1"/>
          </p:cNvPicPr>
          <p:nvPr/>
        </p:nvPicPr>
        <p:blipFill>
          <a:blip r:embed="rId1"/>
          <a:stretch>
            <a:fillRect/>
          </a:stretch>
        </p:blipFill>
        <p:spPr>
          <a:xfrm>
            <a:off x="960852" y="2277588"/>
            <a:ext cx="199705" cy="199705"/>
          </a:xfrm>
          <a:prstGeom prst="rect">
            <a:avLst/>
          </a:prstGeom>
        </p:spPr>
      </p:pic>
      <p:sp>
        <p:nvSpPr>
          <p:cNvPr id="8" name="Text 5"/>
          <p:cNvSpPr txBox="1"/>
          <p:nvPr/>
        </p:nvSpPr>
        <p:spPr>
          <a:xfrm>
            <a:off x="1417320" y="2148840"/>
            <a:ext cx="4206240" cy="65836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MCP client–server application</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client and server are separate processes that speak MCP</a:t>
            </a:r>
            <a:endParaRPr lang="en-US" sz="1400" dirty="0"/>
          </a:p>
        </p:txBody>
      </p:sp>
      <p:sp>
        <p:nvSpPr>
          <p:cNvPr id="9" name="Shape 6"/>
          <p:cNvSpPr/>
          <p:nvPr/>
        </p:nvSpPr>
        <p:spPr>
          <a:xfrm>
            <a:off x="868680" y="2953512"/>
            <a:ext cx="384048" cy="384048"/>
          </a:xfrm>
          <a:prstGeom prst="ellipse">
            <a:avLst/>
          </a:prstGeom>
          <a:solidFill>
            <a:srgbClr val="059669"/>
          </a:solidFill>
          <a:ln/>
        </p:spPr>
      </p:sp>
      <p:pic>
        <p:nvPicPr>
          <p:cNvPr id="10" name="Image 1" descr="preencoded.png">    </p:cNvPr>
          <p:cNvPicPr>
            <a:picLocks noChangeAspect="1"/>
          </p:cNvPicPr>
          <p:nvPr/>
        </p:nvPicPr>
        <p:blipFill>
          <a:blip r:embed="rId2"/>
          <a:stretch>
            <a:fillRect/>
          </a:stretch>
        </p:blipFill>
        <p:spPr>
          <a:xfrm>
            <a:off x="960852" y="3045684"/>
            <a:ext cx="199705" cy="199705"/>
          </a:xfrm>
          <a:prstGeom prst="rect">
            <a:avLst/>
          </a:prstGeom>
        </p:spPr>
      </p:pic>
      <p:sp>
        <p:nvSpPr>
          <p:cNvPr id="11" name="Text 7"/>
          <p:cNvSpPr txBox="1"/>
          <p:nvPr/>
        </p:nvSpPr>
        <p:spPr>
          <a:xfrm>
            <a:off x="1417320" y="2916936"/>
            <a:ext cx="4206240" cy="65836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Server provides RAG retrieval</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6 tools over a hybrid dense + BM25 index</a:t>
            </a:r>
            <a:endParaRPr lang="en-US" sz="1400" dirty="0"/>
          </a:p>
        </p:txBody>
      </p:sp>
      <p:sp>
        <p:nvSpPr>
          <p:cNvPr id="12" name="Shape 8"/>
          <p:cNvSpPr/>
          <p:nvPr/>
        </p:nvSpPr>
        <p:spPr>
          <a:xfrm>
            <a:off x="868680" y="3721608"/>
            <a:ext cx="384048" cy="384048"/>
          </a:xfrm>
          <a:prstGeom prst="ellipse">
            <a:avLst/>
          </a:prstGeom>
          <a:solidFill>
            <a:srgbClr val="059669"/>
          </a:solidFill>
          <a:ln/>
        </p:spPr>
      </p:sp>
      <p:pic>
        <p:nvPicPr>
          <p:cNvPr id="13" name="Image 2" descr="preencoded.png">    </p:cNvPr>
          <p:cNvPicPr>
            <a:picLocks noChangeAspect="1"/>
          </p:cNvPicPr>
          <p:nvPr/>
        </p:nvPicPr>
        <p:blipFill>
          <a:blip r:embed="rId3"/>
          <a:stretch>
            <a:fillRect/>
          </a:stretch>
        </p:blipFill>
        <p:spPr>
          <a:xfrm>
            <a:off x="960852" y="3813780"/>
            <a:ext cx="199705" cy="199705"/>
          </a:xfrm>
          <a:prstGeom prst="rect">
            <a:avLst/>
          </a:prstGeom>
        </p:spPr>
      </p:pic>
      <p:sp>
        <p:nvSpPr>
          <p:cNvPr id="14" name="Text 9"/>
          <p:cNvSpPr txBox="1"/>
          <p:nvPr/>
        </p:nvSpPr>
        <p:spPr>
          <a:xfrm>
            <a:off x="1417320" y="3685032"/>
            <a:ext cx="4206240" cy="65836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Client manages the conversation</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intent, memory and subagents; answers via the server</a:t>
            </a:r>
            <a:endParaRPr lang="en-US" sz="1400" dirty="0"/>
          </a:p>
        </p:txBody>
      </p:sp>
      <p:sp>
        <p:nvSpPr>
          <p:cNvPr id="15" name="Shape 10"/>
          <p:cNvSpPr/>
          <p:nvPr/>
        </p:nvSpPr>
        <p:spPr>
          <a:xfrm>
            <a:off x="868680" y="4489704"/>
            <a:ext cx="384048" cy="384048"/>
          </a:xfrm>
          <a:prstGeom prst="ellipse">
            <a:avLst/>
          </a:prstGeom>
          <a:solidFill>
            <a:srgbClr val="059669"/>
          </a:solidFill>
          <a:ln/>
        </p:spPr>
      </p:sp>
      <p:pic>
        <p:nvPicPr>
          <p:cNvPr id="16" name="Image 3" descr="preencoded.png">    </p:cNvPr>
          <p:cNvPicPr>
            <a:picLocks noChangeAspect="1"/>
          </p:cNvPicPr>
          <p:nvPr/>
        </p:nvPicPr>
        <p:blipFill>
          <a:blip r:embed="rId4"/>
          <a:stretch>
            <a:fillRect/>
          </a:stretch>
        </p:blipFill>
        <p:spPr>
          <a:xfrm>
            <a:off x="960852" y="4581876"/>
            <a:ext cx="199705" cy="199705"/>
          </a:xfrm>
          <a:prstGeom prst="rect">
            <a:avLst/>
          </a:prstGeom>
        </p:spPr>
      </p:pic>
      <p:sp>
        <p:nvSpPr>
          <p:cNvPr id="17" name="Text 11"/>
          <p:cNvSpPr txBox="1"/>
          <p:nvPr/>
        </p:nvSpPr>
        <p:spPr>
          <a:xfrm>
            <a:off x="1417320" y="4453128"/>
            <a:ext cx="4206240" cy="65836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Demonstrate the system</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web console, terminal CLI, and Claude Desktop</a:t>
            </a:r>
            <a:endParaRPr lang="en-US" sz="1400" dirty="0"/>
          </a:p>
        </p:txBody>
      </p:sp>
      <p:sp>
        <p:nvSpPr>
          <p:cNvPr id="18" name="Shape 12"/>
          <p:cNvSpPr/>
          <p:nvPr/>
        </p:nvSpPr>
        <p:spPr>
          <a:xfrm>
            <a:off x="868680" y="5257800"/>
            <a:ext cx="384048" cy="384048"/>
          </a:xfrm>
          <a:prstGeom prst="ellipse">
            <a:avLst/>
          </a:prstGeom>
          <a:solidFill>
            <a:srgbClr val="059669"/>
          </a:solidFill>
          <a:ln/>
        </p:spPr>
      </p:sp>
      <p:pic>
        <p:nvPicPr>
          <p:cNvPr id="19" name="Image 4" descr="preencoded.png">    </p:cNvPr>
          <p:cNvPicPr>
            <a:picLocks noChangeAspect="1"/>
          </p:cNvPicPr>
          <p:nvPr/>
        </p:nvPicPr>
        <p:blipFill>
          <a:blip r:embed="rId5"/>
          <a:stretch>
            <a:fillRect/>
          </a:stretch>
        </p:blipFill>
        <p:spPr>
          <a:xfrm>
            <a:off x="960852" y="5349972"/>
            <a:ext cx="199705" cy="199705"/>
          </a:xfrm>
          <a:prstGeom prst="rect">
            <a:avLst/>
          </a:prstGeom>
        </p:spPr>
      </p:pic>
      <p:sp>
        <p:nvSpPr>
          <p:cNvPr id="20" name="Text 13"/>
          <p:cNvSpPr txBox="1"/>
          <p:nvPr/>
        </p:nvSpPr>
        <p:spPr>
          <a:xfrm>
            <a:off x="1417320" y="5221224"/>
            <a:ext cx="4206240" cy="65836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Explain architecture, design, spec</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this deck + docs/functional-spec.md</a:t>
            </a:r>
            <a:endParaRPr lang="en-US" sz="1400" dirty="0"/>
          </a:p>
        </p:txBody>
      </p:sp>
      <p:sp>
        <p:nvSpPr>
          <p:cNvPr id="21" name="Text 14"/>
          <p:cNvSpPr txBox="1"/>
          <p:nvPr/>
        </p:nvSpPr>
        <p:spPr>
          <a:xfrm>
            <a:off x="6568135" y="1554480"/>
            <a:ext cx="4754880" cy="365760"/>
          </a:xfrm>
          <a:prstGeom prst="rect">
            <a:avLst/>
          </a:prstGeom>
          <a:noFill/>
          <a:ln/>
        </p:spPr>
        <p:txBody>
          <a:bodyPr wrap="square" lIns="0" tIns="0" rIns="0" bIns="0" rtlCol="0" anchor="t"/>
          <a:lstStyle/>
          <a:p>
            <a:pPr indent="0" marL="0">
              <a:buNone/>
            </a:pPr>
            <a:r>
              <a:rPr lang="en-US" sz="1800" b="1" dirty="0">
                <a:solidFill>
                  <a:srgbClr val="0F172A"/>
                </a:solidFill>
                <a:latin typeface="Arial" pitchFamily="34" charset="0"/>
                <a:ea typeface="Arial" pitchFamily="34" charset="-122"/>
                <a:cs typeface="Arial" pitchFamily="34" charset="-120"/>
              </a:rPr>
              <a:t>What the role asks for → where it lives</a:t>
            </a:r>
            <a:endParaRPr lang="en-US" sz="1800" dirty="0"/>
          </a:p>
        </p:txBody>
      </p:sp>
      <p:sp>
        <p:nvSpPr>
          <p:cNvPr id="22" name="Text 15"/>
          <p:cNvSpPr txBox="1"/>
          <p:nvPr/>
        </p:nvSpPr>
        <p:spPr>
          <a:xfrm>
            <a:off x="6568135" y="2148840"/>
            <a:ext cx="2057400" cy="5486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Agents &amp; subagents</a:t>
            </a:r>
            <a:endParaRPr lang="en-US" sz="1500" dirty="0"/>
          </a:p>
        </p:txBody>
      </p:sp>
      <p:sp>
        <p:nvSpPr>
          <p:cNvPr id="23" name="Text 16"/>
          <p:cNvSpPr txBox="1"/>
          <p:nvPr/>
        </p:nvSpPr>
        <p:spPr>
          <a:xfrm>
            <a:off x="8716975" y="2176272"/>
            <a:ext cx="2651760" cy="566928"/>
          </a:xfrm>
          <a:prstGeom prst="rect">
            <a:avLst/>
          </a:prstGeom>
          <a:noFill/>
          <a:ln/>
        </p:spPr>
        <p:txBody>
          <a:bodyPr wrap="square" lIns="0" tIns="0" rIns="0" bIns="0" rtlCol="0" anchor="t"/>
          <a:lstStyle/>
          <a:p>
            <a:pPr indent="0" marL="0">
              <a:buNone/>
            </a:pPr>
            <a:r>
              <a:rPr lang="en-US" sz="1150" dirty="0">
                <a:solidFill>
                  <a:srgbClr val="1D4ED8"/>
                </a:solidFill>
                <a:latin typeface="Courier New" pitchFamily="34" charset="0"/>
                <a:ea typeface="Courier New" pitchFamily="34" charset="-122"/>
                <a:cs typeface="Courier New" pitchFamily="34" charset="-120"/>
              </a:rPr>
              <a:t>client/agents/ — 4 subagents</a:t>
            </a:r>
            <a:endParaRPr lang="en-US" sz="1150" dirty="0"/>
          </a:p>
        </p:txBody>
      </p:sp>
      <p:sp>
        <p:nvSpPr>
          <p:cNvPr id="24" name="Text 17"/>
          <p:cNvSpPr txBox="1"/>
          <p:nvPr/>
        </p:nvSpPr>
        <p:spPr>
          <a:xfrm>
            <a:off x="6568135" y="2788920"/>
            <a:ext cx="2057400" cy="5486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Memory management</a:t>
            </a:r>
            <a:endParaRPr lang="en-US" sz="1500" dirty="0"/>
          </a:p>
        </p:txBody>
      </p:sp>
      <p:sp>
        <p:nvSpPr>
          <p:cNvPr id="25" name="Text 18"/>
          <p:cNvSpPr txBox="1"/>
          <p:nvPr/>
        </p:nvSpPr>
        <p:spPr>
          <a:xfrm>
            <a:off x="8716975" y="2816352"/>
            <a:ext cx="2651760" cy="566928"/>
          </a:xfrm>
          <a:prstGeom prst="rect">
            <a:avLst/>
          </a:prstGeom>
          <a:noFill/>
          <a:ln/>
        </p:spPr>
        <p:txBody>
          <a:bodyPr wrap="square" lIns="0" tIns="0" rIns="0" bIns="0" rtlCol="0" anchor="t"/>
          <a:lstStyle/>
          <a:p>
            <a:pPr indent="0" marL="0">
              <a:buNone/>
            </a:pPr>
            <a:r>
              <a:rPr lang="en-US" sz="1150" dirty="0">
                <a:solidFill>
                  <a:srgbClr val="1D4ED8"/>
                </a:solidFill>
                <a:latin typeface="Courier New" pitchFamily="34" charset="0"/>
                <a:ea typeface="Courier New" pitchFamily="34" charset="-122"/>
                <a:cs typeface="Courier New" pitchFamily="34" charset="-120"/>
              </a:rPr>
              <a:t>client/memory.py — 3 tiers</a:t>
            </a:r>
            <a:endParaRPr lang="en-US" sz="1150" dirty="0"/>
          </a:p>
        </p:txBody>
      </p:sp>
      <p:sp>
        <p:nvSpPr>
          <p:cNvPr id="26" name="Text 19"/>
          <p:cNvSpPr txBox="1"/>
          <p:nvPr/>
        </p:nvSpPr>
        <p:spPr>
          <a:xfrm>
            <a:off x="6568135" y="3429000"/>
            <a:ext cx="2057400" cy="5486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Intent handling</a:t>
            </a:r>
            <a:endParaRPr lang="en-US" sz="1500" dirty="0"/>
          </a:p>
        </p:txBody>
      </p:sp>
      <p:sp>
        <p:nvSpPr>
          <p:cNvPr id="27" name="Text 20"/>
          <p:cNvSpPr txBox="1"/>
          <p:nvPr/>
        </p:nvSpPr>
        <p:spPr>
          <a:xfrm>
            <a:off x="8716975" y="3456432"/>
            <a:ext cx="2651760" cy="566928"/>
          </a:xfrm>
          <a:prstGeom prst="rect">
            <a:avLst/>
          </a:prstGeom>
          <a:noFill/>
          <a:ln/>
        </p:spPr>
        <p:txBody>
          <a:bodyPr wrap="square" lIns="0" tIns="0" rIns="0" bIns="0" rtlCol="0" anchor="t"/>
          <a:lstStyle/>
          <a:p>
            <a:pPr indent="0" marL="0">
              <a:buNone/>
            </a:pPr>
            <a:r>
              <a:rPr lang="en-US" sz="1150" dirty="0">
                <a:solidFill>
                  <a:srgbClr val="1D4ED8"/>
                </a:solidFill>
                <a:latin typeface="Courier New" pitchFamily="34" charset="0"/>
                <a:ea typeface="Courier New" pitchFamily="34" charset="-122"/>
                <a:cs typeface="Courier New" pitchFamily="34" charset="-120"/>
              </a:rPr>
              <a:t>client/intent.py</a:t>
            </a:r>
            <a:endParaRPr lang="en-US" sz="1150" dirty="0"/>
          </a:p>
        </p:txBody>
      </p:sp>
      <p:sp>
        <p:nvSpPr>
          <p:cNvPr id="28" name="Text 21"/>
          <p:cNvSpPr txBox="1"/>
          <p:nvPr/>
        </p:nvSpPr>
        <p:spPr>
          <a:xfrm>
            <a:off x="6568135" y="4069080"/>
            <a:ext cx="2057400" cy="5486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Router</a:t>
            </a:r>
            <a:endParaRPr lang="en-US" sz="1500" dirty="0"/>
          </a:p>
        </p:txBody>
      </p:sp>
      <p:sp>
        <p:nvSpPr>
          <p:cNvPr id="29" name="Text 22"/>
          <p:cNvSpPr txBox="1"/>
          <p:nvPr/>
        </p:nvSpPr>
        <p:spPr>
          <a:xfrm>
            <a:off x="8716975" y="4096512"/>
            <a:ext cx="2651760" cy="566928"/>
          </a:xfrm>
          <a:prstGeom prst="rect">
            <a:avLst/>
          </a:prstGeom>
          <a:noFill/>
          <a:ln/>
        </p:spPr>
        <p:txBody>
          <a:bodyPr wrap="square" lIns="0" tIns="0" rIns="0" bIns="0" rtlCol="0" anchor="t"/>
          <a:lstStyle/>
          <a:p>
            <a:pPr indent="0" marL="0">
              <a:buNone/>
            </a:pPr>
            <a:r>
              <a:rPr lang="en-US" sz="1150" dirty="0">
                <a:solidFill>
                  <a:srgbClr val="1D4ED8"/>
                </a:solidFill>
                <a:latin typeface="Courier New" pitchFamily="34" charset="0"/>
                <a:ea typeface="Courier New" pitchFamily="34" charset="-122"/>
                <a:cs typeface="Courier New" pitchFamily="34" charset="-120"/>
              </a:rPr>
              <a:t>client/router.py</a:t>
            </a:r>
            <a:endParaRPr lang="en-US" sz="1150" dirty="0"/>
          </a:p>
        </p:txBody>
      </p:sp>
      <p:sp>
        <p:nvSpPr>
          <p:cNvPr id="30" name="Text 23"/>
          <p:cNvSpPr txBox="1"/>
          <p:nvPr/>
        </p:nvSpPr>
        <p:spPr>
          <a:xfrm>
            <a:off x="6568135" y="4709160"/>
            <a:ext cx="2057400" cy="5486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MCP</a:t>
            </a:r>
            <a:endParaRPr lang="en-US" sz="1500" dirty="0"/>
          </a:p>
        </p:txBody>
      </p:sp>
      <p:sp>
        <p:nvSpPr>
          <p:cNvPr id="31" name="Text 24"/>
          <p:cNvSpPr txBox="1"/>
          <p:nvPr/>
        </p:nvSpPr>
        <p:spPr>
          <a:xfrm>
            <a:off x="8716975" y="4736592"/>
            <a:ext cx="2651760" cy="566928"/>
          </a:xfrm>
          <a:prstGeom prst="rect">
            <a:avLst/>
          </a:prstGeom>
          <a:noFill/>
          <a:ln/>
        </p:spPr>
        <p:txBody>
          <a:bodyPr wrap="square" lIns="0" tIns="0" rIns="0" bIns="0" rtlCol="0" anchor="t"/>
          <a:lstStyle/>
          <a:p>
            <a:pPr indent="0" marL="0">
              <a:buNone/>
            </a:pPr>
            <a:r>
              <a:rPr lang="en-US" sz="1150" dirty="0">
                <a:solidFill>
                  <a:srgbClr val="1D4ED8"/>
                </a:solidFill>
                <a:latin typeface="Courier New" pitchFamily="34" charset="0"/>
                <a:ea typeface="Courier New" pitchFamily="34" charset="-122"/>
                <a:cs typeface="Courier New" pitchFamily="34" charset="-120"/>
              </a:rPr>
              <a:t>server/app.py</a:t>
            </a:r>
            <a:endParaRPr lang="en-US" sz="1150" dirty="0"/>
          </a:p>
          <a:p>
            <a:pPr indent="0" marL="0">
              <a:buNone/>
            </a:pPr>
            <a:r>
              <a:rPr lang="en-US" sz="1150" dirty="0">
                <a:solidFill>
                  <a:srgbClr val="1D4ED8"/>
                </a:solidFill>
                <a:latin typeface="Courier New" pitchFamily="34" charset="0"/>
                <a:ea typeface="Courier New" pitchFamily="34" charset="-122"/>
                <a:cs typeface="Courier New" pitchFamily="34" charset="-120"/>
              </a:rPr>
              <a:t>client/mcp_session.py</a:t>
            </a:r>
            <a:endParaRPr lang="en-US" sz="1150" dirty="0"/>
          </a:p>
        </p:txBody>
      </p:sp>
      <p:sp>
        <p:nvSpPr>
          <p:cNvPr id="32" name="Text 25"/>
          <p:cNvSpPr txBox="1"/>
          <p:nvPr/>
        </p:nvSpPr>
        <p:spPr>
          <a:xfrm>
            <a:off x="6568135" y="5349240"/>
            <a:ext cx="2057400" cy="5486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Python</a:t>
            </a:r>
            <a:endParaRPr lang="en-US" sz="1500" dirty="0"/>
          </a:p>
        </p:txBody>
      </p:sp>
      <p:sp>
        <p:nvSpPr>
          <p:cNvPr id="33" name="Text 26"/>
          <p:cNvSpPr txBox="1"/>
          <p:nvPr/>
        </p:nvSpPr>
        <p:spPr>
          <a:xfrm>
            <a:off x="8716975" y="5376672"/>
            <a:ext cx="2651760" cy="566928"/>
          </a:xfrm>
          <a:prstGeom prst="rect">
            <a:avLst/>
          </a:prstGeom>
          <a:noFill/>
          <a:ln/>
        </p:spPr>
        <p:txBody>
          <a:bodyPr wrap="square" lIns="0" tIns="0" rIns="0" bIns="0" rtlCol="0" anchor="t"/>
          <a:lstStyle/>
          <a:p>
            <a:pPr indent="0" marL="0">
              <a:buNone/>
            </a:pPr>
            <a:r>
              <a:rPr lang="en-US" sz="1150" dirty="0">
                <a:solidFill>
                  <a:srgbClr val="1D4ED8"/>
                </a:solidFill>
                <a:latin typeface="Courier New" pitchFamily="34" charset="0"/>
                <a:ea typeface="Courier New" pitchFamily="34" charset="-122"/>
                <a:cs typeface="Courier New" pitchFamily="34" charset="-120"/>
              </a:rPr>
              <a:t>client, server, crawler, tests</a:t>
            </a:r>
            <a:endParaRPr lang="en-US" sz="115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548640"/>
            <a:ext cx="6858000"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Live demo</a:t>
            </a:r>
            <a:endParaRPr lang="en-US" sz="4000" dirty="0"/>
          </a:p>
        </p:txBody>
      </p:sp>
      <p:sp>
        <p:nvSpPr>
          <p:cNvPr id="3" name="Text 1"/>
          <p:cNvSpPr txBox="1"/>
          <p:nvPr/>
        </p:nvSpPr>
        <p:spPr>
          <a:xfrm>
            <a:off x="548640" y="1371600"/>
            <a:ext cx="7498080" cy="365760"/>
          </a:xfrm>
          <a:prstGeom prst="rect">
            <a:avLst/>
          </a:prstGeom>
          <a:noFill/>
          <a:ln/>
        </p:spPr>
        <p:txBody>
          <a:bodyPr wrap="square" lIns="0" tIns="0" rIns="0" bIns="0" rtlCol="0" anchor="t"/>
          <a:lstStyle/>
          <a:p>
            <a:pPr indent="0" marL="0">
              <a:buNone/>
            </a:pPr>
            <a:r>
              <a:rPr lang="en-US" sz="1600" dirty="0">
                <a:solidFill>
                  <a:srgbClr val="CBD5E1"/>
                </a:solidFill>
                <a:latin typeface="Calibri" pitchFamily="34" charset="0"/>
                <a:ea typeface="Calibri" pitchFamily="34" charset="-122"/>
                <a:cs typeface="Calibri" pitchFamily="34" charset="-120"/>
              </a:rPr>
              <a:t>One conversation, six moves — keep the trace panel open</a:t>
            </a:r>
            <a:endParaRPr lang="en-US" sz="1600" dirty="0"/>
          </a:p>
        </p:txBody>
      </p:sp>
      <p:pic>
        <p:nvPicPr>
          <p:cNvPr id="4" name="Image 0" descr="preencoded.png">    </p:cNvPr>
          <p:cNvPicPr>
            <a:picLocks noChangeAspect="1"/>
          </p:cNvPicPr>
          <p:nvPr/>
        </p:nvPicPr>
        <p:blipFill>
          <a:blip r:embed="rId1"/>
          <a:stretch>
            <a:fillRect/>
          </a:stretch>
        </p:blipFill>
        <p:spPr>
          <a:xfrm>
            <a:off x="8732520" y="1737360"/>
            <a:ext cx="2926080" cy="2926080"/>
          </a:xfrm>
          <a:prstGeom prst="rect">
            <a:avLst/>
          </a:prstGeom>
        </p:spPr>
      </p:pic>
      <p:sp>
        <p:nvSpPr>
          <p:cNvPr id="5" name="Shape 2"/>
          <p:cNvSpPr/>
          <p:nvPr/>
        </p:nvSpPr>
        <p:spPr>
          <a:xfrm>
            <a:off x="548640" y="2112264"/>
            <a:ext cx="402336" cy="402336"/>
          </a:xfrm>
          <a:prstGeom prst="ellipse">
            <a:avLst/>
          </a:prstGeom>
          <a:solidFill>
            <a:srgbClr val="2563EB"/>
          </a:solidFill>
          <a:ln/>
        </p:spPr>
      </p:sp>
      <p:sp>
        <p:nvSpPr>
          <p:cNvPr id="6" name="Text 3"/>
          <p:cNvSpPr txBox="1"/>
          <p:nvPr/>
        </p:nvSpPr>
        <p:spPr>
          <a:xfrm>
            <a:off x="548640" y="21122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143000" y="2057400"/>
            <a:ext cx="3611880" cy="5120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TAICA 有哪些學分學程？</a:t>
            </a:r>
            <a:endParaRPr lang="en-US" sz="1700" dirty="0"/>
          </a:p>
        </p:txBody>
      </p:sp>
      <p:sp>
        <p:nvSpPr>
          <p:cNvPr id="8" name="Text 5"/>
          <p:cNvSpPr txBox="1"/>
          <p:nvPr/>
        </p:nvSpPr>
        <p:spPr>
          <a:xfrm>
            <a:off x="4846320" y="2057400"/>
            <a:ext cx="3566160" cy="512064"/>
          </a:xfrm>
          <a:prstGeom prst="rect">
            <a:avLst/>
          </a:prstGeom>
          <a:noFill/>
          <a:ln/>
        </p:spPr>
        <p:txBody>
          <a:bodyPr wrap="square" lIns="0" tIns="0" rIns="0" bIns="0" rtlCol="0" anchor="ctr"/>
          <a:lstStyle/>
          <a:p>
            <a:pPr indent="0" marL="0">
              <a:buNone/>
            </a:pPr>
            <a:r>
              <a:rPr lang="en-US" sz="1300" dirty="0">
                <a:solidFill>
                  <a:srgbClr val="93C5FD"/>
                </a:solidFill>
                <a:latin typeface="Calibri" pitchFamily="34" charset="0"/>
                <a:ea typeface="Calibri" pitchFamily="34" charset="-122"/>
                <a:cs typeface="Calibri" pitchFamily="34" charset="-120"/>
              </a:rPr>
              <a:t>cited answer — open one source link</a:t>
            </a:r>
            <a:endParaRPr lang="en-US" sz="1300" dirty="0"/>
          </a:p>
        </p:txBody>
      </p:sp>
      <p:sp>
        <p:nvSpPr>
          <p:cNvPr id="9" name="Shape 6"/>
          <p:cNvSpPr/>
          <p:nvPr/>
        </p:nvSpPr>
        <p:spPr>
          <a:xfrm>
            <a:off x="548640" y="2715768"/>
            <a:ext cx="402336" cy="402336"/>
          </a:xfrm>
          <a:prstGeom prst="ellipse">
            <a:avLst/>
          </a:prstGeom>
          <a:solidFill>
            <a:srgbClr val="2563EB"/>
          </a:solidFill>
          <a:ln/>
        </p:spPr>
      </p:sp>
      <p:sp>
        <p:nvSpPr>
          <p:cNvPr id="10" name="Text 7"/>
          <p:cNvSpPr txBox="1"/>
          <p:nvPr/>
        </p:nvSpPr>
        <p:spPr>
          <a:xfrm>
            <a:off x="548640" y="27157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143000" y="2660904"/>
            <a:ext cx="3611880" cy="5120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那個視覺技術的適合哪些學生？</a:t>
            </a:r>
            <a:endParaRPr lang="en-US" sz="1700" dirty="0"/>
          </a:p>
        </p:txBody>
      </p:sp>
      <p:sp>
        <p:nvSpPr>
          <p:cNvPr id="12" name="Text 9"/>
          <p:cNvSpPr txBox="1"/>
          <p:nvPr/>
        </p:nvSpPr>
        <p:spPr>
          <a:xfrm>
            <a:off x="4846320" y="2660904"/>
            <a:ext cx="3566160" cy="512064"/>
          </a:xfrm>
          <a:prstGeom prst="rect">
            <a:avLst/>
          </a:prstGeom>
          <a:noFill/>
          <a:ln/>
        </p:spPr>
        <p:txBody>
          <a:bodyPr wrap="square" lIns="0" tIns="0" rIns="0" bIns="0" rtlCol="0" anchor="ctr"/>
          <a:lstStyle/>
          <a:p>
            <a:pPr indent="0" marL="0">
              <a:buNone/>
            </a:pPr>
            <a:r>
              <a:rPr lang="en-US" sz="1300" dirty="0">
                <a:solidFill>
                  <a:srgbClr val="93C5FD"/>
                </a:solidFill>
                <a:latin typeface="Calibri" pitchFamily="34" charset="0"/>
                <a:ea typeface="Calibri" pitchFamily="34" charset="-122"/>
                <a:cs typeface="Calibri" pitchFamily="34" charset="-120"/>
              </a:rPr>
              <a:t>memory resolves “那個”</a:t>
            </a:r>
            <a:endParaRPr lang="en-US" sz="1300" dirty="0"/>
          </a:p>
        </p:txBody>
      </p:sp>
      <p:sp>
        <p:nvSpPr>
          <p:cNvPr id="13" name="Shape 10"/>
          <p:cNvSpPr/>
          <p:nvPr/>
        </p:nvSpPr>
        <p:spPr>
          <a:xfrm>
            <a:off x="548640" y="3319272"/>
            <a:ext cx="402336" cy="402336"/>
          </a:xfrm>
          <a:prstGeom prst="ellipse">
            <a:avLst/>
          </a:prstGeom>
          <a:solidFill>
            <a:srgbClr val="2563EB"/>
          </a:solidFill>
          <a:ln/>
        </p:spPr>
      </p:sp>
      <p:sp>
        <p:nvSpPr>
          <p:cNvPr id="14" name="Text 11"/>
          <p:cNvSpPr txBox="1"/>
          <p:nvPr/>
        </p:nvSpPr>
        <p:spPr>
          <a:xfrm>
            <a:off x="548640" y="33192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143000" y="3264408"/>
            <a:ext cx="3611880" cy="5120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最近有什麼新消息？</a:t>
            </a:r>
            <a:endParaRPr lang="en-US" sz="1700" dirty="0"/>
          </a:p>
        </p:txBody>
      </p:sp>
      <p:sp>
        <p:nvSpPr>
          <p:cNvPr id="16" name="Text 13"/>
          <p:cNvSpPr txBox="1"/>
          <p:nvPr/>
        </p:nvSpPr>
        <p:spPr>
          <a:xfrm>
            <a:off x="4846320" y="3264408"/>
            <a:ext cx="3566160" cy="512064"/>
          </a:xfrm>
          <a:prstGeom prst="rect">
            <a:avLst/>
          </a:prstGeom>
          <a:noFill/>
          <a:ln/>
        </p:spPr>
        <p:txBody>
          <a:bodyPr wrap="square" lIns="0" tIns="0" rIns="0" bIns="0" rtlCol="0" anchor="ctr"/>
          <a:lstStyle/>
          <a:p>
            <a:pPr indent="0" marL="0">
              <a:buNone/>
            </a:pPr>
            <a:r>
              <a:rPr lang="en-US" sz="1300" dirty="0">
                <a:solidFill>
                  <a:srgbClr val="93C5FD"/>
                </a:solidFill>
                <a:latin typeface="Calibri" pitchFamily="34" charset="0"/>
                <a:ea typeface="Calibri" pitchFamily="34" charset="-122"/>
                <a:cs typeface="Calibri" pitchFamily="34" charset="-120"/>
              </a:rPr>
              <a:t>the client picks get_news</a:t>
            </a:r>
            <a:endParaRPr lang="en-US" sz="1300" dirty="0"/>
          </a:p>
        </p:txBody>
      </p:sp>
      <p:sp>
        <p:nvSpPr>
          <p:cNvPr id="17" name="Shape 14"/>
          <p:cNvSpPr/>
          <p:nvPr/>
        </p:nvSpPr>
        <p:spPr>
          <a:xfrm>
            <a:off x="548640" y="3922776"/>
            <a:ext cx="402336" cy="402336"/>
          </a:xfrm>
          <a:prstGeom prst="ellipse">
            <a:avLst/>
          </a:prstGeom>
          <a:solidFill>
            <a:srgbClr val="2563EB"/>
          </a:solidFill>
          <a:ln/>
        </p:spPr>
      </p:sp>
      <p:sp>
        <p:nvSpPr>
          <p:cNvPr id="18" name="Text 15"/>
          <p:cNvSpPr txBox="1"/>
          <p:nvPr/>
        </p:nvSpPr>
        <p:spPr>
          <a:xfrm>
            <a:off x="548640" y="3922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6"/>
          <p:cNvSpPr txBox="1"/>
          <p:nvPr/>
        </p:nvSpPr>
        <p:spPr>
          <a:xfrm>
            <a:off x="1143000" y="3867912"/>
            <a:ext cx="3611880" cy="5120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中心有哪些老師？</a:t>
            </a:r>
            <a:endParaRPr lang="en-US" sz="1700" dirty="0"/>
          </a:p>
        </p:txBody>
      </p:sp>
      <p:sp>
        <p:nvSpPr>
          <p:cNvPr id="20" name="Text 17"/>
          <p:cNvSpPr txBox="1"/>
          <p:nvPr/>
        </p:nvSpPr>
        <p:spPr>
          <a:xfrm>
            <a:off x="4846320" y="3867912"/>
            <a:ext cx="3566160" cy="512064"/>
          </a:xfrm>
          <a:prstGeom prst="rect">
            <a:avLst/>
          </a:prstGeom>
          <a:noFill/>
          <a:ln/>
        </p:spPr>
        <p:txBody>
          <a:bodyPr wrap="square" lIns="0" tIns="0" rIns="0" bIns="0" rtlCol="0" anchor="ctr"/>
          <a:lstStyle/>
          <a:p>
            <a:pPr indent="0" marL="0">
              <a:buNone/>
            </a:pPr>
            <a:r>
              <a:rPr lang="en-US" sz="1300" dirty="0">
                <a:solidFill>
                  <a:srgbClr val="93C5FD"/>
                </a:solidFill>
                <a:latin typeface="Calibri" pitchFamily="34" charset="0"/>
                <a:ea typeface="Calibri" pitchFamily="34" charset="-122"/>
                <a:cs typeface="Calibri" pitchFamily="34" charset="-120"/>
              </a:rPr>
              <a:t>the client picks list_by_section</a:t>
            </a:r>
            <a:endParaRPr lang="en-US" sz="1300" dirty="0"/>
          </a:p>
        </p:txBody>
      </p:sp>
      <p:sp>
        <p:nvSpPr>
          <p:cNvPr id="21" name="Shape 18"/>
          <p:cNvSpPr/>
          <p:nvPr/>
        </p:nvSpPr>
        <p:spPr>
          <a:xfrm>
            <a:off x="548640" y="4526280"/>
            <a:ext cx="402336" cy="402336"/>
          </a:xfrm>
          <a:prstGeom prst="ellipse">
            <a:avLst/>
          </a:prstGeom>
          <a:solidFill>
            <a:srgbClr val="2563EB"/>
          </a:solidFill>
          <a:ln/>
        </p:spPr>
      </p:sp>
      <p:sp>
        <p:nvSpPr>
          <p:cNvPr id="22" name="Text 19"/>
          <p:cNvSpPr txBox="1"/>
          <p:nvPr/>
        </p:nvSpPr>
        <p:spPr>
          <a:xfrm>
            <a:off x="548640" y="4526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0"/>
          <p:cNvSpPr txBox="1"/>
          <p:nvPr/>
        </p:nvSpPr>
        <p:spPr>
          <a:xfrm>
            <a:off x="1143000" y="4471416"/>
            <a:ext cx="3611880" cy="5120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今天新竹的天氣如何？</a:t>
            </a:r>
            <a:endParaRPr lang="en-US" sz="1700" dirty="0"/>
          </a:p>
        </p:txBody>
      </p:sp>
      <p:sp>
        <p:nvSpPr>
          <p:cNvPr id="24" name="Text 21"/>
          <p:cNvSpPr txBox="1"/>
          <p:nvPr/>
        </p:nvSpPr>
        <p:spPr>
          <a:xfrm>
            <a:off x="4846320" y="4471416"/>
            <a:ext cx="3566160" cy="512064"/>
          </a:xfrm>
          <a:prstGeom prst="rect">
            <a:avLst/>
          </a:prstGeom>
          <a:noFill/>
          <a:ln/>
        </p:spPr>
        <p:txBody>
          <a:bodyPr wrap="square" lIns="0" tIns="0" rIns="0" bIns="0" rtlCol="0" anchor="ctr"/>
          <a:lstStyle/>
          <a:p>
            <a:pPr indent="0" marL="0">
              <a:buNone/>
            </a:pPr>
            <a:r>
              <a:rPr lang="en-US" sz="1300" dirty="0">
                <a:solidFill>
                  <a:srgbClr val="93C5FD"/>
                </a:solidFill>
                <a:latin typeface="Calibri" pitchFamily="34" charset="0"/>
                <a:ea typeface="Calibri" pitchFamily="34" charset="-122"/>
                <a:cs typeface="Calibri" pitchFamily="34" charset="-120"/>
              </a:rPr>
              <a:t>refused — and it says why</a:t>
            </a:r>
            <a:endParaRPr lang="en-US" sz="1300" dirty="0"/>
          </a:p>
        </p:txBody>
      </p:sp>
      <p:sp>
        <p:nvSpPr>
          <p:cNvPr id="25" name="Shape 22"/>
          <p:cNvSpPr/>
          <p:nvPr/>
        </p:nvSpPr>
        <p:spPr>
          <a:xfrm>
            <a:off x="548640" y="5129784"/>
            <a:ext cx="402336" cy="402336"/>
          </a:xfrm>
          <a:prstGeom prst="ellipse">
            <a:avLst/>
          </a:prstGeom>
          <a:solidFill>
            <a:srgbClr val="2563EB"/>
          </a:solidFill>
          <a:ln/>
        </p:spPr>
      </p:sp>
      <p:sp>
        <p:nvSpPr>
          <p:cNvPr id="26" name="Text 23"/>
          <p:cNvSpPr txBox="1"/>
          <p:nvPr/>
        </p:nvSpPr>
        <p:spPr>
          <a:xfrm>
            <a:off x="548640" y="51297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4"/>
          <p:cNvSpPr txBox="1"/>
          <p:nvPr/>
        </p:nvSpPr>
        <p:spPr>
          <a:xfrm>
            <a:off x="1143000" y="5074920"/>
            <a:ext cx="3611880" cy="5120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Reload the page</a:t>
            </a:r>
            <a:endParaRPr lang="en-US" sz="1700" dirty="0"/>
          </a:p>
        </p:txBody>
      </p:sp>
      <p:sp>
        <p:nvSpPr>
          <p:cNvPr id="28" name="Text 25"/>
          <p:cNvSpPr txBox="1"/>
          <p:nvPr/>
        </p:nvSpPr>
        <p:spPr>
          <a:xfrm>
            <a:off x="4846320" y="5074920"/>
            <a:ext cx="3566160" cy="512064"/>
          </a:xfrm>
          <a:prstGeom prst="rect">
            <a:avLst/>
          </a:prstGeom>
          <a:noFill/>
          <a:ln/>
        </p:spPr>
        <p:txBody>
          <a:bodyPr wrap="square" lIns="0" tIns="0" rIns="0" bIns="0" rtlCol="0" anchor="ctr"/>
          <a:lstStyle/>
          <a:p>
            <a:pPr indent="0" marL="0">
              <a:buNone/>
            </a:pPr>
            <a:r>
              <a:rPr lang="en-US" sz="1300" dirty="0">
                <a:solidFill>
                  <a:srgbClr val="93C5FD"/>
                </a:solidFill>
                <a:latin typeface="Calibri" pitchFamily="34" charset="0"/>
                <a:ea typeface="Calibri" pitchFamily="34" charset="-122"/>
                <a:cs typeface="Calibri" pitchFamily="34" charset="-120"/>
              </a:rPr>
              <a:t>the conversation comes back</a:t>
            </a:r>
            <a:endParaRPr lang="en-US" sz="1300" dirty="0"/>
          </a:p>
        </p:txBody>
      </p:sp>
      <p:sp>
        <p:nvSpPr>
          <p:cNvPr id="29" name="Text 26"/>
          <p:cNvSpPr txBox="1"/>
          <p:nvPr/>
        </p:nvSpPr>
        <p:spPr>
          <a:xfrm>
            <a:off x="548640" y="5943600"/>
            <a:ext cx="11094415" cy="36576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If the network drops:  </a:t>
            </a:r>
            <a:pPr indent="0" marL="0">
              <a:buNone/>
            </a:pPr>
            <a:r>
              <a:rPr lang="en-US" sz="1200" dirty="0">
                <a:solidFill>
                  <a:srgbClr val="CBD5E1"/>
                </a:solidFill>
                <a:latin typeface="Courier New" pitchFamily="34" charset="0"/>
                <a:ea typeface="Courier New" pitchFamily="34" charset="-122"/>
                <a:cs typeface="Courier New" pitchFamily="34" charset="-120"/>
              </a:rPr>
              <a:t>LLM_MODE=offline HF_HUB_OFFLINE=1 make run</a:t>
            </a:r>
            <a:pPr indent="0" marL="0">
              <a:buNone/>
            </a:pPr>
            <a:r>
              <a:rPr lang="en-US" sz="1200" dirty="0">
                <a:solidFill>
                  <a:srgbClr val="94A3B8"/>
                </a:solidFill>
                <a:latin typeface="Calibri" pitchFamily="34" charset="0"/>
                <a:ea typeface="Calibri" pitchFamily="34" charset="-122"/>
                <a:cs typeface="Calibri" pitchFamily="34" charset="-120"/>
              </a:rPr>
              <a:t>  — cited excerpts, no API needed</a:t>
            </a:r>
            <a:endParaRPr lang="en-US" sz="1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What it does — the spec on one slide</a:t>
            </a:r>
            <a:endParaRPr lang="en-US" sz="3000" dirty="0"/>
          </a:p>
        </p:txBody>
      </p:sp>
      <p:sp>
        <p:nvSpPr>
          <p:cNvPr id="3" name="Shape 1"/>
          <p:cNvSpPr/>
          <p:nvPr/>
        </p:nvSpPr>
        <p:spPr>
          <a:xfrm>
            <a:off x="548640" y="1325880"/>
            <a:ext cx="2567864" cy="2057400"/>
          </a:xfrm>
          <a:prstGeom prst="roundRect">
            <a:avLst>
              <a:gd name="adj" fmla="val 4444"/>
            </a:avLst>
          </a:prstGeom>
          <a:solidFill>
            <a:srgbClr val="F8FAFC"/>
          </a:solidFill>
          <a:ln w="9525">
            <a:solidFill>
              <a:srgbClr val="E2E8F0"/>
            </a:solidFill>
            <a:prstDash val="solid"/>
          </a:ln>
        </p:spPr>
      </p:sp>
      <p:sp>
        <p:nvSpPr>
          <p:cNvPr id="4" name="Shape 2"/>
          <p:cNvSpPr/>
          <p:nvPr/>
        </p:nvSpPr>
        <p:spPr>
          <a:xfrm>
            <a:off x="822960" y="1600200"/>
            <a:ext cx="502920" cy="502920"/>
          </a:xfrm>
          <a:prstGeom prst="ellipse">
            <a:avLst/>
          </a:prstGeom>
          <a:solidFill>
            <a:srgbClr val="2563EB"/>
          </a:solidFill>
          <a:ln/>
        </p:spPr>
      </p:sp>
      <p:pic>
        <p:nvPicPr>
          <p:cNvPr id="5" name="Image 0" descr="preencoded.png">    </p:cNvPr>
          <p:cNvPicPr>
            <a:picLocks noChangeAspect="1"/>
          </p:cNvPicPr>
          <p:nvPr/>
        </p:nvPicPr>
        <p:blipFill>
          <a:blip r:embed="rId1"/>
          <a:stretch>
            <a:fillRect/>
          </a:stretch>
        </p:blipFill>
        <p:spPr>
          <a:xfrm>
            <a:off x="943661" y="1720901"/>
            <a:ext cx="261518" cy="261518"/>
          </a:xfrm>
          <a:prstGeom prst="rect">
            <a:avLst/>
          </a:prstGeom>
        </p:spPr>
      </p:pic>
      <p:sp>
        <p:nvSpPr>
          <p:cNvPr id="6" name="Text 3"/>
          <p:cNvSpPr txBox="1"/>
          <p:nvPr/>
        </p:nvSpPr>
        <p:spPr>
          <a:xfrm>
            <a:off x="822960" y="2240280"/>
            <a:ext cx="2019224"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Grounded answers</a:t>
            </a:r>
            <a:endParaRPr lang="en-US" sz="1600" dirty="0"/>
          </a:p>
        </p:txBody>
      </p:sp>
      <p:sp>
        <p:nvSpPr>
          <p:cNvPr id="7" name="Text 4"/>
          <p:cNvSpPr txBox="1"/>
          <p:nvPr/>
        </p:nvSpPr>
        <p:spPr>
          <a:xfrm>
            <a:off x="822960" y="2624328"/>
            <a:ext cx="2019224" cy="713232"/>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Every factual sentence cites [n], linked to its source page.</a:t>
            </a:r>
            <a:endParaRPr lang="en-US" sz="1250" dirty="0"/>
          </a:p>
        </p:txBody>
      </p:sp>
      <p:sp>
        <p:nvSpPr>
          <p:cNvPr id="8" name="Shape 5"/>
          <p:cNvSpPr/>
          <p:nvPr/>
        </p:nvSpPr>
        <p:spPr>
          <a:xfrm>
            <a:off x="3390824" y="1325880"/>
            <a:ext cx="2567864" cy="2057400"/>
          </a:xfrm>
          <a:prstGeom prst="roundRect">
            <a:avLst>
              <a:gd name="adj" fmla="val 4444"/>
            </a:avLst>
          </a:prstGeom>
          <a:solidFill>
            <a:srgbClr val="F8FAFC"/>
          </a:solidFill>
          <a:ln w="9525">
            <a:solidFill>
              <a:srgbClr val="E2E8F0"/>
            </a:solidFill>
            <a:prstDash val="solid"/>
          </a:ln>
        </p:spPr>
      </p:sp>
      <p:sp>
        <p:nvSpPr>
          <p:cNvPr id="9" name="Shape 6"/>
          <p:cNvSpPr/>
          <p:nvPr/>
        </p:nvSpPr>
        <p:spPr>
          <a:xfrm>
            <a:off x="3665144" y="1600200"/>
            <a:ext cx="502920" cy="502920"/>
          </a:xfrm>
          <a:prstGeom prst="ellipse">
            <a:avLst/>
          </a:prstGeom>
          <a:solidFill>
            <a:srgbClr val="8B5CF6"/>
          </a:solidFill>
          <a:ln/>
        </p:spPr>
      </p:sp>
      <p:pic>
        <p:nvPicPr>
          <p:cNvPr id="10" name="Image 1" descr="preencoded.png">    </p:cNvPr>
          <p:cNvPicPr>
            <a:picLocks noChangeAspect="1"/>
          </p:cNvPicPr>
          <p:nvPr/>
        </p:nvPicPr>
        <p:blipFill>
          <a:blip r:embed="rId2"/>
          <a:stretch>
            <a:fillRect/>
          </a:stretch>
        </p:blipFill>
        <p:spPr>
          <a:xfrm>
            <a:off x="3785845" y="1720901"/>
            <a:ext cx="261518" cy="261518"/>
          </a:xfrm>
          <a:prstGeom prst="rect">
            <a:avLst/>
          </a:prstGeom>
        </p:spPr>
      </p:pic>
      <p:sp>
        <p:nvSpPr>
          <p:cNvPr id="11" name="Text 7"/>
          <p:cNvSpPr txBox="1"/>
          <p:nvPr/>
        </p:nvSpPr>
        <p:spPr>
          <a:xfrm>
            <a:off x="3665144" y="2240280"/>
            <a:ext cx="2019224"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Follow-ups</a:t>
            </a:r>
            <a:endParaRPr lang="en-US" sz="1600" dirty="0"/>
          </a:p>
        </p:txBody>
      </p:sp>
      <p:sp>
        <p:nvSpPr>
          <p:cNvPr id="12" name="Text 8"/>
          <p:cNvSpPr txBox="1"/>
          <p:nvPr/>
        </p:nvSpPr>
        <p:spPr>
          <a:xfrm>
            <a:off x="3665144" y="2624328"/>
            <a:ext cx="2019224" cy="713232"/>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Resolves “那個 / 它” from conversation memory.</a:t>
            </a:r>
            <a:endParaRPr lang="en-US" sz="1250" dirty="0"/>
          </a:p>
        </p:txBody>
      </p:sp>
      <p:sp>
        <p:nvSpPr>
          <p:cNvPr id="13" name="Shape 9"/>
          <p:cNvSpPr/>
          <p:nvPr/>
        </p:nvSpPr>
        <p:spPr>
          <a:xfrm>
            <a:off x="6233008" y="1325880"/>
            <a:ext cx="2567864" cy="2057400"/>
          </a:xfrm>
          <a:prstGeom prst="roundRect">
            <a:avLst>
              <a:gd name="adj" fmla="val 4444"/>
            </a:avLst>
          </a:prstGeom>
          <a:solidFill>
            <a:srgbClr val="F8FAFC"/>
          </a:solidFill>
          <a:ln w="9525">
            <a:solidFill>
              <a:srgbClr val="E2E8F0"/>
            </a:solidFill>
            <a:prstDash val="solid"/>
          </a:ln>
        </p:spPr>
      </p:sp>
      <p:sp>
        <p:nvSpPr>
          <p:cNvPr id="14" name="Shape 10"/>
          <p:cNvSpPr/>
          <p:nvPr/>
        </p:nvSpPr>
        <p:spPr>
          <a:xfrm>
            <a:off x="6507328" y="1600200"/>
            <a:ext cx="502920" cy="502920"/>
          </a:xfrm>
          <a:prstGeom prst="ellipse">
            <a:avLst/>
          </a:prstGeom>
          <a:solidFill>
            <a:srgbClr val="059669"/>
          </a:solidFill>
          <a:ln/>
        </p:spPr>
      </p:sp>
      <p:pic>
        <p:nvPicPr>
          <p:cNvPr id="15" name="Image 2" descr="preencoded.png">    </p:cNvPr>
          <p:cNvPicPr>
            <a:picLocks noChangeAspect="1"/>
          </p:cNvPicPr>
          <p:nvPr/>
        </p:nvPicPr>
        <p:blipFill>
          <a:blip r:embed="rId3"/>
          <a:stretch>
            <a:fillRect/>
          </a:stretch>
        </p:blipFill>
        <p:spPr>
          <a:xfrm>
            <a:off x="6628028" y="1720901"/>
            <a:ext cx="261518" cy="261518"/>
          </a:xfrm>
          <a:prstGeom prst="rect">
            <a:avLst/>
          </a:prstGeom>
        </p:spPr>
      </p:pic>
      <p:sp>
        <p:nvSpPr>
          <p:cNvPr id="16" name="Text 11"/>
          <p:cNvSpPr txBox="1"/>
          <p:nvPr/>
        </p:nvSpPr>
        <p:spPr>
          <a:xfrm>
            <a:off x="6507328" y="2240280"/>
            <a:ext cx="2019224"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Tool choice</a:t>
            </a:r>
            <a:endParaRPr lang="en-US" sz="1600" dirty="0"/>
          </a:p>
        </p:txBody>
      </p:sp>
      <p:sp>
        <p:nvSpPr>
          <p:cNvPr id="17" name="Text 12"/>
          <p:cNvSpPr txBox="1"/>
          <p:nvPr/>
        </p:nvSpPr>
        <p:spPr>
          <a:xfrm>
            <a:off x="6507328" y="2624328"/>
            <a:ext cx="2019224" cy="713232"/>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Picks search, news by date, or a section listing per question.</a:t>
            </a:r>
            <a:endParaRPr lang="en-US" sz="1250" dirty="0"/>
          </a:p>
        </p:txBody>
      </p:sp>
      <p:sp>
        <p:nvSpPr>
          <p:cNvPr id="18" name="Shape 13"/>
          <p:cNvSpPr/>
          <p:nvPr/>
        </p:nvSpPr>
        <p:spPr>
          <a:xfrm>
            <a:off x="9075191" y="1325880"/>
            <a:ext cx="2567864" cy="2057400"/>
          </a:xfrm>
          <a:prstGeom prst="roundRect">
            <a:avLst>
              <a:gd name="adj" fmla="val 4444"/>
            </a:avLst>
          </a:prstGeom>
          <a:solidFill>
            <a:srgbClr val="F8FAFC"/>
          </a:solidFill>
          <a:ln w="9525">
            <a:solidFill>
              <a:srgbClr val="E2E8F0"/>
            </a:solidFill>
            <a:prstDash val="solid"/>
          </a:ln>
        </p:spPr>
      </p:sp>
      <p:sp>
        <p:nvSpPr>
          <p:cNvPr id="19" name="Shape 14"/>
          <p:cNvSpPr/>
          <p:nvPr/>
        </p:nvSpPr>
        <p:spPr>
          <a:xfrm>
            <a:off x="9349511" y="1600200"/>
            <a:ext cx="502920" cy="502920"/>
          </a:xfrm>
          <a:prstGeom prst="ellipse">
            <a:avLst/>
          </a:prstGeom>
          <a:solidFill>
            <a:srgbClr val="DC2626"/>
          </a:solidFill>
          <a:ln/>
        </p:spPr>
      </p:sp>
      <p:pic>
        <p:nvPicPr>
          <p:cNvPr id="20" name="Image 3" descr="preencoded.png">    </p:cNvPr>
          <p:cNvPicPr>
            <a:picLocks noChangeAspect="1"/>
          </p:cNvPicPr>
          <p:nvPr/>
        </p:nvPicPr>
        <p:blipFill>
          <a:blip r:embed="rId4"/>
          <a:stretch>
            <a:fillRect/>
          </a:stretch>
        </p:blipFill>
        <p:spPr>
          <a:xfrm>
            <a:off x="9470212" y="1720901"/>
            <a:ext cx="261518" cy="261518"/>
          </a:xfrm>
          <a:prstGeom prst="rect">
            <a:avLst/>
          </a:prstGeom>
        </p:spPr>
      </p:pic>
      <p:sp>
        <p:nvSpPr>
          <p:cNvPr id="21" name="Text 15"/>
          <p:cNvSpPr txBox="1"/>
          <p:nvPr/>
        </p:nvSpPr>
        <p:spPr>
          <a:xfrm>
            <a:off x="9349511" y="2240280"/>
            <a:ext cx="2019224"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Refusal</a:t>
            </a:r>
            <a:endParaRPr lang="en-US" sz="1600" dirty="0"/>
          </a:p>
        </p:txBody>
      </p:sp>
      <p:sp>
        <p:nvSpPr>
          <p:cNvPr id="22" name="Text 16"/>
          <p:cNvSpPr txBox="1"/>
          <p:nvPr/>
        </p:nvSpPr>
        <p:spPr>
          <a:xfrm>
            <a:off x="9349511" y="2624328"/>
            <a:ext cx="2019224" cy="713232"/>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Declines below a calibrated threshold instead of guessing.</a:t>
            </a:r>
            <a:endParaRPr lang="en-US" sz="1250" dirty="0"/>
          </a:p>
        </p:txBody>
      </p:sp>
      <p:sp>
        <p:nvSpPr>
          <p:cNvPr id="23" name="Shape 17"/>
          <p:cNvSpPr/>
          <p:nvPr/>
        </p:nvSpPr>
        <p:spPr>
          <a:xfrm>
            <a:off x="548640" y="3611880"/>
            <a:ext cx="2567864" cy="2057400"/>
          </a:xfrm>
          <a:prstGeom prst="roundRect">
            <a:avLst>
              <a:gd name="adj" fmla="val 4444"/>
            </a:avLst>
          </a:prstGeom>
          <a:solidFill>
            <a:srgbClr val="F8FAFC"/>
          </a:solidFill>
          <a:ln w="9525">
            <a:solidFill>
              <a:srgbClr val="E2E8F0"/>
            </a:solidFill>
            <a:prstDash val="solid"/>
          </a:ln>
        </p:spPr>
      </p:sp>
      <p:sp>
        <p:nvSpPr>
          <p:cNvPr id="24" name="Shape 18"/>
          <p:cNvSpPr/>
          <p:nvPr/>
        </p:nvSpPr>
        <p:spPr>
          <a:xfrm>
            <a:off x="822960" y="3886200"/>
            <a:ext cx="502920" cy="502920"/>
          </a:xfrm>
          <a:prstGeom prst="ellipse">
            <a:avLst/>
          </a:prstGeom>
          <a:solidFill>
            <a:srgbClr val="0EA5E9"/>
          </a:solidFill>
          <a:ln/>
        </p:spPr>
      </p:sp>
      <p:pic>
        <p:nvPicPr>
          <p:cNvPr id="25" name="Image 4" descr="preencoded.png">    </p:cNvPr>
          <p:cNvPicPr>
            <a:picLocks noChangeAspect="1"/>
          </p:cNvPicPr>
          <p:nvPr/>
        </p:nvPicPr>
        <p:blipFill>
          <a:blip r:embed="rId5"/>
          <a:stretch>
            <a:fillRect/>
          </a:stretch>
        </p:blipFill>
        <p:spPr>
          <a:xfrm>
            <a:off x="943661" y="4006901"/>
            <a:ext cx="261518" cy="261518"/>
          </a:xfrm>
          <a:prstGeom prst="rect">
            <a:avLst/>
          </a:prstGeom>
        </p:spPr>
      </p:pic>
      <p:sp>
        <p:nvSpPr>
          <p:cNvPr id="26" name="Text 19"/>
          <p:cNvSpPr txBox="1"/>
          <p:nvPr/>
        </p:nvSpPr>
        <p:spPr>
          <a:xfrm>
            <a:off x="822960" y="4526280"/>
            <a:ext cx="2019224"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Sessions</a:t>
            </a:r>
            <a:endParaRPr lang="en-US" sz="1600" dirty="0"/>
          </a:p>
        </p:txBody>
      </p:sp>
      <p:sp>
        <p:nvSpPr>
          <p:cNvPr id="27" name="Text 20"/>
          <p:cNvSpPr txBox="1"/>
          <p:nvPr/>
        </p:nvSpPr>
        <p:spPr>
          <a:xfrm>
            <a:off x="822960" y="4910328"/>
            <a:ext cx="2019224" cy="713232"/>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Saved, grouped by day, reopened, or deleted with confirmation.</a:t>
            </a:r>
            <a:endParaRPr lang="en-US" sz="1250" dirty="0"/>
          </a:p>
        </p:txBody>
      </p:sp>
      <p:sp>
        <p:nvSpPr>
          <p:cNvPr id="28" name="Shape 21"/>
          <p:cNvSpPr/>
          <p:nvPr/>
        </p:nvSpPr>
        <p:spPr>
          <a:xfrm>
            <a:off x="3390824" y="3611880"/>
            <a:ext cx="2567864" cy="2057400"/>
          </a:xfrm>
          <a:prstGeom prst="roundRect">
            <a:avLst>
              <a:gd name="adj" fmla="val 4444"/>
            </a:avLst>
          </a:prstGeom>
          <a:solidFill>
            <a:srgbClr val="F8FAFC"/>
          </a:solidFill>
          <a:ln w="9525">
            <a:solidFill>
              <a:srgbClr val="E2E8F0"/>
            </a:solidFill>
            <a:prstDash val="solid"/>
          </a:ln>
        </p:spPr>
      </p:sp>
      <p:sp>
        <p:nvSpPr>
          <p:cNvPr id="29" name="Shape 22"/>
          <p:cNvSpPr/>
          <p:nvPr/>
        </p:nvSpPr>
        <p:spPr>
          <a:xfrm>
            <a:off x="3665144" y="3886200"/>
            <a:ext cx="502920" cy="502920"/>
          </a:xfrm>
          <a:prstGeom prst="ellipse">
            <a:avLst/>
          </a:prstGeom>
          <a:solidFill>
            <a:srgbClr val="7C3AED"/>
          </a:solidFill>
          <a:ln/>
        </p:spPr>
      </p:sp>
      <p:pic>
        <p:nvPicPr>
          <p:cNvPr id="30" name="Image 5" descr="preencoded.png">    </p:cNvPr>
          <p:cNvPicPr>
            <a:picLocks noChangeAspect="1"/>
          </p:cNvPicPr>
          <p:nvPr/>
        </p:nvPicPr>
        <p:blipFill>
          <a:blip r:embed="rId6"/>
          <a:stretch>
            <a:fillRect/>
          </a:stretch>
        </p:blipFill>
        <p:spPr>
          <a:xfrm>
            <a:off x="3785845" y="4006901"/>
            <a:ext cx="261518" cy="261518"/>
          </a:xfrm>
          <a:prstGeom prst="rect">
            <a:avLst/>
          </a:prstGeom>
        </p:spPr>
      </p:pic>
      <p:sp>
        <p:nvSpPr>
          <p:cNvPr id="31" name="Text 23"/>
          <p:cNvSpPr txBox="1"/>
          <p:nvPr/>
        </p:nvSpPr>
        <p:spPr>
          <a:xfrm>
            <a:off x="3665144" y="4526280"/>
            <a:ext cx="2019224"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Reasoning trace</a:t>
            </a:r>
            <a:endParaRPr lang="en-US" sz="1600" dirty="0"/>
          </a:p>
        </p:txBody>
      </p:sp>
      <p:sp>
        <p:nvSpPr>
          <p:cNvPr id="32" name="Text 24"/>
          <p:cNvSpPr txBox="1"/>
          <p:nvPr/>
        </p:nvSpPr>
        <p:spPr>
          <a:xfrm>
            <a:off x="3665144" y="4910328"/>
            <a:ext cx="2019224" cy="713232"/>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Every stage, with its timing and payload, for each turn.</a:t>
            </a:r>
            <a:endParaRPr lang="en-US" sz="1250" dirty="0"/>
          </a:p>
        </p:txBody>
      </p:sp>
      <p:sp>
        <p:nvSpPr>
          <p:cNvPr id="33" name="Shape 25"/>
          <p:cNvSpPr/>
          <p:nvPr/>
        </p:nvSpPr>
        <p:spPr>
          <a:xfrm>
            <a:off x="6233008" y="3611880"/>
            <a:ext cx="2567864" cy="2057400"/>
          </a:xfrm>
          <a:prstGeom prst="roundRect">
            <a:avLst>
              <a:gd name="adj" fmla="val 4444"/>
            </a:avLst>
          </a:prstGeom>
          <a:solidFill>
            <a:srgbClr val="F8FAFC"/>
          </a:solidFill>
          <a:ln w="9525">
            <a:solidFill>
              <a:srgbClr val="E2E8F0"/>
            </a:solidFill>
            <a:prstDash val="solid"/>
          </a:ln>
        </p:spPr>
      </p:sp>
      <p:sp>
        <p:nvSpPr>
          <p:cNvPr id="34" name="Shape 26"/>
          <p:cNvSpPr/>
          <p:nvPr/>
        </p:nvSpPr>
        <p:spPr>
          <a:xfrm>
            <a:off x="6507328" y="3886200"/>
            <a:ext cx="502920" cy="502920"/>
          </a:xfrm>
          <a:prstGeom prst="ellipse">
            <a:avLst/>
          </a:prstGeom>
          <a:solidFill>
            <a:srgbClr val="2563EB"/>
          </a:solidFill>
          <a:ln/>
        </p:spPr>
      </p:sp>
      <p:pic>
        <p:nvPicPr>
          <p:cNvPr id="35" name="Image 6" descr="preencoded.png">    </p:cNvPr>
          <p:cNvPicPr>
            <a:picLocks noChangeAspect="1"/>
          </p:cNvPicPr>
          <p:nvPr/>
        </p:nvPicPr>
        <p:blipFill>
          <a:blip r:embed="rId7"/>
          <a:stretch>
            <a:fillRect/>
          </a:stretch>
        </p:blipFill>
        <p:spPr>
          <a:xfrm>
            <a:off x="6628028" y="4006901"/>
            <a:ext cx="261518" cy="261518"/>
          </a:xfrm>
          <a:prstGeom prst="rect">
            <a:avLst/>
          </a:prstGeom>
        </p:spPr>
      </p:pic>
      <p:sp>
        <p:nvSpPr>
          <p:cNvPr id="36" name="Text 27"/>
          <p:cNvSpPr txBox="1"/>
          <p:nvPr/>
        </p:nvSpPr>
        <p:spPr>
          <a:xfrm>
            <a:off x="6507328" y="4526280"/>
            <a:ext cx="2019224"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Bilingual</a:t>
            </a:r>
            <a:endParaRPr lang="en-US" sz="1600" dirty="0"/>
          </a:p>
        </p:txBody>
      </p:sp>
      <p:sp>
        <p:nvSpPr>
          <p:cNvPr id="37" name="Text 28"/>
          <p:cNvSpPr txBox="1"/>
          <p:nvPr/>
        </p:nvSpPr>
        <p:spPr>
          <a:xfrm>
            <a:off x="6507328" y="4910328"/>
            <a:ext cx="2019224" cy="713232"/>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English and 繁體中文, for the interface and the answers.</a:t>
            </a:r>
            <a:endParaRPr lang="en-US" sz="1250" dirty="0"/>
          </a:p>
        </p:txBody>
      </p:sp>
      <p:sp>
        <p:nvSpPr>
          <p:cNvPr id="38" name="Shape 29"/>
          <p:cNvSpPr/>
          <p:nvPr/>
        </p:nvSpPr>
        <p:spPr>
          <a:xfrm>
            <a:off x="9075191" y="3611880"/>
            <a:ext cx="2567864" cy="2057400"/>
          </a:xfrm>
          <a:prstGeom prst="roundRect">
            <a:avLst>
              <a:gd name="adj" fmla="val 4444"/>
            </a:avLst>
          </a:prstGeom>
          <a:solidFill>
            <a:srgbClr val="F8FAFC"/>
          </a:solidFill>
          <a:ln w="9525">
            <a:solidFill>
              <a:srgbClr val="E2E8F0"/>
            </a:solidFill>
            <a:prstDash val="solid"/>
          </a:ln>
        </p:spPr>
      </p:sp>
      <p:sp>
        <p:nvSpPr>
          <p:cNvPr id="39" name="Shape 30"/>
          <p:cNvSpPr/>
          <p:nvPr/>
        </p:nvSpPr>
        <p:spPr>
          <a:xfrm>
            <a:off x="9349511" y="3886200"/>
            <a:ext cx="502920" cy="502920"/>
          </a:xfrm>
          <a:prstGeom prst="ellipse">
            <a:avLst/>
          </a:prstGeom>
          <a:solidFill>
            <a:srgbClr val="64748B"/>
          </a:solidFill>
          <a:ln/>
        </p:spPr>
      </p:sp>
      <p:pic>
        <p:nvPicPr>
          <p:cNvPr id="40" name="Image 7" descr="preencoded.png">    </p:cNvPr>
          <p:cNvPicPr>
            <a:picLocks noChangeAspect="1"/>
          </p:cNvPicPr>
          <p:nvPr/>
        </p:nvPicPr>
        <p:blipFill>
          <a:blip r:embed="rId8"/>
          <a:stretch>
            <a:fillRect/>
          </a:stretch>
        </p:blipFill>
        <p:spPr>
          <a:xfrm>
            <a:off x="9470212" y="4006901"/>
            <a:ext cx="261518" cy="261518"/>
          </a:xfrm>
          <a:prstGeom prst="rect">
            <a:avLst/>
          </a:prstGeom>
        </p:spPr>
      </p:pic>
      <p:sp>
        <p:nvSpPr>
          <p:cNvPr id="41" name="Text 31"/>
          <p:cNvSpPr txBox="1"/>
          <p:nvPr/>
        </p:nvSpPr>
        <p:spPr>
          <a:xfrm>
            <a:off x="9349511" y="4526280"/>
            <a:ext cx="2019224"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Degrades honestly</a:t>
            </a:r>
            <a:endParaRPr lang="en-US" sz="1600" dirty="0"/>
          </a:p>
        </p:txBody>
      </p:sp>
      <p:sp>
        <p:nvSpPr>
          <p:cNvPr id="42" name="Text 32"/>
          <p:cNvSpPr txBox="1"/>
          <p:nvPr/>
        </p:nvSpPr>
        <p:spPr>
          <a:xfrm>
            <a:off x="9349511" y="4910328"/>
            <a:ext cx="2019224" cy="713232"/>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No LLM → cited excerpts; the status badge shows the mode.</a:t>
            </a:r>
            <a:endParaRPr lang="en-US" sz="1250" dirty="0"/>
          </a:p>
        </p:txBody>
      </p:sp>
      <p:sp>
        <p:nvSpPr>
          <p:cNvPr id="43" name="Text 33"/>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Full specification — 15 functional requirements, both interfaces, non-functional requirements, open issues:  </a:t>
            </a:r>
            <a:pPr indent="0" marL="0">
              <a:buNone/>
            </a:pPr>
            <a:r>
              <a:rPr lang="en-US" sz="1200" dirty="0">
                <a:solidFill>
                  <a:srgbClr val="1D4ED8"/>
                </a:solidFill>
                <a:latin typeface="Courier New" pitchFamily="34" charset="0"/>
                <a:ea typeface="Courier New" pitchFamily="34" charset="-122"/>
                <a:cs typeface="Courier New" pitchFamily="34" charset="-120"/>
              </a:rPr>
              <a:t>docs/functional-spec.md</a:t>
            </a:r>
            <a:endParaRPr lang="en-US" sz="1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Architecture: retrieval behind MCP</a:t>
            </a:r>
            <a:endParaRPr lang="en-US" sz="3000" dirty="0"/>
          </a:p>
        </p:txBody>
      </p:sp>
      <p:sp>
        <p:nvSpPr>
          <p:cNvPr id="3" name="Text 1"/>
          <p:cNvSpPr txBox="1"/>
          <p:nvPr/>
        </p:nvSpPr>
        <p:spPr>
          <a:xfrm>
            <a:off x="548640" y="1417320"/>
            <a:ext cx="1463040" cy="274320"/>
          </a:xfrm>
          <a:prstGeom prst="rect">
            <a:avLst/>
          </a:prstGeom>
          <a:noFill/>
          <a:ln/>
        </p:spPr>
        <p:txBody>
          <a:bodyPr wrap="square" lIns="0" tIns="0" rIns="0" bIns="0" rtlCol="0" anchor="t"/>
          <a:lstStyle/>
          <a:p>
            <a:pPr indent="0" marL="0">
              <a:buNone/>
            </a:pPr>
            <a:r>
              <a:rPr lang="en-US" sz="1100" b="1" spc="150" kern="0" dirty="0">
                <a:solidFill>
                  <a:srgbClr val="94A3B8"/>
                </a:solidFill>
                <a:latin typeface="Calibri" pitchFamily="34" charset="0"/>
                <a:ea typeface="Calibri" pitchFamily="34" charset="-122"/>
                <a:cs typeface="Calibri" pitchFamily="34" charset="-120"/>
              </a:rPr>
              <a:t>HOSTS</a:t>
            </a:r>
            <a:endParaRPr lang="en-US" sz="1100" dirty="0"/>
          </a:p>
        </p:txBody>
      </p:sp>
      <p:sp>
        <p:nvSpPr>
          <p:cNvPr id="4" name="Shape 2"/>
          <p:cNvSpPr/>
          <p:nvPr/>
        </p:nvSpPr>
        <p:spPr>
          <a:xfrm>
            <a:off x="548640" y="1783080"/>
            <a:ext cx="1463040" cy="685800"/>
          </a:xfrm>
          <a:prstGeom prst="roundRect">
            <a:avLst>
              <a:gd name="adj" fmla="val 13333"/>
            </a:avLst>
          </a:prstGeom>
          <a:solidFill>
            <a:srgbClr val="FFFFFF"/>
          </a:solidFill>
          <a:ln w="9525">
            <a:solidFill>
              <a:srgbClr val="E2E8F0"/>
            </a:solidFill>
            <a:prstDash val="solid"/>
          </a:ln>
        </p:spPr>
      </p:sp>
      <p:sp>
        <p:nvSpPr>
          <p:cNvPr id="5" name="Text 3"/>
          <p:cNvSpPr txBox="1"/>
          <p:nvPr/>
        </p:nvSpPr>
        <p:spPr>
          <a:xfrm>
            <a:off x="548640" y="1783080"/>
            <a:ext cx="1463040" cy="68580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Web console</a:t>
            </a:r>
            <a:endParaRPr lang="en-US" sz="1300" dirty="0"/>
          </a:p>
        </p:txBody>
      </p:sp>
      <p:sp>
        <p:nvSpPr>
          <p:cNvPr id="6" name="Shape 4"/>
          <p:cNvSpPr/>
          <p:nvPr/>
        </p:nvSpPr>
        <p:spPr>
          <a:xfrm>
            <a:off x="548640" y="2606040"/>
            <a:ext cx="1463040" cy="685800"/>
          </a:xfrm>
          <a:prstGeom prst="roundRect">
            <a:avLst>
              <a:gd name="adj" fmla="val 13333"/>
            </a:avLst>
          </a:prstGeom>
          <a:solidFill>
            <a:srgbClr val="FFFFFF"/>
          </a:solidFill>
          <a:ln w="9525">
            <a:solidFill>
              <a:srgbClr val="E2E8F0"/>
            </a:solidFill>
            <a:prstDash val="solid"/>
          </a:ln>
        </p:spPr>
      </p:sp>
      <p:sp>
        <p:nvSpPr>
          <p:cNvPr id="7" name="Text 5"/>
          <p:cNvSpPr txBox="1"/>
          <p:nvPr/>
        </p:nvSpPr>
        <p:spPr>
          <a:xfrm>
            <a:off x="548640" y="2606040"/>
            <a:ext cx="1463040" cy="68580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Terminal CLI</a:t>
            </a:r>
            <a:endParaRPr lang="en-US" sz="1300" dirty="0"/>
          </a:p>
        </p:txBody>
      </p:sp>
      <p:sp>
        <p:nvSpPr>
          <p:cNvPr id="8" name="Shape 6"/>
          <p:cNvSpPr/>
          <p:nvPr/>
        </p:nvSpPr>
        <p:spPr>
          <a:xfrm>
            <a:off x="2057400" y="2537460"/>
            <a:ext cx="228600" cy="0"/>
          </a:xfrm>
          <a:prstGeom prst="line">
            <a:avLst/>
          </a:prstGeom>
          <a:noFill/>
          <a:ln w="19050">
            <a:solidFill>
              <a:srgbClr val="94A3B8"/>
            </a:solidFill>
            <a:prstDash val="solid"/>
            <a:tailEnd type="triangle"/>
          </a:ln>
        </p:spPr>
      </p:sp>
      <p:sp>
        <p:nvSpPr>
          <p:cNvPr id="9" name="Shape 7"/>
          <p:cNvSpPr/>
          <p:nvPr/>
        </p:nvSpPr>
        <p:spPr>
          <a:xfrm>
            <a:off x="2331720" y="1417320"/>
            <a:ext cx="4069080" cy="4343400"/>
          </a:xfrm>
          <a:prstGeom prst="roundRect">
            <a:avLst>
              <a:gd name="adj" fmla="val 2247"/>
            </a:avLst>
          </a:prstGeom>
          <a:solidFill>
            <a:srgbClr val="EFF6FF"/>
          </a:solidFill>
          <a:ln w="9525">
            <a:solidFill>
              <a:srgbClr val="BFDBFE"/>
            </a:solidFill>
            <a:prstDash val="solid"/>
          </a:ln>
        </p:spPr>
      </p:sp>
      <p:sp>
        <p:nvSpPr>
          <p:cNvPr id="10" name="Text 8"/>
          <p:cNvSpPr txBox="1"/>
          <p:nvPr/>
        </p:nvSpPr>
        <p:spPr>
          <a:xfrm>
            <a:off x="2514600" y="1527048"/>
            <a:ext cx="2194560" cy="365760"/>
          </a:xfrm>
          <a:prstGeom prst="rect">
            <a:avLst/>
          </a:prstGeom>
          <a:noFill/>
          <a:ln/>
        </p:spPr>
        <p:txBody>
          <a:bodyPr wrap="square" lIns="0" tIns="0" rIns="0" bIns="0" rtlCol="0" anchor="t"/>
          <a:lstStyle/>
          <a:p>
            <a:pPr indent="0" marL="0">
              <a:buNone/>
            </a:pPr>
            <a:r>
              <a:rPr lang="en-US" sz="1600" b="1" dirty="0">
                <a:solidFill>
                  <a:srgbClr val="1E3A8A"/>
                </a:solidFill>
                <a:latin typeface="Arial" pitchFamily="34" charset="0"/>
                <a:ea typeface="Arial" pitchFamily="34" charset="-122"/>
                <a:cs typeface="Arial" pitchFamily="34" charset="-120"/>
              </a:rPr>
              <a:t>MCP client</a:t>
            </a:r>
            <a:endParaRPr lang="en-US" sz="1600" dirty="0"/>
          </a:p>
        </p:txBody>
      </p:sp>
      <p:sp>
        <p:nvSpPr>
          <p:cNvPr id="11" name="Text 9"/>
          <p:cNvSpPr txBox="1"/>
          <p:nvPr/>
        </p:nvSpPr>
        <p:spPr>
          <a:xfrm>
            <a:off x="4709160" y="1572768"/>
            <a:ext cx="1508760" cy="320040"/>
          </a:xfrm>
          <a:prstGeom prst="rect">
            <a:avLst/>
          </a:prstGeom>
          <a:noFill/>
          <a:ln/>
        </p:spPr>
        <p:txBody>
          <a:bodyPr wrap="square" lIns="0" tIns="0" rIns="0" bIns="0" rtlCol="0" anchor="t"/>
          <a:lstStyle/>
          <a:p>
            <a:pPr algn="r" indent="0" marL="0">
              <a:buNone/>
            </a:pPr>
            <a:r>
              <a:rPr lang="en-US" sz="1100" dirty="0">
                <a:solidFill>
                  <a:srgbClr val="475569"/>
                </a:solidFill>
                <a:latin typeface="Courier New" pitchFamily="34" charset="0"/>
                <a:ea typeface="Courier New" pitchFamily="34" charset="-122"/>
                <a:cs typeface="Courier New" pitchFamily="34" charset="-120"/>
              </a:rPr>
              <a:t>src/client</a:t>
            </a:r>
            <a:endParaRPr lang="en-US" sz="1100" dirty="0"/>
          </a:p>
        </p:txBody>
      </p:sp>
      <p:sp>
        <p:nvSpPr>
          <p:cNvPr id="12" name="Shape 10"/>
          <p:cNvSpPr/>
          <p:nvPr/>
        </p:nvSpPr>
        <p:spPr>
          <a:xfrm>
            <a:off x="2514600" y="2103120"/>
            <a:ext cx="3703320" cy="731520"/>
          </a:xfrm>
          <a:prstGeom prst="roundRect">
            <a:avLst>
              <a:gd name="adj" fmla="val 12500"/>
            </a:avLst>
          </a:prstGeom>
          <a:solidFill>
            <a:srgbClr val="FFFFFF"/>
          </a:solidFill>
          <a:ln w="9525">
            <a:solidFill>
              <a:srgbClr val="BFDBFE"/>
            </a:solidFill>
            <a:prstDash val="solid"/>
          </a:ln>
        </p:spPr>
      </p:sp>
      <p:sp>
        <p:nvSpPr>
          <p:cNvPr id="13" name="Shape 11"/>
          <p:cNvSpPr/>
          <p:nvPr/>
        </p:nvSpPr>
        <p:spPr>
          <a:xfrm>
            <a:off x="2679192" y="2377440"/>
            <a:ext cx="182880" cy="182880"/>
          </a:xfrm>
          <a:prstGeom prst="ellipse">
            <a:avLst/>
          </a:prstGeom>
          <a:solidFill>
            <a:srgbClr val="8B5CF6"/>
          </a:solidFill>
          <a:ln/>
        </p:spPr>
      </p:sp>
      <p:sp>
        <p:nvSpPr>
          <p:cNvPr id="14" name="Text 12"/>
          <p:cNvSpPr txBox="1"/>
          <p:nvPr/>
        </p:nvSpPr>
        <p:spPr>
          <a:xfrm>
            <a:off x="2990088" y="2185416"/>
            <a:ext cx="3108960" cy="274320"/>
          </a:xfrm>
          <a:prstGeom prst="rect">
            <a:avLst/>
          </a:prstGeom>
          <a:noFill/>
          <a:ln/>
        </p:spPr>
        <p:txBody>
          <a:bodyPr wrap="square" lIns="0" tIns="0" rIns="0" bIns="0" rtlCol="0" anchor="t"/>
          <a:lstStyle/>
          <a:p>
            <a:pPr indent="0" marL="0">
              <a:buNone/>
            </a:pPr>
            <a:r>
              <a:rPr lang="en-US" sz="1300" b="1" dirty="0">
                <a:solidFill>
                  <a:srgbClr val="0F172A"/>
                </a:solidFill>
                <a:latin typeface="Calibri" pitchFamily="34" charset="0"/>
                <a:ea typeface="Calibri" pitchFamily="34" charset="-122"/>
                <a:cs typeface="Calibri" pitchFamily="34" charset="-120"/>
              </a:rPr>
              <a:t>Intent</a:t>
            </a:r>
            <a:endParaRPr lang="en-US" sz="1300" dirty="0"/>
          </a:p>
        </p:txBody>
      </p:sp>
      <p:sp>
        <p:nvSpPr>
          <p:cNvPr id="15" name="Text 13"/>
          <p:cNvSpPr txBox="1"/>
          <p:nvPr/>
        </p:nvSpPr>
        <p:spPr>
          <a:xfrm>
            <a:off x="2990088" y="2487168"/>
            <a:ext cx="3108960" cy="2743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rules first; LLM only when ambiguous</a:t>
            </a:r>
            <a:endParaRPr lang="en-US" sz="1050" dirty="0"/>
          </a:p>
        </p:txBody>
      </p:sp>
      <p:sp>
        <p:nvSpPr>
          <p:cNvPr id="16" name="Shape 14"/>
          <p:cNvSpPr/>
          <p:nvPr/>
        </p:nvSpPr>
        <p:spPr>
          <a:xfrm>
            <a:off x="2514600" y="2944368"/>
            <a:ext cx="3703320" cy="731520"/>
          </a:xfrm>
          <a:prstGeom prst="roundRect">
            <a:avLst>
              <a:gd name="adj" fmla="val 12500"/>
            </a:avLst>
          </a:prstGeom>
          <a:solidFill>
            <a:srgbClr val="FFFFFF"/>
          </a:solidFill>
          <a:ln w="9525">
            <a:solidFill>
              <a:srgbClr val="BFDBFE"/>
            </a:solidFill>
            <a:prstDash val="solid"/>
          </a:ln>
        </p:spPr>
      </p:sp>
      <p:sp>
        <p:nvSpPr>
          <p:cNvPr id="17" name="Shape 15"/>
          <p:cNvSpPr/>
          <p:nvPr/>
        </p:nvSpPr>
        <p:spPr>
          <a:xfrm>
            <a:off x="2679192" y="3218688"/>
            <a:ext cx="182880" cy="182880"/>
          </a:xfrm>
          <a:prstGeom prst="ellipse">
            <a:avLst/>
          </a:prstGeom>
          <a:solidFill>
            <a:srgbClr val="0EA5E9"/>
          </a:solidFill>
          <a:ln/>
        </p:spPr>
      </p:sp>
      <p:sp>
        <p:nvSpPr>
          <p:cNvPr id="18" name="Text 16"/>
          <p:cNvSpPr txBox="1"/>
          <p:nvPr/>
        </p:nvSpPr>
        <p:spPr>
          <a:xfrm>
            <a:off x="2990088" y="3026664"/>
            <a:ext cx="3108960" cy="274320"/>
          </a:xfrm>
          <a:prstGeom prst="rect">
            <a:avLst/>
          </a:prstGeom>
          <a:noFill/>
          <a:ln/>
        </p:spPr>
        <p:txBody>
          <a:bodyPr wrap="square" lIns="0" tIns="0" rIns="0" bIns="0" rtlCol="0" anchor="t"/>
          <a:lstStyle/>
          <a:p>
            <a:pPr indent="0" marL="0">
              <a:buNone/>
            </a:pPr>
            <a:r>
              <a:rPr lang="en-US" sz="1300" b="1" dirty="0">
                <a:solidFill>
                  <a:srgbClr val="0F172A"/>
                </a:solidFill>
                <a:latin typeface="Calibri" pitchFamily="34" charset="0"/>
                <a:ea typeface="Calibri" pitchFamily="34" charset="-122"/>
                <a:cs typeface="Calibri" pitchFamily="34" charset="-120"/>
              </a:rPr>
              <a:t>Router</a:t>
            </a:r>
            <a:endParaRPr lang="en-US" sz="1300" dirty="0"/>
          </a:p>
        </p:txBody>
      </p:sp>
      <p:sp>
        <p:nvSpPr>
          <p:cNvPr id="19" name="Text 17"/>
          <p:cNvSpPr txBox="1"/>
          <p:nvPr/>
        </p:nvSpPr>
        <p:spPr>
          <a:xfrm>
            <a:off x="2990088" y="3328416"/>
            <a:ext cx="3108960" cy="2743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intent → ordered list of subagents</a:t>
            </a:r>
            <a:endParaRPr lang="en-US" sz="1050" dirty="0"/>
          </a:p>
        </p:txBody>
      </p:sp>
      <p:sp>
        <p:nvSpPr>
          <p:cNvPr id="20" name="Shape 18"/>
          <p:cNvSpPr/>
          <p:nvPr/>
        </p:nvSpPr>
        <p:spPr>
          <a:xfrm>
            <a:off x="2514600" y="3785616"/>
            <a:ext cx="3703320" cy="731520"/>
          </a:xfrm>
          <a:prstGeom prst="roundRect">
            <a:avLst>
              <a:gd name="adj" fmla="val 12500"/>
            </a:avLst>
          </a:prstGeom>
          <a:solidFill>
            <a:srgbClr val="FFFFFF"/>
          </a:solidFill>
          <a:ln w="9525">
            <a:solidFill>
              <a:srgbClr val="BFDBFE"/>
            </a:solidFill>
            <a:prstDash val="solid"/>
          </a:ln>
        </p:spPr>
      </p:sp>
      <p:sp>
        <p:nvSpPr>
          <p:cNvPr id="21" name="Shape 19"/>
          <p:cNvSpPr/>
          <p:nvPr/>
        </p:nvSpPr>
        <p:spPr>
          <a:xfrm>
            <a:off x="2679192" y="4059936"/>
            <a:ext cx="182880" cy="182880"/>
          </a:xfrm>
          <a:prstGeom prst="ellipse">
            <a:avLst/>
          </a:prstGeom>
          <a:solidFill>
            <a:srgbClr val="2563EB"/>
          </a:solidFill>
          <a:ln/>
        </p:spPr>
      </p:sp>
      <p:sp>
        <p:nvSpPr>
          <p:cNvPr id="22" name="Text 20"/>
          <p:cNvSpPr txBox="1"/>
          <p:nvPr/>
        </p:nvSpPr>
        <p:spPr>
          <a:xfrm>
            <a:off x="2990088" y="3867912"/>
            <a:ext cx="3108960" cy="274320"/>
          </a:xfrm>
          <a:prstGeom prst="rect">
            <a:avLst/>
          </a:prstGeom>
          <a:noFill/>
          <a:ln/>
        </p:spPr>
        <p:txBody>
          <a:bodyPr wrap="square" lIns="0" tIns="0" rIns="0" bIns="0" rtlCol="0" anchor="t"/>
          <a:lstStyle/>
          <a:p>
            <a:pPr indent="0" marL="0">
              <a:buNone/>
            </a:pPr>
            <a:r>
              <a:rPr lang="en-US" sz="1300" b="1" dirty="0">
                <a:solidFill>
                  <a:srgbClr val="0F172A"/>
                </a:solidFill>
                <a:latin typeface="Calibri" pitchFamily="34" charset="0"/>
                <a:ea typeface="Calibri" pitchFamily="34" charset="-122"/>
                <a:cs typeface="Calibri" pitchFamily="34" charset="-120"/>
              </a:rPr>
              <a:t>Subagents</a:t>
            </a:r>
            <a:endParaRPr lang="en-US" sz="1300" dirty="0"/>
          </a:p>
        </p:txBody>
      </p:sp>
      <p:sp>
        <p:nvSpPr>
          <p:cNvPr id="23" name="Text 21"/>
          <p:cNvSpPr txBox="1"/>
          <p:nvPr/>
        </p:nvSpPr>
        <p:spPr>
          <a:xfrm>
            <a:off x="2990088" y="4169664"/>
            <a:ext cx="3108960" cy="2743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tool_selector · retrieval · answer · summary</a:t>
            </a:r>
            <a:endParaRPr lang="en-US" sz="1050" dirty="0"/>
          </a:p>
        </p:txBody>
      </p:sp>
      <p:sp>
        <p:nvSpPr>
          <p:cNvPr id="24" name="Shape 22"/>
          <p:cNvSpPr/>
          <p:nvPr/>
        </p:nvSpPr>
        <p:spPr>
          <a:xfrm>
            <a:off x="2514600" y="4626864"/>
            <a:ext cx="3703320" cy="731520"/>
          </a:xfrm>
          <a:prstGeom prst="roundRect">
            <a:avLst>
              <a:gd name="adj" fmla="val 12500"/>
            </a:avLst>
          </a:prstGeom>
          <a:solidFill>
            <a:srgbClr val="FFFFFF"/>
          </a:solidFill>
          <a:ln w="9525">
            <a:solidFill>
              <a:srgbClr val="BFDBFE"/>
            </a:solidFill>
            <a:prstDash val="solid"/>
          </a:ln>
        </p:spPr>
      </p:sp>
      <p:sp>
        <p:nvSpPr>
          <p:cNvPr id="25" name="Shape 23"/>
          <p:cNvSpPr/>
          <p:nvPr/>
        </p:nvSpPr>
        <p:spPr>
          <a:xfrm>
            <a:off x="2679192" y="4901184"/>
            <a:ext cx="182880" cy="182880"/>
          </a:xfrm>
          <a:prstGeom prst="ellipse">
            <a:avLst/>
          </a:prstGeom>
          <a:solidFill>
            <a:srgbClr val="64748B"/>
          </a:solidFill>
          <a:ln/>
        </p:spPr>
      </p:sp>
      <p:sp>
        <p:nvSpPr>
          <p:cNvPr id="26" name="Text 24"/>
          <p:cNvSpPr txBox="1"/>
          <p:nvPr/>
        </p:nvSpPr>
        <p:spPr>
          <a:xfrm>
            <a:off x="2990088" y="4709160"/>
            <a:ext cx="3108960" cy="274320"/>
          </a:xfrm>
          <a:prstGeom prst="rect">
            <a:avLst/>
          </a:prstGeom>
          <a:noFill/>
          <a:ln/>
        </p:spPr>
        <p:txBody>
          <a:bodyPr wrap="square" lIns="0" tIns="0" rIns="0" bIns="0" rtlCol="0" anchor="t"/>
          <a:lstStyle/>
          <a:p>
            <a:pPr indent="0" marL="0">
              <a:buNone/>
            </a:pPr>
            <a:r>
              <a:rPr lang="en-US" sz="1300" b="1" dirty="0">
                <a:solidFill>
                  <a:srgbClr val="0F172A"/>
                </a:solidFill>
                <a:latin typeface="Calibri" pitchFamily="34" charset="0"/>
                <a:ea typeface="Calibri" pitchFamily="34" charset="-122"/>
                <a:cs typeface="Calibri" pitchFamily="34" charset="-120"/>
              </a:rPr>
              <a:t>Memory</a:t>
            </a:r>
            <a:endParaRPr lang="en-US" sz="1300" dirty="0"/>
          </a:p>
        </p:txBody>
      </p:sp>
      <p:sp>
        <p:nvSpPr>
          <p:cNvPr id="27" name="Text 25"/>
          <p:cNvSpPr txBox="1"/>
          <p:nvPr/>
        </p:nvSpPr>
        <p:spPr>
          <a:xfrm>
            <a:off x="2990088" y="5010912"/>
            <a:ext cx="3108960" cy="2743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recent turns · working · rolling summary</a:t>
            </a:r>
            <a:endParaRPr lang="en-US" sz="1050" dirty="0"/>
          </a:p>
        </p:txBody>
      </p:sp>
      <p:sp>
        <p:nvSpPr>
          <p:cNvPr id="28" name="Shape 26"/>
          <p:cNvSpPr/>
          <p:nvPr/>
        </p:nvSpPr>
        <p:spPr>
          <a:xfrm>
            <a:off x="6400800" y="2697480"/>
            <a:ext cx="1371600" cy="0"/>
          </a:xfrm>
          <a:prstGeom prst="line">
            <a:avLst/>
          </a:prstGeom>
          <a:noFill/>
          <a:ln w="28575">
            <a:solidFill>
              <a:srgbClr val="059669"/>
            </a:solidFill>
            <a:prstDash val="solid"/>
            <a:headEnd type="triangle"/>
            <a:tailEnd type="triangle"/>
          </a:ln>
        </p:spPr>
      </p:sp>
      <p:sp>
        <p:nvSpPr>
          <p:cNvPr id="29" name="Text 27"/>
          <p:cNvSpPr txBox="1"/>
          <p:nvPr/>
        </p:nvSpPr>
        <p:spPr>
          <a:xfrm>
            <a:off x="6400800" y="2212848"/>
            <a:ext cx="1371600" cy="365760"/>
          </a:xfrm>
          <a:prstGeom prst="rect">
            <a:avLst/>
          </a:prstGeom>
          <a:noFill/>
          <a:ln/>
        </p:spPr>
        <p:txBody>
          <a:bodyPr wrap="square" lIns="0" tIns="0" rIns="0" bIns="0" rtlCol="0" anchor="t"/>
          <a:lstStyle/>
          <a:p>
            <a:pPr algn="ctr" indent="0" marL="0">
              <a:buNone/>
            </a:pPr>
            <a:r>
              <a:rPr lang="en-US" sz="1400" b="1" dirty="0">
                <a:solidFill>
                  <a:srgbClr val="059669"/>
                </a:solidFill>
                <a:latin typeface="Calibri" pitchFamily="34" charset="0"/>
                <a:ea typeface="Calibri" pitchFamily="34" charset="-122"/>
                <a:cs typeface="Calibri" pitchFamily="34" charset="-120"/>
              </a:rPr>
              <a:t>MCP</a:t>
            </a:r>
            <a:endParaRPr lang="en-US" sz="1400" dirty="0"/>
          </a:p>
        </p:txBody>
      </p:sp>
      <p:sp>
        <p:nvSpPr>
          <p:cNvPr id="30" name="Text 28"/>
          <p:cNvSpPr txBox="1"/>
          <p:nvPr/>
        </p:nvSpPr>
        <p:spPr>
          <a:xfrm>
            <a:off x="6400800" y="2816352"/>
            <a:ext cx="1371600" cy="45720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JSON-RPC</a:t>
            </a:r>
            <a:endParaRPr lang="en-US" sz="1000" dirty="0"/>
          </a:p>
          <a:p>
            <a:pPr algn="ctr" indent="0" marL="0">
              <a:buNone/>
            </a:pPr>
            <a:r>
              <a:rPr lang="en-US" sz="1000" dirty="0">
                <a:solidFill>
                  <a:srgbClr val="475569"/>
                </a:solidFill>
                <a:latin typeface="Calibri" pitchFamily="34" charset="0"/>
                <a:ea typeface="Calibri" pitchFamily="34" charset="-122"/>
                <a:cs typeface="Calibri" pitchFamily="34" charset="-120"/>
              </a:rPr>
              <a:t>stdio or HTTP</a:t>
            </a:r>
            <a:endParaRPr lang="en-US" sz="1000" dirty="0"/>
          </a:p>
        </p:txBody>
      </p:sp>
      <p:sp>
        <p:nvSpPr>
          <p:cNvPr id="31" name="Shape 29"/>
          <p:cNvSpPr/>
          <p:nvPr/>
        </p:nvSpPr>
        <p:spPr>
          <a:xfrm>
            <a:off x="6537960" y="3520440"/>
            <a:ext cx="1005840" cy="777240"/>
          </a:xfrm>
          <a:prstGeom prst="roundRect">
            <a:avLst>
              <a:gd name="adj" fmla="val 11765"/>
            </a:avLst>
          </a:prstGeom>
          <a:solidFill>
            <a:srgbClr val="FFFFFF"/>
          </a:solidFill>
          <a:ln w="9525">
            <a:solidFill>
              <a:srgbClr val="94A3B8"/>
            </a:solidFill>
            <a:prstDash val="dash"/>
          </a:ln>
        </p:spPr>
      </p:sp>
      <p:sp>
        <p:nvSpPr>
          <p:cNvPr id="32" name="Text 30"/>
          <p:cNvSpPr txBox="1"/>
          <p:nvPr/>
        </p:nvSpPr>
        <p:spPr>
          <a:xfrm>
            <a:off x="6537960" y="3520440"/>
            <a:ext cx="1005840" cy="77724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Claude</a:t>
            </a:r>
            <a:endParaRPr lang="en-US" sz="1100" dirty="0"/>
          </a:p>
          <a:p>
            <a:pPr algn="ctr" indent="0" marL="0">
              <a:buNone/>
            </a:pPr>
            <a:r>
              <a:rPr lang="en-US" sz="1100" b="1" dirty="0">
                <a:solidFill>
                  <a:srgbClr val="0F172A"/>
                </a:solidFill>
                <a:latin typeface="Calibri" pitchFamily="34" charset="0"/>
                <a:ea typeface="Calibri" pitchFamily="34" charset="-122"/>
                <a:cs typeface="Calibri" pitchFamily="34" charset="-120"/>
              </a:rPr>
              <a:t>Desktop</a:t>
            </a:r>
            <a:endParaRPr lang="en-US" sz="1100" dirty="0"/>
          </a:p>
        </p:txBody>
      </p:sp>
      <p:sp>
        <p:nvSpPr>
          <p:cNvPr id="33" name="Shape 31"/>
          <p:cNvSpPr/>
          <p:nvPr/>
        </p:nvSpPr>
        <p:spPr>
          <a:xfrm>
            <a:off x="7543800" y="3909060"/>
            <a:ext cx="228600" cy="0"/>
          </a:xfrm>
          <a:prstGeom prst="line">
            <a:avLst/>
          </a:prstGeom>
          <a:noFill/>
          <a:ln w="19050">
            <a:solidFill>
              <a:srgbClr val="94A3B8"/>
            </a:solidFill>
            <a:prstDash val="dash"/>
            <a:tailEnd type="triangle"/>
          </a:ln>
        </p:spPr>
      </p:sp>
      <p:sp>
        <p:nvSpPr>
          <p:cNvPr id="34" name="Text 32"/>
          <p:cNvSpPr txBox="1"/>
          <p:nvPr/>
        </p:nvSpPr>
        <p:spPr>
          <a:xfrm>
            <a:off x="6400800" y="4352544"/>
            <a:ext cx="1371600" cy="274320"/>
          </a:xfrm>
          <a:prstGeom prst="rect">
            <a:avLst/>
          </a:prstGeom>
          <a:noFill/>
          <a:ln/>
        </p:spPr>
        <p:txBody>
          <a:bodyPr wrap="square" lIns="0" tIns="0" rIns="0" bIns="0" rtlCol="0" anchor="t"/>
          <a:lstStyle/>
          <a:p>
            <a:pPr algn="ctr" indent="0" marL="0">
              <a:buNone/>
            </a:pPr>
            <a:r>
              <a:rPr lang="en-US" sz="950" dirty="0">
                <a:solidFill>
                  <a:srgbClr val="94A3B8"/>
                </a:solidFill>
                <a:latin typeface="Calibri" pitchFamily="34" charset="0"/>
                <a:ea typeface="Calibri" pitchFamily="34" charset="-122"/>
                <a:cs typeface="Calibri" pitchFamily="34" charset="-120"/>
              </a:rPr>
              <a:t>another MCP host</a:t>
            </a:r>
            <a:endParaRPr lang="en-US" sz="950" dirty="0"/>
          </a:p>
        </p:txBody>
      </p:sp>
      <p:sp>
        <p:nvSpPr>
          <p:cNvPr id="35" name="Shape 33"/>
          <p:cNvSpPr/>
          <p:nvPr/>
        </p:nvSpPr>
        <p:spPr>
          <a:xfrm>
            <a:off x="7772400" y="1417320"/>
            <a:ext cx="3870655" cy="2743200"/>
          </a:xfrm>
          <a:prstGeom prst="roundRect">
            <a:avLst>
              <a:gd name="adj" fmla="val 3333"/>
            </a:avLst>
          </a:prstGeom>
          <a:solidFill>
            <a:srgbClr val="ECFDF5"/>
          </a:solidFill>
          <a:ln w="9525">
            <a:solidFill>
              <a:srgbClr val="A7F3D0"/>
            </a:solidFill>
            <a:prstDash val="solid"/>
          </a:ln>
        </p:spPr>
      </p:sp>
      <p:sp>
        <p:nvSpPr>
          <p:cNvPr id="36" name="Text 34"/>
          <p:cNvSpPr txBox="1"/>
          <p:nvPr/>
        </p:nvSpPr>
        <p:spPr>
          <a:xfrm>
            <a:off x="7955280" y="1527048"/>
            <a:ext cx="2194560" cy="365760"/>
          </a:xfrm>
          <a:prstGeom prst="rect">
            <a:avLst/>
          </a:prstGeom>
          <a:noFill/>
          <a:ln/>
        </p:spPr>
        <p:txBody>
          <a:bodyPr wrap="square" lIns="0" tIns="0" rIns="0" bIns="0" rtlCol="0" anchor="t"/>
          <a:lstStyle/>
          <a:p>
            <a:pPr indent="0" marL="0">
              <a:buNone/>
            </a:pPr>
            <a:r>
              <a:rPr lang="en-US" sz="1600" b="1" dirty="0">
                <a:solidFill>
                  <a:srgbClr val="065F46"/>
                </a:solidFill>
                <a:latin typeface="Arial" pitchFamily="34" charset="0"/>
                <a:ea typeface="Arial" pitchFamily="34" charset="-122"/>
                <a:cs typeface="Arial" pitchFamily="34" charset="-120"/>
              </a:rPr>
              <a:t>MCP server</a:t>
            </a:r>
            <a:endParaRPr lang="en-US" sz="1600" dirty="0"/>
          </a:p>
        </p:txBody>
      </p:sp>
      <p:sp>
        <p:nvSpPr>
          <p:cNvPr id="37" name="Text 35"/>
          <p:cNvSpPr txBox="1"/>
          <p:nvPr/>
        </p:nvSpPr>
        <p:spPr>
          <a:xfrm>
            <a:off x="9966960" y="1572768"/>
            <a:ext cx="1493215" cy="320040"/>
          </a:xfrm>
          <a:prstGeom prst="rect">
            <a:avLst/>
          </a:prstGeom>
          <a:noFill/>
          <a:ln/>
        </p:spPr>
        <p:txBody>
          <a:bodyPr wrap="square" lIns="0" tIns="0" rIns="0" bIns="0" rtlCol="0" anchor="t"/>
          <a:lstStyle/>
          <a:p>
            <a:pPr algn="r" indent="0" marL="0">
              <a:buNone/>
            </a:pPr>
            <a:r>
              <a:rPr lang="en-US" sz="1100" dirty="0">
                <a:solidFill>
                  <a:srgbClr val="475569"/>
                </a:solidFill>
                <a:latin typeface="Courier New" pitchFamily="34" charset="0"/>
                <a:ea typeface="Courier New" pitchFamily="34" charset="-122"/>
                <a:cs typeface="Courier New" pitchFamily="34" charset="-120"/>
              </a:rPr>
              <a:t>src/server</a:t>
            </a:r>
            <a:endParaRPr lang="en-US" sz="1100" dirty="0"/>
          </a:p>
        </p:txBody>
      </p:sp>
      <p:sp>
        <p:nvSpPr>
          <p:cNvPr id="38" name="Shape 36"/>
          <p:cNvSpPr/>
          <p:nvPr/>
        </p:nvSpPr>
        <p:spPr>
          <a:xfrm>
            <a:off x="7955280" y="2103120"/>
            <a:ext cx="3504895" cy="530352"/>
          </a:xfrm>
          <a:prstGeom prst="roundRect">
            <a:avLst>
              <a:gd name="adj" fmla="val 17241"/>
            </a:avLst>
          </a:prstGeom>
          <a:solidFill>
            <a:srgbClr val="FFFFFF"/>
          </a:solidFill>
          <a:ln w="9525">
            <a:solidFill>
              <a:srgbClr val="A7F3D0"/>
            </a:solidFill>
            <a:prstDash val="solid"/>
          </a:ln>
        </p:spPr>
      </p:sp>
      <p:sp>
        <p:nvSpPr>
          <p:cNvPr id="39" name="Shape 37"/>
          <p:cNvSpPr/>
          <p:nvPr/>
        </p:nvSpPr>
        <p:spPr>
          <a:xfrm>
            <a:off x="8092440" y="2276856"/>
            <a:ext cx="182880" cy="182880"/>
          </a:xfrm>
          <a:prstGeom prst="ellipse">
            <a:avLst/>
          </a:prstGeom>
          <a:solidFill>
            <a:srgbClr val="059669"/>
          </a:solidFill>
          <a:ln/>
        </p:spPr>
      </p:sp>
      <p:sp>
        <p:nvSpPr>
          <p:cNvPr id="40" name="Text 38"/>
          <p:cNvSpPr txBox="1"/>
          <p:nvPr/>
        </p:nvSpPr>
        <p:spPr>
          <a:xfrm>
            <a:off x="8394192" y="2148840"/>
            <a:ext cx="2956255" cy="246888"/>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6 tools · 2 resources · 1 prompt</a:t>
            </a:r>
            <a:endParaRPr lang="en-US" sz="1200" dirty="0"/>
          </a:p>
        </p:txBody>
      </p:sp>
      <p:sp>
        <p:nvSpPr>
          <p:cNvPr id="41" name="Text 39"/>
          <p:cNvSpPr txBox="1"/>
          <p:nvPr/>
        </p:nvSpPr>
        <p:spPr>
          <a:xfrm>
            <a:off x="8394192" y="2386584"/>
            <a:ext cx="2956255" cy="219456"/>
          </a:xfrm>
          <a:prstGeom prst="rect">
            <a:avLst/>
          </a:prstGeom>
          <a:noFill/>
          <a:ln/>
        </p:spPr>
        <p:txBody>
          <a:bodyPr wrap="square" lIns="0" tIns="0" rIns="0" bIns="0" rtlCol="0" anchor="t"/>
          <a:lstStyle/>
          <a:p>
            <a:pPr indent="0" marL="0">
              <a:buNone/>
            </a:pPr>
            <a:r>
              <a:rPr lang="en-US" sz="1000" dirty="0">
                <a:solidFill>
                  <a:srgbClr val="475569"/>
                </a:solidFill>
                <a:latin typeface="Courier New" pitchFamily="34" charset="0"/>
                <a:ea typeface="Courier New" pitchFamily="34" charset="-122"/>
                <a:cs typeface="Courier New" pitchFamily="34" charset="-120"/>
              </a:rPr>
              <a:t>app.py</a:t>
            </a:r>
            <a:endParaRPr lang="en-US" sz="1000" dirty="0"/>
          </a:p>
        </p:txBody>
      </p:sp>
      <p:sp>
        <p:nvSpPr>
          <p:cNvPr id="42" name="Shape 40"/>
          <p:cNvSpPr/>
          <p:nvPr/>
        </p:nvSpPr>
        <p:spPr>
          <a:xfrm>
            <a:off x="7955280" y="2724912"/>
            <a:ext cx="3504895" cy="530352"/>
          </a:xfrm>
          <a:prstGeom prst="roundRect">
            <a:avLst>
              <a:gd name="adj" fmla="val 17241"/>
            </a:avLst>
          </a:prstGeom>
          <a:solidFill>
            <a:srgbClr val="FFFFFF"/>
          </a:solidFill>
          <a:ln w="9525">
            <a:solidFill>
              <a:srgbClr val="A7F3D0"/>
            </a:solidFill>
            <a:prstDash val="solid"/>
          </a:ln>
        </p:spPr>
      </p:sp>
      <p:sp>
        <p:nvSpPr>
          <p:cNvPr id="43" name="Shape 41"/>
          <p:cNvSpPr/>
          <p:nvPr/>
        </p:nvSpPr>
        <p:spPr>
          <a:xfrm>
            <a:off x="8092440" y="2898648"/>
            <a:ext cx="182880" cy="182880"/>
          </a:xfrm>
          <a:prstGeom prst="ellipse">
            <a:avLst/>
          </a:prstGeom>
          <a:solidFill>
            <a:srgbClr val="059669"/>
          </a:solidFill>
          <a:ln/>
        </p:spPr>
      </p:sp>
      <p:sp>
        <p:nvSpPr>
          <p:cNvPr id="44" name="Text 42"/>
          <p:cNvSpPr txBox="1"/>
          <p:nvPr/>
        </p:nvSpPr>
        <p:spPr>
          <a:xfrm>
            <a:off x="8394192" y="2770632"/>
            <a:ext cx="2956255" cy="246888"/>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Dense + BM25, fused by RRF</a:t>
            </a:r>
            <a:endParaRPr lang="en-US" sz="1200" dirty="0"/>
          </a:p>
        </p:txBody>
      </p:sp>
      <p:sp>
        <p:nvSpPr>
          <p:cNvPr id="45" name="Text 43"/>
          <p:cNvSpPr txBox="1"/>
          <p:nvPr/>
        </p:nvSpPr>
        <p:spPr>
          <a:xfrm>
            <a:off x="8394192" y="3008376"/>
            <a:ext cx="2956255" cy="219456"/>
          </a:xfrm>
          <a:prstGeom prst="rect">
            <a:avLst/>
          </a:prstGeom>
          <a:noFill/>
          <a:ln/>
        </p:spPr>
        <p:txBody>
          <a:bodyPr wrap="square" lIns="0" tIns="0" rIns="0" bIns="0" rtlCol="0" anchor="t"/>
          <a:lstStyle/>
          <a:p>
            <a:pPr indent="0" marL="0">
              <a:buNone/>
            </a:pPr>
            <a:r>
              <a:rPr lang="en-US" sz="1000" dirty="0">
                <a:solidFill>
                  <a:srgbClr val="475569"/>
                </a:solidFill>
                <a:latin typeface="Courier New" pitchFamily="34" charset="0"/>
                <a:ea typeface="Courier New" pitchFamily="34" charset="-122"/>
                <a:cs typeface="Courier New" pitchFamily="34" charset="-120"/>
              </a:rPr>
              <a:t>retriever.py</a:t>
            </a:r>
            <a:endParaRPr lang="en-US" sz="1000" dirty="0"/>
          </a:p>
        </p:txBody>
      </p:sp>
      <p:sp>
        <p:nvSpPr>
          <p:cNvPr id="46" name="Shape 44"/>
          <p:cNvSpPr/>
          <p:nvPr/>
        </p:nvSpPr>
        <p:spPr>
          <a:xfrm>
            <a:off x="7955280" y="3346704"/>
            <a:ext cx="3504895" cy="530352"/>
          </a:xfrm>
          <a:prstGeom prst="roundRect">
            <a:avLst>
              <a:gd name="adj" fmla="val 17241"/>
            </a:avLst>
          </a:prstGeom>
          <a:solidFill>
            <a:srgbClr val="FFFFFF"/>
          </a:solidFill>
          <a:ln w="9525">
            <a:solidFill>
              <a:srgbClr val="A7F3D0"/>
            </a:solidFill>
            <a:prstDash val="solid"/>
          </a:ln>
        </p:spPr>
      </p:sp>
      <p:sp>
        <p:nvSpPr>
          <p:cNvPr id="47" name="Shape 45"/>
          <p:cNvSpPr/>
          <p:nvPr/>
        </p:nvSpPr>
        <p:spPr>
          <a:xfrm>
            <a:off x="8092440" y="3520440"/>
            <a:ext cx="182880" cy="182880"/>
          </a:xfrm>
          <a:prstGeom prst="ellipse">
            <a:avLst/>
          </a:prstGeom>
          <a:solidFill>
            <a:srgbClr val="059669"/>
          </a:solidFill>
          <a:ln/>
        </p:spPr>
      </p:sp>
      <p:sp>
        <p:nvSpPr>
          <p:cNvPr id="48" name="Text 46"/>
          <p:cNvSpPr txBox="1"/>
          <p:nvPr/>
        </p:nvSpPr>
        <p:spPr>
          <a:xfrm>
            <a:off x="8394192" y="3392424"/>
            <a:ext cx="2956255" cy="246888"/>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ChromaDB + BM25 (jieba + bigrams)</a:t>
            </a:r>
            <a:endParaRPr lang="en-US" sz="1200" dirty="0"/>
          </a:p>
        </p:txBody>
      </p:sp>
      <p:sp>
        <p:nvSpPr>
          <p:cNvPr id="49" name="Text 47"/>
          <p:cNvSpPr txBox="1"/>
          <p:nvPr/>
        </p:nvSpPr>
        <p:spPr>
          <a:xfrm>
            <a:off x="8394192" y="3630168"/>
            <a:ext cx="2956255" cy="219456"/>
          </a:xfrm>
          <a:prstGeom prst="rect">
            <a:avLst/>
          </a:prstGeom>
          <a:noFill/>
          <a:ln/>
        </p:spPr>
        <p:txBody>
          <a:bodyPr wrap="square" lIns="0" tIns="0" rIns="0" bIns="0" rtlCol="0" anchor="t"/>
          <a:lstStyle/>
          <a:p>
            <a:pPr indent="0" marL="0">
              <a:buNone/>
            </a:pPr>
            <a:r>
              <a:rPr lang="en-US" sz="1000" dirty="0">
                <a:solidFill>
                  <a:srgbClr val="475569"/>
                </a:solidFill>
                <a:latin typeface="Courier New" pitchFamily="34" charset="0"/>
                <a:ea typeface="Courier New" pitchFamily="34" charset="-122"/>
                <a:cs typeface="Courier New" pitchFamily="34" charset="-120"/>
              </a:rPr>
              <a:t>store.py</a:t>
            </a:r>
            <a:endParaRPr lang="en-US" sz="1000" dirty="0"/>
          </a:p>
        </p:txBody>
      </p:sp>
      <p:sp>
        <p:nvSpPr>
          <p:cNvPr id="50" name="Shape 48"/>
          <p:cNvSpPr/>
          <p:nvPr/>
        </p:nvSpPr>
        <p:spPr>
          <a:xfrm>
            <a:off x="9692640" y="4206240"/>
            <a:ext cx="0" cy="347472"/>
          </a:xfrm>
          <a:prstGeom prst="line">
            <a:avLst/>
          </a:prstGeom>
          <a:noFill/>
          <a:ln w="19050">
            <a:solidFill>
              <a:srgbClr val="64748B"/>
            </a:solidFill>
            <a:prstDash val="solid"/>
            <a:headEnd type="triangle"/>
            <a:tailEnd type="none"/>
          </a:ln>
        </p:spPr>
      </p:sp>
      <p:sp>
        <p:nvSpPr>
          <p:cNvPr id="51" name="Shape 49"/>
          <p:cNvSpPr/>
          <p:nvPr/>
        </p:nvSpPr>
        <p:spPr>
          <a:xfrm>
            <a:off x="7772400" y="4572000"/>
            <a:ext cx="3870655" cy="1188720"/>
          </a:xfrm>
          <a:prstGeom prst="roundRect">
            <a:avLst>
              <a:gd name="adj" fmla="val 7692"/>
            </a:avLst>
          </a:prstGeom>
          <a:solidFill>
            <a:srgbClr val="F8FAFC"/>
          </a:solidFill>
          <a:ln w="9525">
            <a:solidFill>
              <a:srgbClr val="E2E8F0"/>
            </a:solidFill>
            <a:prstDash val="solid"/>
          </a:ln>
        </p:spPr>
      </p:sp>
      <p:sp>
        <p:nvSpPr>
          <p:cNvPr id="52" name="Text 50"/>
          <p:cNvSpPr txBox="1"/>
          <p:nvPr/>
        </p:nvSpPr>
        <p:spPr>
          <a:xfrm>
            <a:off x="7955280" y="4663440"/>
            <a:ext cx="3504895" cy="27432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Offline data pipeline</a:t>
            </a:r>
            <a:endParaRPr lang="en-US" sz="1250" dirty="0"/>
          </a:p>
        </p:txBody>
      </p:sp>
      <p:sp>
        <p:nvSpPr>
          <p:cNvPr id="53" name="Text 51"/>
          <p:cNvSpPr txBox="1"/>
          <p:nvPr/>
        </p:nvSpPr>
        <p:spPr>
          <a:xfrm>
            <a:off x="7955280" y="4983480"/>
            <a:ext cx="3504895" cy="274320"/>
          </a:xfrm>
          <a:prstGeom prst="rect">
            <a:avLst/>
          </a:prstGeom>
          <a:noFill/>
          <a:ln/>
        </p:spPr>
        <p:txBody>
          <a:bodyPr wrap="square" lIns="0" tIns="0" rIns="0" bIns="0" rtlCol="0" anchor="t"/>
          <a:lstStyle/>
          <a:p>
            <a:pPr indent="0" marL="0">
              <a:buNone/>
            </a:pPr>
            <a:r>
              <a:rPr lang="en-US" sz="1100" dirty="0">
                <a:solidFill>
                  <a:srgbClr val="0F172A"/>
                </a:solidFill>
                <a:latin typeface="Courier New" pitchFamily="34" charset="0"/>
                <a:ea typeface="Courier New" pitchFamily="34" charset="-122"/>
                <a:cs typeface="Courier New" pitchFamily="34" charset="-120"/>
              </a:rPr>
              <a:t>crawl_yzu.py → ingest.py → index</a:t>
            </a:r>
            <a:endParaRPr lang="en-US" sz="1100" dirty="0"/>
          </a:p>
        </p:txBody>
      </p:sp>
      <p:sp>
        <p:nvSpPr>
          <p:cNvPr id="54" name="Text 52"/>
          <p:cNvSpPr txBox="1"/>
          <p:nvPr/>
        </p:nvSpPr>
        <p:spPr>
          <a:xfrm>
            <a:off x="7955280" y="5321808"/>
            <a:ext cx="3504895" cy="32004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47 pages · 373 chunks · make crawl &amp;&amp; make ingest</a:t>
            </a:r>
            <a:endParaRPr lang="en-US" sz="1050" dirty="0"/>
          </a:p>
        </p:txBody>
      </p:sp>
      <p:sp>
        <p:nvSpPr>
          <p:cNvPr id="55" name="Text 53"/>
          <p:cNvSpPr txBox="1"/>
          <p:nvPr/>
        </p:nvSpPr>
        <p:spPr>
          <a:xfrm>
            <a:off x="548640" y="5989320"/>
            <a:ext cx="11094415" cy="365760"/>
          </a:xfrm>
          <a:prstGeom prst="rect">
            <a:avLst/>
          </a:prstGeom>
          <a:noFill/>
          <a:ln/>
        </p:spPr>
        <p:txBody>
          <a:bodyPr wrap="square" lIns="0" tIns="0" rIns="0" bIns="0" rtlCol="0" anchor="t"/>
          <a:lstStyle/>
          <a:p>
            <a:pPr indent="0" marL="0">
              <a:buNone/>
            </a:pPr>
            <a:r>
              <a:rPr lang="en-US" sz="1300" i="1" dirty="0">
                <a:solidFill>
                  <a:srgbClr val="475569"/>
                </a:solidFill>
                <a:latin typeface="Calibri" pitchFamily="34" charset="0"/>
                <a:ea typeface="Calibri" pitchFamily="34" charset="-122"/>
                <a:cs typeface="Calibri" pitchFamily="34" charset="-120"/>
              </a:rPr>
              <a:t>No memory, no LLM, no chat state on the server — which is why any MCP host can use it unchanged.</a:t>
            </a:r>
            <a:endParaRPr lang="en-US" sz="13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One real turn, end to end</a:t>
            </a:r>
            <a:endParaRPr lang="en-US" sz="3000" dirty="0"/>
          </a:p>
        </p:txBody>
      </p:sp>
      <p:sp>
        <p:nvSpPr>
          <p:cNvPr id="3" name="Text 1"/>
          <p:cNvSpPr txBox="1"/>
          <p:nvPr/>
        </p:nvSpPr>
        <p:spPr>
          <a:xfrm>
            <a:off x="548640" y="1078992"/>
            <a:ext cx="11094415" cy="3200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Question: “最近有什麼新消息？” — stages and timings copied from the trace panel</a:t>
            </a:r>
            <a:endParaRPr lang="en-US" sz="1400" dirty="0"/>
          </a:p>
        </p:txBody>
      </p:sp>
      <p:sp>
        <p:nvSpPr>
          <p:cNvPr id="4" name="Shape 2"/>
          <p:cNvSpPr/>
          <p:nvPr/>
        </p:nvSpPr>
        <p:spPr>
          <a:xfrm>
            <a:off x="548640" y="1572768"/>
            <a:ext cx="1620469" cy="960120"/>
          </a:xfrm>
          <a:prstGeom prst="roundRect">
            <a:avLst>
              <a:gd name="adj" fmla="val 9524"/>
            </a:avLst>
          </a:prstGeom>
          <a:solidFill>
            <a:srgbClr val="F8FAFC"/>
          </a:solidFill>
          <a:ln w="9525">
            <a:solidFill>
              <a:srgbClr val="E2E8F0"/>
            </a:solidFill>
            <a:prstDash val="solid"/>
          </a:ln>
        </p:spPr>
      </p:sp>
      <p:sp>
        <p:nvSpPr>
          <p:cNvPr id="5" name="Shape 3"/>
          <p:cNvSpPr/>
          <p:nvPr/>
        </p:nvSpPr>
        <p:spPr>
          <a:xfrm>
            <a:off x="676656" y="1728216"/>
            <a:ext cx="164592" cy="164592"/>
          </a:xfrm>
          <a:prstGeom prst="ellipse">
            <a:avLst/>
          </a:prstGeom>
          <a:solidFill>
            <a:srgbClr val="8B5CF6"/>
          </a:solidFill>
          <a:ln/>
        </p:spPr>
      </p:sp>
      <p:sp>
        <p:nvSpPr>
          <p:cNvPr id="6" name="Text 4"/>
          <p:cNvSpPr txBox="1"/>
          <p:nvPr/>
        </p:nvSpPr>
        <p:spPr>
          <a:xfrm>
            <a:off x="914400" y="1664208"/>
            <a:ext cx="1208989" cy="27432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intent</a:t>
            </a:r>
            <a:endParaRPr lang="en-US" sz="1200" dirty="0"/>
          </a:p>
        </p:txBody>
      </p:sp>
      <p:sp>
        <p:nvSpPr>
          <p:cNvPr id="7" name="Text 5"/>
          <p:cNvSpPr txBox="1"/>
          <p:nvPr/>
        </p:nvSpPr>
        <p:spPr>
          <a:xfrm>
            <a:off x="676656" y="1993392"/>
            <a:ext cx="1382725" cy="475488"/>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rules: knowledge 0.80</a:t>
            </a:r>
            <a:endParaRPr lang="en-US" sz="1100" dirty="0"/>
          </a:p>
        </p:txBody>
      </p:sp>
      <p:sp>
        <p:nvSpPr>
          <p:cNvPr id="8" name="Shape 6"/>
          <p:cNvSpPr/>
          <p:nvPr/>
        </p:nvSpPr>
        <p:spPr>
          <a:xfrm>
            <a:off x="2205685" y="2052828"/>
            <a:ext cx="201168" cy="0"/>
          </a:xfrm>
          <a:prstGeom prst="line">
            <a:avLst/>
          </a:prstGeom>
          <a:noFill/>
          <a:ln w="19050">
            <a:solidFill>
              <a:srgbClr val="94A3B8"/>
            </a:solidFill>
            <a:prstDash val="solid"/>
            <a:tailEnd type="triangle"/>
          </a:ln>
        </p:spPr>
      </p:sp>
      <p:sp>
        <p:nvSpPr>
          <p:cNvPr id="9" name="Shape 7"/>
          <p:cNvSpPr/>
          <p:nvPr/>
        </p:nvSpPr>
        <p:spPr>
          <a:xfrm>
            <a:off x="2443429" y="1572768"/>
            <a:ext cx="1620469" cy="960120"/>
          </a:xfrm>
          <a:prstGeom prst="roundRect">
            <a:avLst>
              <a:gd name="adj" fmla="val 9524"/>
            </a:avLst>
          </a:prstGeom>
          <a:solidFill>
            <a:srgbClr val="F8FAFC"/>
          </a:solidFill>
          <a:ln w="9525">
            <a:solidFill>
              <a:srgbClr val="E2E8F0"/>
            </a:solidFill>
            <a:prstDash val="solid"/>
          </a:ln>
        </p:spPr>
      </p:sp>
      <p:sp>
        <p:nvSpPr>
          <p:cNvPr id="10" name="Shape 8"/>
          <p:cNvSpPr/>
          <p:nvPr/>
        </p:nvSpPr>
        <p:spPr>
          <a:xfrm>
            <a:off x="2571445" y="1728216"/>
            <a:ext cx="164592" cy="164592"/>
          </a:xfrm>
          <a:prstGeom prst="ellipse">
            <a:avLst/>
          </a:prstGeom>
          <a:solidFill>
            <a:srgbClr val="0EA5E9"/>
          </a:solidFill>
          <a:ln/>
        </p:spPr>
      </p:sp>
      <p:sp>
        <p:nvSpPr>
          <p:cNvPr id="11" name="Text 9"/>
          <p:cNvSpPr txBox="1"/>
          <p:nvPr/>
        </p:nvSpPr>
        <p:spPr>
          <a:xfrm>
            <a:off x="2809189" y="1664208"/>
            <a:ext cx="1208989" cy="27432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router</a:t>
            </a:r>
            <a:endParaRPr lang="en-US" sz="1200" dirty="0"/>
          </a:p>
        </p:txBody>
      </p:sp>
      <p:sp>
        <p:nvSpPr>
          <p:cNvPr id="12" name="Text 10"/>
          <p:cNvSpPr txBox="1"/>
          <p:nvPr/>
        </p:nvSpPr>
        <p:spPr>
          <a:xfrm>
            <a:off x="2571445" y="1993392"/>
            <a:ext cx="1382725" cy="475488"/>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 3 subagents</a:t>
            </a:r>
            <a:endParaRPr lang="en-US" sz="1100" dirty="0"/>
          </a:p>
        </p:txBody>
      </p:sp>
      <p:sp>
        <p:nvSpPr>
          <p:cNvPr id="13" name="Shape 11"/>
          <p:cNvSpPr/>
          <p:nvPr/>
        </p:nvSpPr>
        <p:spPr>
          <a:xfrm>
            <a:off x="4100474" y="2052828"/>
            <a:ext cx="201168" cy="0"/>
          </a:xfrm>
          <a:prstGeom prst="line">
            <a:avLst/>
          </a:prstGeom>
          <a:noFill/>
          <a:ln w="19050">
            <a:solidFill>
              <a:srgbClr val="94A3B8"/>
            </a:solidFill>
            <a:prstDash val="solid"/>
            <a:tailEnd type="triangle"/>
          </a:ln>
        </p:spPr>
      </p:sp>
      <p:sp>
        <p:nvSpPr>
          <p:cNvPr id="14" name="Shape 12"/>
          <p:cNvSpPr/>
          <p:nvPr/>
        </p:nvSpPr>
        <p:spPr>
          <a:xfrm>
            <a:off x="4338218" y="1572768"/>
            <a:ext cx="1620469" cy="960120"/>
          </a:xfrm>
          <a:prstGeom prst="roundRect">
            <a:avLst>
              <a:gd name="adj" fmla="val 9524"/>
            </a:avLst>
          </a:prstGeom>
          <a:solidFill>
            <a:srgbClr val="F8FAFC"/>
          </a:solidFill>
          <a:ln w="9525">
            <a:solidFill>
              <a:srgbClr val="E2E8F0"/>
            </a:solidFill>
            <a:prstDash val="solid"/>
          </a:ln>
        </p:spPr>
      </p:sp>
      <p:sp>
        <p:nvSpPr>
          <p:cNvPr id="15" name="Shape 13"/>
          <p:cNvSpPr/>
          <p:nvPr/>
        </p:nvSpPr>
        <p:spPr>
          <a:xfrm>
            <a:off x="4466234" y="1728216"/>
            <a:ext cx="164592" cy="164592"/>
          </a:xfrm>
          <a:prstGeom prst="ellipse">
            <a:avLst/>
          </a:prstGeom>
          <a:solidFill>
            <a:srgbClr val="2563EB"/>
          </a:solidFill>
          <a:ln/>
        </p:spPr>
      </p:sp>
      <p:sp>
        <p:nvSpPr>
          <p:cNvPr id="16" name="Text 14"/>
          <p:cNvSpPr txBox="1"/>
          <p:nvPr/>
        </p:nvSpPr>
        <p:spPr>
          <a:xfrm>
            <a:off x="4703978" y="1664208"/>
            <a:ext cx="1208989" cy="27432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tool_selector</a:t>
            </a:r>
            <a:endParaRPr lang="en-US" sz="1200" dirty="0"/>
          </a:p>
        </p:txBody>
      </p:sp>
      <p:sp>
        <p:nvSpPr>
          <p:cNvPr id="17" name="Text 15"/>
          <p:cNvSpPr txBox="1"/>
          <p:nvPr/>
        </p:nvSpPr>
        <p:spPr>
          <a:xfrm>
            <a:off x="4466234" y="1993392"/>
            <a:ext cx="1382725" cy="475488"/>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LLM chose get_news</a:t>
            </a:r>
            <a:endParaRPr lang="en-US" sz="1100" dirty="0"/>
          </a:p>
        </p:txBody>
      </p:sp>
      <p:sp>
        <p:nvSpPr>
          <p:cNvPr id="18" name="Shape 16"/>
          <p:cNvSpPr/>
          <p:nvPr/>
        </p:nvSpPr>
        <p:spPr>
          <a:xfrm>
            <a:off x="5995264" y="2052828"/>
            <a:ext cx="201168" cy="0"/>
          </a:xfrm>
          <a:prstGeom prst="line">
            <a:avLst/>
          </a:prstGeom>
          <a:noFill/>
          <a:ln w="19050">
            <a:solidFill>
              <a:srgbClr val="94A3B8"/>
            </a:solidFill>
            <a:prstDash val="solid"/>
            <a:tailEnd type="triangle"/>
          </a:ln>
        </p:spPr>
      </p:sp>
      <p:sp>
        <p:nvSpPr>
          <p:cNvPr id="19" name="Shape 17"/>
          <p:cNvSpPr/>
          <p:nvPr/>
        </p:nvSpPr>
        <p:spPr>
          <a:xfrm>
            <a:off x="6233008" y="1572768"/>
            <a:ext cx="1620469" cy="960120"/>
          </a:xfrm>
          <a:prstGeom prst="roundRect">
            <a:avLst>
              <a:gd name="adj" fmla="val 9524"/>
            </a:avLst>
          </a:prstGeom>
          <a:solidFill>
            <a:srgbClr val="F8FAFC"/>
          </a:solidFill>
          <a:ln w="9525">
            <a:solidFill>
              <a:srgbClr val="E2E8F0"/>
            </a:solidFill>
            <a:prstDash val="solid"/>
          </a:ln>
        </p:spPr>
      </p:sp>
      <p:sp>
        <p:nvSpPr>
          <p:cNvPr id="20" name="Shape 18"/>
          <p:cNvSpPr/>
          <p:nvPr/>
        </p:nvSpPr>
        <p:spPr>
          <a:xfrm>
            <a:off x="6361024" y="1728216"/>
            <a:ext cx="164592" cy="164592"/>
          </a:xfrm>
          <a:prstGeom prst="ellipse">
            <a:avLst/>
          </a:prstGeom>
          <a:solidFill>
            <a:srgbClr val="2563EB"/>
          </a:solidFill>
          <a:ln/>
        </p:spPr>
      </p:sp>
      <p:sp>
        <p:nvSpPr>
          <p:cNvPr id="21" name="Text 19"/>
          <p:cNvSpPr txBox="1"/>
          <p:nvPr/>
        </p:nvSpPr>
        <p:spPr>
          <a:xfrm>
            <a:off x="6598768" y="1664208"/>
            <a:ext cx="1208989" cy="27432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retrieval</a:t>
            </a:r>
            <a:endParaRPr lang="en-US" sz="1200" dirty="0"/>
          </a:p>
        </p:txBody>
      </p:sp>
      <p:sp>
        <p:nvSpPr>
          <p:cNvPr id="22" name="Text 20"/>
          <p:cNvSpPr txBox="1"/>
          <p:nvPr/>
        </p:nvSpPr>
        <p:spPr>
          <a:xfrm>
            <a:off x="6361024" y="1993392"/>
            <a:ext cx="1382725" cy="475488"/>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rewrite → 2 queries</a:t>
            </a:r>
            <a:endParaRPr lang="en-US" sz="1100" dirty="0"/>
          </a:p>
        </p:txBody>
      </p:sp>
      <p:sp>
        <p:nvSpPr>
          <p:cNvPr id="23" name="Shape 21"/>
          <p:cNvSpPr/>
          <p:nvPr/>
        </p:nvSpPr>
        <p:spPr>
          <a:xfrm>
            <a:off x="7890053" y="2052828"/>
            <a:ext cx="201168" cy="0"/>
          </a:xfrm>
          <a:prstGeom prst="line">
            <a:avLst/>
          </a:prstGeom>
          <a:noFill/>
          <a:ln w="19050">
            <a:solidFill>
              <a:srgbClr val="94A3B8"/>
            </a:solidFill>
            <a:prstDash val="solid"/>
            <a:tailEnd type="triangle"/>
          </a:ln>
        </p:spPr>
      </p:sp>
      <p:sp>
        <p:nvSpPr>
          <p:cNvPr id="24" name="Shape 22"/>
          <p:cNvSpPr/>
          <p:nvPr/>
        </p:nvSpPr>
        <p:spPr>
          <a:xfrm>
            <a:off x="8127797" y="1572768"/>
            <a:ext cx="1620469" cy="960120"/>
          </a:xfrm>
          <a:prstGeom prst="roundRect">
            <a:avLst>
              <a:gd name="adj" fmla="val 9524"/>
            </a:avLst>
          </a:prstGeom>
          <a:solidFill>
            <a:srgbClr val="F8FAFC"/>
          </a:solidFill>
          <a:ln w="9525">
            <a:solidFill>
              <a:srgbClr val="E2E8F0"/>
            </a:solidFill>
            <a:prstDash val="solid"/>
          </a:ln>
        </p:spPr>
      </p:sp>
      <p:sp>
        <p:nvSpPr>
          <p:cNvPr id="25" name="Shape 23"/>
          <p:cNvSpPr/>
          <p:nvPr/>
        </p:nvSpPr>
        <p:spPr>
          <a:xfrm>
            <a:off x="8255813" y="1728216"/>
            <a:ext cx="164592" cy="164592"/>
          </a:xfrm>
          <a:prstGeom prst="ellipse">
            <a:avLst/>
          </a:prstGeom>
          <a:solidFill>
            <a:srgbClr val="059669"/>
          </a:solidFill>
          <a:ln/>
        </p:spPr>
      </p:sp>
      <p:sp>
        <p:nvSpPr>
          <p:cNvPr id="26" name="Text 24"/>
          <p:cNvSpPr txBox="1"/>
          <p:nvPr/>
        </p:nvSpPr>
        <p:spPr>
          <a:xfrm>
            <a:off x="8493557" y="1664208"/>
            <a:ext cx="1208989" cy="27432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MCP calls</a:t>
            </a:r>
            <a:endParaRPr lang="en-US" sz="1200" dirty="0"/>
          </a:p>
        </p:txBody>
      </p:sp>
      <p:sp>
        <p:nvSpPr>
          <p:cNvPr id="27" name="Text 25"/>
          <p:cNvSpPr txBox="1"/>
          <p:nvPr/>
        </p:nvSpPr>
        <p:spPr>
          <a:xfrm>
            <a:off x="8255813" y="1993392"/>
            <a:ext cx="1382725" cy="475488"/>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get_news, get_document</a:t>
            </a:r>
            <a:endParaRPr lang="en-US" sz="1100" dirty="0"/>
          </a:p>
        </p:txBody>
      </p:sp>
      <p:sp>
        <p:nvSpPr>
          <p:cNvPr id="28" name="Shape 26"/>
          <p:cNvSpPr/>
          <p:nvPr/>
        </p:nvSpPr>
        <p:spPr>
          <a:xfrm>
            <a:off x="9784842" y="2052828"/>
            <a:ext cx="201168" cy="0"/>
          </a:xfrm>
          <a:prstGeom prst="line">
            <a:avLst/>
          </a:prstGeom>
          <a:noFill/>
          <a:ln w="19050">
            <a:solidFill>
              <a:srgbClr val="94A3B8"/>
            </a:solidFill>
            <a:prstDash val="solid"/>
            <a:tailEnd type="triangle"/>
          </a:ln>
        </p:spPr>
      </p:sp>
      <p:sp>
        <p:nvSpPr>
          <p:cNvPr id="29" name="Shape 27"/>
          <p:cNvSpPr/>
          <p:nvPr/>
        </p:nvSpPr>
        <p:spPr>
          <a:xfrm>
            <a:off x="10022586" y="1572768"/>
            <a:ext cx="1620469" cy="960120"/>
          </a:xfrm>
          <a:prstGeom prst="roundRect">
            <a:avLst>
              <a:gd name="adj" fmla="val 9524"/>
            </a:avLst>
          </a:prstGeom>
          <a:solidFill>
            <a:srgbClr val="F8FAFC"/>
          </a:solidFill>
          <a:ln w="9525">
            <a:solidFill>
              <a:srgbClr val="E2E8F0"/>
            </a:solidFill>
            <a:prstDash val="solid"/>
          </a:ln>
        </p:spPr>
      </p:sp>
      <p:sp>
        <p:nvSpPr>
          <p:cNvPr id="30" name="Shape 28"/>
          <p:cNvSpPr/>
          <p:nvPr/>
        </p:nvSpPr>
        <p:spPr>
          <a:xfrm>
            <a:off x="10150602" y="1728216"/>
            <a:ext cx="164592" cy="164592"/>
          </a:xfrm>
          <a:prstGeom prst="ellipse">
            <a:avLst/>
          </a:prstGeom>
          <a:solidFill>
            <a:srgbClr val="2563EB"/>
          </a:solidFill>
          <a:ln/>
        </p:spPr>
      </p:sp>
      <p:sp>
        <p:nvSpPr>
          <p:cNvPr id="31" name="Text 29"/>
          <p:cNvSpPr txBox="1"/>
          <p:nvPr/>
        </p:nvSpPr>
        <p:spPr>
          <a:xfrm>
            <a:off x="10388346" y="1664208"/>
            <a:ext cx="1208989" cy="27432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answer</a:t>
            </a:r>
            <a:endParaRPr lang="en-US" sz="1200" dirty="0"/>
          </a:p>
        </p:txBody>
      </p:sp>
      <p:sp>
        <p:nvSpPr>
          <p:cNvPr id="32" name="Text 30"/>
          <p:cNvSpPr txBox="1"/>
          <p:nvPr/>
        </p:nvSpPr>
        <p:spPr>
          <a:xfrm>
            <a:off x="10150602" y="1993392"/>
            <a:ext cx="1382725" cy="475488"/>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LLM, 5 cited passages</a:t>
            </a:r>
            <a:endParaRPr lang="en-US" sz="1100" dirty="0"/>
          </a:p>
        </p:txBody>
      </p:sp>
      <p:graphicFrame>
        <p:nvGraphicFramePr>
          <p:cNvPr id="33" name="Chart 0" descr=""/>
          <p:cNvGraphicFramePr/>
          <p:nvPr/>
        </p:nvGraphicFramePr>
        <p:xfrm>
          <a:off x="548640" y="2788920"/>
          <a:ext cx="7086600" cy="3429000"/>
        </p:xfrm>
        <a:graphic xmlns:a="http://schemas.openxmlformats.org/drawingml/2006/main">
          <a:graphicData uri="http://schemas.openxmlformats.org/drawingml/2006/chart">
            <c:chart xmlns:c="http://schemas.openxmlformats.org/drawingml/2006/chart" r:id="rId1"/>
          </a:graphicData>
        </a:graphic>
      </p:graphicFrame>
      <p:sp>
        <p:nvSpPr>
          <p:cNvPr id="34" name="Text 31"/>
          <p:cNvSpPr txBox="1"/>
          <p:nvPr/>
        </p:nvSpPr>
        <p:spPr>
          <a:xfrm>
            <a:off x="8001000" y="2880360"/>
            <a:ext cx="3642055" cy="731520"/>
          </a:xfrm>
          <a:prstGeom prst="rect">
            <a:avLst/>
          </a:prstGeom>
          <a:noFill/>
          <a:ln/>
        </p:spPr>
        <p:txBody>
          <a:bodyPr wrap="square" lIns="0" tIns="0" rIns="0" bIns="0" rtlCol="0" anchor="t"/>
          <a:lstStyle/>
          <a:p>
            <a:pPr indent="0" marL="0">
              <a:buNone/>
            </a:pPr>
            <a:r>
              <a:rPr lang="en-US" sz="4400" b="1" dirty="0">
                <a:solidFill>
                  <a:srgbClr val="2563EB"/>
                </a:solidFill>
                <a:latin typeface="Arial" pitchFamily="34" charset="0"/>
                <a:ea typeface="Arial" pitchFamily="34" charset="-122"/>
                <a:cs typeface="Arial" pitchFamily="34" charset="-120"/>
              </a:rPr>
              <a:t>99.6%</a:t>
            </a:r>
            <a:endParaRPr lang="en-US" sz="4400" dirty="0"/>
          </a:p>
        </p:txBody>
      </p:sp>
      <p:sp>
        <p:nvSpPr>
          <p:cNvPr id="35" name="Text 32"/>
          <p:cNvSpPr txBox="1"/>
          <p:nvPr/>
        </p:nvSpPr>
        <p:spPr>
          <a:xfrm>
            <a:off x="8001000" y="3611880"/>
            <a:ext cx="3642055" cy="54864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of the 7.4 s turn is three LLM calls</a:t>
            </a:r>
            <a:endParaRPr lang="en-US" sz="1400" dirty="0"/>
          </a:p>
        </p:txBody>
      </p:sp>
      <p:sp>
        <p:nvSpPr>
          <p:cNvPr id="36" name="Text 33"/>
          <p:cNvSpPr txBox="1"/>
          <p:nvPr/>
        </p:nvSpPr>
        <p:spPr>
          <a:xfrm>
            <a:off x="8001000" y="4297680"/>
            <a:ext cx="3642055" cy="731520"/>
          </a:xfrm>
          <a:prstGeom prst="rect">
            <a:avLst/>
          </a:prstGeom>
          <a:noFill/>
          <a:ln/>
        </p:spPr>
        <p:txBody>
          <a:bodyPr wrap="square" lIns="0" tIns="0" rIns="0" bIns="0" rtlCol="0" anchor="t"/>
          <a:lstStyle/>
          <a:p>
            <a:pPr indent="0" marL="0">
              <a:buNone/>
            </a:pPr>
            <a:r>
              <a:rPr lang="en-US" sz="4400" b="1" dirty="0">
                <a:solidFill>
                  <a:srgbClr val="059669"/>
                </a:solidFill>
                <a:latin typeface="Arial" pitchFamily="34" charset="0"/>
                <a:ea typeface="Arial" pitchFamily="34" charset="-122"/>
                <a:cs typeface="Arial" pitchFamily="34" charset="-120"/>
              </a:rPr>
              <a:t>27 ms</a:t>
            </a:r>
            <a:endParaRPr lang="en-US" sz="4400" dirty="0"/>
          </a:p>
        </p:txBody>
      </p:sp>
      <p:sp>
        <p:nvSpPr>
          <p:cNvPr id="37" name="Text 34"/>
          <p:cNvSpPr txBox="1"/>
          <p:nvPr/>
        </p:nvSpPr>
        <p:spPr>
          <a:xfrm>
            <a:off x="8001000" y="5029200"/>
            <a:ext cx="3642055" cy="36576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for both MCP retrieval calls together</a:t>
            </a:r>
            <a:endParaRPr lang="en-US" sz="1400" dirty="0"/>
          </a:p>
        </p:txBody>
      </p:sp>
      <p:sp>
        <p:nvSpPr>
          <p:cNvPr id="38" name="Text 35"/>
          <p:cNvSpPr txBox="1"/>
          <p:nvPr/>
        </p:nvSpPr>
        <p:spPr>
          <a:xfrm>
            <a:off x="8001000" y="5486400"/>
            <a:ext cx="3642055" cy="7315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Latency lives in generation, not retrieval — so that is where effort should go: a smaller model, streaming, fewer calls.</a:t>
            </a:r>
            <a:endParaRPr lang="en-US" sz="1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The server offers tools; the client picks</a:t>
            </a:r>
            <a:endParaRPr lang="en-US" sz="3000" dirty="0"/>
          </a:p>
        </p:txBody>
      </p:sp>
      <p:sp>
        <p:nvSpPr>
          <p:cNvPr id="3" name="Shape 1"/>
          <p:cNvSpPr/>
          <p:nvPr/>
        </p:nvSpPr>
        <p:spPr>
          <a:xfrm>
            <a:off x="548640" y="1325880"/>
            <a:ext cx="4846320" cy="4343400"/>
          </a:xfrm>
          <a:prstGeom prst="roundRect">
            <a:avLst>
              <a:gd name="adj" fmla="val 2105"/>
            </a:avLst>
          </a:prstGeom>
          <a:solidFill>
            <a:srgbClr val="ECFDF5"/>
          </a:solidFill>
          <a:ln w="9525">
            <a:solidFill>
              <a:srgbClr val="A7F3D0"/>
            </a:solidFill>
            <a:prstDash val="solid"/>
          </a:ln>
        </p:spPr>
      </p:sp>
      <p:sp>
        <p:nvSpPr>
          <p:cNvPr id="4" name="Text 2"/>
          <p:cNvSpPr txBox="1"/>
          <p:nvPr/>
        </p:nvSpPr>
        <p:spPr>
          <a:xfrm>
            <a:off x="822960" y="1508760"/>
            <a:ext cx="4297680" cy="365760"/>
          </a:xfrm>
          <a:prstGeom prst="rect">
            <a:avLst/>
          </a:prstGeom>
          <a:noFill/>
          <a:ln/>
        </p:spPr>
        <p:txBody>
          <a:bodyPr wrap="square" lIns="0" tIns="0" rIns="0" bIns="0" rtlCol="0" anchor="t"/>
          <a:lstStyle/>
          <a:p>
            <a:pPr indent="0" marL="0">
              <a:buNone/>
            </a:pPr>
            <a:r>
              <a:rPr lang="en-US" sz="1700" b="1" dirty="0">
                <a:solidFill>
                  <a:srgbClr val="065F46"/>
                </a:solidFill>
                <a:latin typeface="Arial" pitchFamily="34" charset="0"/>
                <a:ea typeface="Arial" pitchFamily="34" charset="-122"/>
                <a:cs typeface="Arial" pitchFamily="34" charset="-120"/>
              </a:rPr>
              <a:t>The MCP server exposes</a:t>
            </a:r>
            <a:endParaRPr lang="en-US" sz="1700" dirty="0"/>
          </a:p>
        </p:txBody>
      </p:sp>
      <p:sp>
        <p:nvSpPr>
          <p:cNvPr id="5" name="Text 3"/>
          <p:cNvSpPr txBox="1"/>
          <p:nvPr/>
        </p:nvSpPr>
        <p:spPr>
          <a:xfrm>
            <a:off x="822960" y="2011680"/>
            <a:ext cx="1920240" cy="365760"/>
          </a:xfrm>
          <a:prstGeom prst="rect">
            <a:avLst/>
          </a:prstGeom>
          <a:noFill/>
          <a:ln/>
        </p:spPr>
        <p:txBody>
          <a:bodyPr wrap="square" lIns="0" tIns="0" rIns="0" bIns="0" rtlCol="0" anchor="ctr"/>
          <a:lstStyle/>
          <a:p>
            <a:pPr indent="0" marL="0">
              <a:buNone/>
            </a:pPr>
            <a:r>
              <a:rPr lang="en-US" sz="1300" b="1" dirty="0">
                <a:solidFill>
                  <a:srgbClr val="065F46"/>
                </a:solidFill>
                <a:latin typeface="Courier New" pitchFamily="34" charset="0"/>
                <a:ea typeface="Courier New" pitchFamily="34" charset="-122"/>
                <a:cs typeface="Courier New" pitchFamily="34" charset="-120"/>
              </a:rPr>
              <a:t>search_documents</a:t>
            </a:r>
            <a:endParaRPr lang="en-US" sz="1300" dirty="0"/>
          </a:p>
        </p:txBody>
      </p:sp>
      <p:sp>
        <p:nvSpPr>
          <p:cNvPr id="6" name="Text 4"/>
          <p:cNvSpPr txBox="1"/>
          <p:nvPr/>
        </p:nvSpPr>
        <p:spPr>
          <a:xfrm>
            <a:off x="2788920" y="2011680"/>
            <a:ext cx="242316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hybrid passage search</a:t>
            </a:r>
            <a:endParaRPr lang="en-US" sz="1200" dirty="0"/>
          </a:p>
        </p:txBody>
      </p:sp>
      <p:sp>
        <p:nvSpPr>
          <p:cNvPr id="7" name="Text 5"/>
          <p:cNvSpPr txBox="1"/>
          <p:nvPr/>
        </p:nvSpPr>
        <p:spPr>
          <a:xfrm>
            <a:off x="822960" y="2487168"/>
            <a:ext cx="1920240" cy="365760"/>
          </a:xfrm>
          <a:prstGeom prst="rect">
            <a:avLst/>
          </a:prstGeom>
          <a:noFill/>
          <a:ln/>
        </p:spPr>
        <p:txBody>
          <a:bodyPr wrap="square" lIns="0" tIns="0" rIns="0" bIns="0" rtlCol="0" anchor="ctr"/>
          <a:lstStyle/>
          <a:p>
            <a:pPr indent="0" marL="0">
              <a:buNone/>
            </a:pPr>
            <a:r>
              <a:rPr lang="en-US" sz="1300" b="1" dirty="0">
                <a:solidFill>
                  <a:srgbClr val="065F46"/>
                </a:solidFill>
                <a:latin typeface="Courier New" pitchFamily="34" charset="0"/>
                <a:ea typeface="Courier New" pitchFamily="34" charset="-122"/>
                <a:cs typeface="Courier New" pitchFamily="34" charset="-120"/>
              </a:rPr>
              <a:t>get_document</a:t>
            </a:r>
            <a:endParaRPr lang="en-US" sz="1300" dirty="0"/>
          </a:p>
        </p:txBody>
      </p:sp>
      <p:sp>
        <p:nvSpPr>
          <p:cNvPr id="8" name="Text 6"/>
          <p:cNvSpPr txBox="1"/>
          <p:nvPr/>
        </p:nvSpPr>
        <p:spPr>
          <a:xfrm>
            <a:off x="2788920" y="2487168"/>
            <a:ext cx="242316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full text of one page</a:t>
            </a:r>
            <a:endParaRPr lang="en-US" sz="1200" dirty="0"/>
          </a:p>
        </p:txBody>
      </p:sp>
      <p:sp>
        <p:nvSpPr>
          <p:cNvPr id="9" name="Text 7"/>
          <p:cNvSpPr txBox="1"/>
          <p:nvPr/>
        </p:nvSpPr>
        <p:spPr>
          <a:xfrm>
            <a:off x="822960" y="2962656"/>
            <a:ext cx="1920240" cy="365760"/>
          </a:xfrm>
          <a:prstGeom prst="rect">
            <a:avLst/>
          </a:prstGeom>
          <a:noFill/>
          <a:ln/>
        </p:spPr>
        <p:txBody>
          <a:bodyPr wrap="square" lIns="0" tIns="0" rIns="0" bIns="0" rtlCol="0" anchor="ctr"/>
          <a:lstStyle/>
          <a:p>
            <a:pPr indent="0" marL="0">
              <a:buNone/>
            </a:pPr>
            <a:r>
              <a:rPr lang="en-US" sz="1300" b="1" dirty="0">
                <a:solidFill>
                  <a:srgbClr val="065F46"/>
                </a:solidFill>
                <a:latin typeface="Courier New" pitchFamily="34" charset="0"/>
                <a:ea typeface="Courier New" pitchFamily="34" charset="-122"/>
                <a:cs typeface="Courier New" pitchFamily="34" charset="-120"/>
              </a:rPr>
              <a:t>get_news</a:t>
            </a:r>
            <a:endParaRPr lang="en-US" sz="1300" dirty="0"/>
          </a:p>
        </p:txBody>
      </p:sp>
      <p:sp>
        <p:nvSpPr>
          <p:cNvPr id="10" name="Text 8"/>
          <p:cNvSpPr txBox="1"/>
          <p:nvPr/>
        </p:nvSpPr>
        <p:spPr>
          <a:xfrm>
            <a:off x="2788920" y="2962656"/>
            <a:ext cx="242316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newest first, by date</a:t>
            </a:r>
            <a:endParaRPr lang="en-US" sz="1200" dirty="0"/>
          </a:p>
        </p:txBody>
      </p:sp>
      <p:sp>
        <p:nvSpPr>
          <p:cNvPr id="11" name="Text 9"/>
          <p:cNvSpPr txBox="1"/>
          <p:nvPr/>
        </p:nvSpPr>
        <p:spPr>
          <a:xfrm>
            <a:off x="822960" y="3438144"/>
            <a:ext cx="1920240" cy="365760"/>
          </a:xfrm>
          <a:prstGeom prst="rect">
            <a:avLst/>
          </a:prstGeom>
          <a:noFill/>
          <a:ln/>
        </p:spPr>
        <p:txBody>
          <a:bodyPr wrap="square" lIns="0" tIns="0" rIns="0" bIns="0" rtlCol="0" anchor="ctr"/>
          <a:lstStyle/>
          <a:p>
            <a:pPr indent="0" marL="0">
              <a:buNone/>
            </a:pPr>
            <a:r>
              <a:rPr lang="en-US" sz="1300" b="1" dirty="0">
                <a:solidFill>
                  <a:srgbClr val="065F46"/>
                </a:solidFill>
                <a:latin typeface="Courier New" pitchFamily="34" charset="0"/>
                <a:ea typeface="Courier New" pitchFamily="34" charset="-122"/>
                <a:cs typeface="Courier New" pitchFamily="34" charset="-120"/>
              </a:rPr>
              <a:t>list_by_section</a:t>
            </a:r>
            <a:endParaRPr lang="en-US" sz="1300" dirty="0"/>
          </a:p>
        </p:txBody>
      </p:sp>
      <p:sp>
        <p:nvSpPr>
          <p:cNvPr id="12" name="Text 10"/>
          <p:cNvSpPr txBox="1"/>
          <p:nvPr/>
        </p:nvSpPr>
        <p:spPr>
          <a:xfrm>
            <a:off x="2788920" y="3438144"/>
            <a:ext cx="242316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every page of one kind</a:t>
            </a:r>
            <a:endParaRPr lang="en-US" sz="1200" dirty="0"/>
          </a:p>
        </p:txBody>
      </p:sp>
      <p:sp>
        <p:nvSpPr>
          <p:cNvPr id="13" name="Text 11"/>
          <p:cNvSpPr txBox="1"/>
          <p:nvPr/>
        </p:nvSpPr>
        <p:spPr>
          <a:xfrm>
            <a:off x="822960" y="3913632"/>
            <a:ext cx="1920240" cy="365760"/>
          </a:xfrm>
          <a:prstGeom prst="rect">
            <a:avLst/>
          </a:prstGeom>
          <a:noFill/>
          <a:ln/>
        </p:spPr>
        <p:txBody>
          <a:bodyPr wrap="square" lIns="0" tIns="0" rIns="0" bIns="0" rtlCol="0" anchor="ctr"/>
          <a:lstStyle/>
          <a:p>
            <a:pPr indent="0" marL="0">
              <a:buNone/>
            </a:pPr>
            <a:r>
              <a:rPr lang="en-US" sz="1300" b="1" dirty="0">
                <a:solidFill>
                  <a:srgbClr val="065F46"/>
                </a:solidFill>
                <a:latin typeface="Courier New" pitchFamily="34" charset="0"/>
                <a:ea typeface="Courier New" pitchFamily="34" charset="-122"/>
                <a:cs typeface="Courier New" pitchFamily="34" charset="-120"/>
              </a:rPr>
              <a:t>list_sources</a:t>
            </a:r>
            <a:endParaRPr lang="en-US" sz="1300" dirty="0"/>
          </a:p>
        </p:txBody>
      </p:sp>
      <p:sp>
        <p:nvSpPr>
          <p:cNvPr id="14" name="Text 12"/>
          <p:cNvSpPr txBox="1"/>
          <p:nvPr/>
        </p:nvSpPr>
        <p:spPr>
          <a:xfrm>
            <a:off x="2788920" y="3913632"/>
            <a:ext cx="242316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what is indexed</a:t>
            </a:r>
            <a:endParaRPr lang="en-US" sz="1200" dirty="0"/>
          </a:p>
        </p:txBody>
      </p:sp>
      <p:sp>
        <p:nvSpPr>
          <p:cNvPr id="15" name="Text 13"/>
          <p:cNvSpPr txBox="1"/>
          <p:nvPr/>
        </p:nvSpPr>
        <p:spPr>
          <a:xfrm>
            <a:off x="822960" y="4389120"/>
            <a:ext cx="1920240" cy="365760"/>
          </a:xfrm>
          <a:prstGeom prst="rect">
            <a:avLst/>
          </a:prstGeom>
          <a:noFill/>
          <a:ln/>
        </p:spPr>
        <p:txBody>
          <a:bodyPr wrap="square" lIns="0" tIns="0" rIns="0" bIns="0" rtlCol="0" anchor="ctr"/>
          <a:lstStyle/>
          <a:p>
            <a:pPr indent="0" marL="0">
              <a:buNone/>
            </a:pPr>
            <a:r>
              <a:rPr lang="en-US" sz="1300" b="1" dirty="0">
                <a:solidFill>
                  <a:srgbClr val="065F46"/>
                </a:solidFill>
                <a:latin typeface="Courier New" pitchFamily="34" charset="0"/>
                <a:ea typeface="Courier New" pitchFamily="34" charset="-122"/>
                <a:cs typeface="Courier New" pitchFamily="34" charset="-120"/>
              </a:rPr>
              <a:t>index_status</a:t>
            </a:r>
            <a:endParaRPr lang="en-US" sz="1300" dirty="0"/>
          </a:p>
        </p:txBody>
      </p:sp>
      <p:sp>
        <p:nvSpPr>
          <p:cNvPr id="16" name="Text 14"/>
          <p:cNvSpPr txBox="1"/>
          <p:nvPr/>
        </p:nvSpPr>
        <p:spPr>
          <a:xfrm>
            <a:off x="2788920" y="4389120"/>
            <a:ext cx="242316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health and retrieval mode</a:t>
            </a:r>
            <a:endParaRPr lang="en-US" sz="1200" dirty="0"/>
          </a:p>
        </p:txBody>
      </p:sp>
      <p:sp>
        <p:nvSpPr>
          <p:cNvPr id="17" name="Text 15"/>
          <p:cNvSpPr txBox="1"/>
          <p:nvPr/>
        </p:nvSpPr>
        <p:spPr>
          <a:xfrm>
            <a:off x="822960" y="4983480"/>
            <a:ext cx="4297680" cy="822960"/>
          </a:xfrm>
          <a:prstGeom prst="rect">
            <a:avLst/>
          </a:prstGeom>
          <a:noFill/>
          <a:ln/>
        </p:spPr>
        <p:txBody>
          <a:bodyPr wrap="square" lIns="0" tIns="0" rIns="0" bIns="0" rtlCol="0" anchor="t"/>
          <a:lstStyle/>
          <a:p>
            <a:pPr indent="0" marL="0">
              <a:spcAft>
                <a:spcPts val="400"/>
              </a:spcAft>
              <a:buNone/>
            </a:pPr>
            <a:r>
              <a:rPr lang="en-US" sz="1200" b="1" dirty="0">
                <a:solidFill>
                  <a:srgbClr val="0F172A"/>
                </a:solidFill>
                <a:latin typeface="Calibri" pitchFamily="34" charset="0"/>
                <a:ea typeface="Calibri" pitchFamily="34" charset="-122"/>
                <a:cs typeface="Calibri" pitchFamily="34" charset="-120"/>
              </a:rPr>
              <a:t>Resources  </a:t>
            </a:r>
            <a:pPr indent="0" marL="0">
              <a:spcAft>
                <a:spcPts val="400"/>
              </a:spcAft>
              <a:buNone/>
            </a:pPr>
            <a:r>
              <a:rPr lang="en-US" sz="1050" dirty="0">
                <a:solidFill>
                  <a:srgbClr val="475569"/>
                </a:solidFill>
                <a:latin typeface="Courier New" pitchFamily="34" charset="0"/>
                <a:ea typeface="Courier New" pitchFamily="34" charset="-122"/>
                <a:cs typeface="Courier New" pitchFamily="34" charset="-120"/>
              </a:rPr>
              <a:t>yzu://doc/{url} · yzu://index/manifest</a:t>
            </a:r>
            <a:endParaRPr lang="en-US" sz="1200" dirty="0"/>
          </a:p>
          <a:p>
            <a:pPr indent="0" marL="0">
              <a:spcAft>
                <a:spcPts val="400"/>
              </a:spcAft>
              <a:buNone/>
            </a:pPr>
            <a:r>
              <a:rPr lang="en-US" sz="1200" b="1" dirty="0">
                <a:solidFill>
                  <a:srgbClr val="0F172A"/>
                </a:solidFill>
                <a:latin typeface="Calibri" pitchFamily="34" charset="0"/>
                <a:ea typeface="Calibri" pitchFamily="34" charset="-122"/>
                <a:cs typeface="Calibri" pitchFamily="34" charset="-120"/>
              </a:rPr>
              <a:t>Prompt  </a:t>
            </a:r>
            <a:pPr indent="0" marL="0">
              <a:spcAft>
                <a:spcPts val="400"/>
              </a:spcAft>
              <a:buNone/>
            </a:pPr>
            <a:r>
              <a:rPr lang="en-US" sz="1050" dirty="0">
                <a:solidFill>
                  <a:srgbClr val="475569"/>
                </a:solidFill>
                <a:latin typeface="Courier New" pitchFamily="34" charset="0"/>
                <a:ea typeface="Courier New" pitchFamily="34" charset="-122"/>
                <a:cs typeface="Courier New" pitchFamily="34" charset="-120"/>
              </a:rPr>
              <a:t>grounded_answer</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0" y="1325880"/>
          <a:ext cx="5973775" cy="914400"/>
        </p:xfrm>
        <a:graphic>
          <a:graphicData uri="http://schemas.openxmlformats.org/drawingml/2006/table">
            <a:tbl>
              <a:tblPr/>
              <a:tblGrid>
                <a:gridCol w="2194560"/>
                <a:gridCol w="1627632"/>
                <a:gridCol w="2151583"/>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Tool chosen</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56692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TAICA 有哪些學分學程？</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1D4ED8"/>
                          </a:solidFill>
                          <a:latin typeface="Courier New" pitchFamily="34" charset="0"/>
                          <a:ea typeface="Courier New" pitchFamily="34" charset="-122"/>
                          <a:cs typeface="Courier New" pitchFamily="34" charset="-120"/>
                        </a:rPr>
                        <a:t>search_documents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 question about content</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最近有什麼新消息？</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b="1" dirty="0">
                          <a:solidFill>
                            <a:srgbClr val="1D4ED8"/>
                          </a:solidFill>
                          <a:latin typeface="Courier New" pitchFamily="34" charset="0"/>
                          <a:ea typeface="Courier New" pitchFamily="34" charset="-122"/>
                          <a:cs typeface="Courier New" pitchFamily="34" charset="-120"/>
                        </a:rPr>
                        <a:t>get_news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needs date order, not relevance</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56692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中心有哪些老師？</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1D4ED8"/>
                          </a:solidFill>
                          <a:latin typeface="Courier New" pitchFamily="34" charset="0"/>
                          <a:ea typeface="Courier New" pitchFamily="34" charset="-122"/>
                          <a:cs typeface="Courier New" pitchFamily="34" charset="-120"/>
                        </a:rPr>
                        <a:t>list_by_section</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asks what exists, not what it says</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今天新竹的天氣如何？</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b="1" dirty="0">
                          <a:solidFill>
                            <a:srgbClr val="94A3B8"/>
                          </a:solidFill>
                          <a:latin typeface="Courier New" pitchFamily="34" charset="0"/>
                          <a:ea typeface="Courier New" pitchFamily="34" charset="-122"/>
                          <a:cs typeface="Courier New" pitchFamily="34" charset="-120"/>
                        </a:rPr>
                        <a:t>(none)</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refused at intent — no tool call</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
        <p:nvSpPr>
          <p:cNvPr id="19" name="Text 16"/>
          <p:cNvSpPr txBox="1"/>
          <p:nvPr/>
        </p:nvSpPr>
        <p:spPr>
          <a:xfrm>
            <a:off x="5669280" y="4434840"/>
            <a:ext cx="5973775" cy="109728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The choice is made from the names, descriptions and argument schemas MCP sends at discovery. An unknown tool name is rejected and falls back to search, and so does an empty listing.</a:t>
            </a:r>
            <a:endParaRPr lang="en-US" sz="13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Retrieval: four design decisions</a:t>
            </a:r>
            <a:endParaRPr lang="en-US" sz="3000" dirty="0"/>
          </a:p>
        </p:txBody>
      </p:sp>
      <p:sp>
        <p:nvSpPr>
          <p:cNvPr id="3" name="Shape 1"/>
          <p:cNvSpPr/>
          <p:nvPr/>
        </p:nvSpPr>
        <p:spPr>
          <a:xfrm>
            <a:off x="548640" y="1325880"/>
            <a:ext cx="5410048" cy="2103120"/>
          </a:xfrm>
          <a:prstGeom prst="roundRect">
            <a:avLst>
              <a:gd name="adj" fmla="val 4348"/>
            </a:avLst>
          </a:prstGeom>
          <a:solidFill>
            <a:srgbClr val="F8FAFC"/>
          </a:solidFill>
          <a:ln w="9525">
            <a:solidFill>
              <a:srgbClr val="E2E8F0"/>
            </a:solidFill>
            <a:prstDash val="solid"/>
          </a:ln>
        </p:spPr>
      </p:sp>
      <p:sp>
        <p:nvSpPr>
          <p:cNvPr id="4" name="Shape 2"/>
          <p:cNvSpPr/>
          <p:nvPr/>
        </p:nvSpPr>
        <p:spPr>
          <a:xfrm>
            <a:off x="822960" y="1600200"/>
            <a:ext cx="457200" cy="457200"/>
          </a:xfrm>
          <a:prstGeom prst="ellipse">
            <a:avLst/>
          </a:prstGeom>
          <a:solidFill>
            <a:srgbClr val="2563EB"/>
          </a:solidFill>
          <a:ln/>
        </p:spPr>
      </p:sp>
      <p:pic>
        <p:nvPicPr>
          <p:cNvPr id="5" name="Image 0" descr="preencoded.png">    </p:cNvPr>
          <p:cNvPicPr>
            <a:picLocks noChangeAspect="1"/>
          </p:cNvPicPr>
          <p:nvPr/>
        </p:nvPicPr>
        <p:blipFill>
          <a:blip r:embed="rId1"/>
          <a:stretch>
            <a:fillRect/>
          </a:stretch>
        </p:blipFill>
        <p:spPr>
          <a:xfrm>
            <a:off x="932688" y="1709928"/>
            <a:ext cx="237744" cy="237744"/>
          </a:xfrm>
          <a:prstGeom prst="rect">
            <a:avLst/>
          </a:prstGeom>
        </p:spPr>
      </p:pic>
      <p:sp>
        <p:nvSpPr>
          <p:cNvPr id="6" name="Text 3"/>
          <p:cNvSpPr txBox="1"/>
          <p:nvPr/>
        </p:nvSpPr>
        <p:spPr>
          <a:xfrm>
            <a:off x="1463040" y="1600200"/>
            <a:ext cx="4221328" cy="45720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Hybrid: dense + BM25</a:t>
            </a:r>
            <a:endParaRPr lang="en-US" sz="1900" dirty="0"/>
          </a:p>
        </p:txBody>
      </p:sp>
      <p:sp>
        <p:nvSpPr>
          <p:cNvPr id="7" name="Text 4"/>
          <p:cNvSpPr txBox="1"/>
          <p:nvPr/>
        </p:nvSpPr>
        <p:spPr>
          <a:xfrm>
            <a:off x="822960" y="2240280"/>
            <a:ext cx="4861408" cy="1097280"/>
          </a:xfrm>
          <a:prstGeom prst="rect">
            <a:avLst/>
          </a:prstGeom>
          <a:noFill/>
          <a:ln/>
        </p:spPr>
        <p:txBody>
          <a:bodyPr wrap="square" lIns="0" tIns="0" rIns="0" bIns="0" rtlCol="0" anchor="t"/>
          <a:lstStyle/>
          <a:p>
            <a:pPr indent="0" marL="0">
              <a:buNone/>
            </a:pPr>
            <a:r>
              <a:rPr lang="en-US" sz="1500" dirty="0">
                <a:solidFill>
                  <a:srgbClr val="475569"/>
                </a:solidFill>
                <a:latin typeface="Calibri" pitchFamily="34" charset="0"/>
                <a:ea typeface="Calibri" pitchFamily="34" charset="-122"/>
                <a:cs typeface="Calibri" pitchFamily="34" charset="-120"/>
              </a:rPr>
              <a:t>Dense vectors (e5-small in ChromaDB) catch paraphrase; BM25 catches exact names such as program titles. Either alone misses a class of question.</a:t>
            </a:r>
            <a:endParaRPr lang="en-US" sz="1500" dirty="0"/>
          </a:p>
        </p:txBody>
      </p:sp>
      <p:sp>
        <p:nvSpPr>
          <p:cNvPr id="8" name="Shape 5"/>
          <p:cNvSpPr/>
          <p:nvPr/>
        </p:nvSpPr>
        <p:spPr>
          <a:xfrm>
            <a:off x="6233008" y="1325880"/>
            <a:ext cx="5410048" cy="2103120"/>
          </a:xfrm>
          <a:prstGeom prst="roundRect">
            <a:avLst>
              <a:gd name="adj" fmla="val 4348"/>
            </a:avLst>
          </a:prstGeom>
          <a:solidFill>
            <a:srgbClr val="F8FAFC"/>
          </a:solidFill>
          <a:ln w="9525">
            <a:solidFill>
              <a:srgbClr val="E2E8F0"/>
            </a:solidFill>
            <a:prstDash val="solid"/>
          </a:ln>
        </p:spPr>
      </p:sp>
      <p:sp>
        <p:nvSpPr>
          <p:cNvPr id="9" name="Shape 6"/>
          <p:cNvSpPr/>
          <p:nvPr/>
        </p:nvSpPr>
        <p:spPr>
          <a:xfrm>
            <a:off x="6507328" y="1600200"/>
            <a:ext cx="457200" cy="457200"/>
          </a:xfrm>
          <a:prstGeom prst="ellipse">
            <a:avLst/>
          </a:prstGeom>
          <a:solidFill>
            <a:srgbClr val="7C3AED"/>
          </a:solidFill>
          <a:ln/>
        </p:spPr>
      </p:sp>
      <p:pic>
        <p:nvPicPr>
          <p:cNvPr id="10" name="Image 1" descr="preencoded.png">    </p:cNvPr>
          <p:cNvPicPr>
            <a:picLocks noChangeAspect="1"/>
          </p:cNvPicPr>
          <p:nvPr/>
        </p:nvPicPr>
        <p:blipFill>
          <a:blip r:embed="rId2"/>
          <a:stretch>
            <a:fillRect/>
          </a:stretch>
        </p:blipFill>
        <p:spPr>
          <a:xfrm>
            <a:off x="6617056" y="1709928"/>
            <a:ext cx="237744" cy="237744"/>
          </a:xfrm>
          <a:prstGeom prst="rect">
            <a:avLst/>
          </a:prstGeom>
        </p:spPr>
      </p:pic>
      <p:sp>
        <p:nvSpPr>
          <p:cNvPr id="11" name="Text 7"/>
          <p:cNvSpPr txBox="1"/>
          <p:nvPr/>
        </p:nvSpPr>
        <p:spPr>
          <a:xfrm>
            <a:off x="7147408" y="1600200"/>
            <a:ext cx="4221328" cy="45720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RRF orders, confidence gates</a:t>
            </a:r>
            <a:endParaRPr lang="en-US" sz="1900" dirty="0"/>
          </a:p>
        </p:txBody>
      </p:sp>
      <p:sp>
        <p:nvSpPr>
          <p:cNvPr id="12" name="Text 8"/>
          <p:cNvSpPr txBox="1"/>
          <p:nvPr/>
        </p:nvSpPr>
        <p:spPr>
          <a:xfrm>
            <a:off x="6507328" y="2240280"/>
            <a:ext cx="4861408" cy="1097280"/>
          </a:xfrm>
          <a:prstGeom prst="rect">
            <a:avLst/>
          </a:prstGeom>
          <a:noFill/>
          <a:ln/>
        </p:spPr>
        <p:txBody>
          <a:bodyPr wrap="square" lIns="0" tIns="0" rIns="0" bIns="0" rtlCol="0" anchor="t"/>
          <a:lstStyle/>
          <a:p>
            <a:pPr indent="0" marL="0">
              <a:buNone/>
            </a:pPr>
            <a:r>
              <a:rPr lang="en-US" sz="1500" dirty="0">
                <a:solidFill>
                  <a:srgbClr val="475569"/>
                </a:solidFill>
                <a:latin typeface="Calibri" pitchFamily="34" charset="0"/>
                <a:ea typeface="Calibri" pitchFamily="34" charset="-122"/>
                <a:cs typeface="Calibri" pitchFamily="34" charset="-120"/>
              </a:rPr>
              <a:t>RRF’s top hit always scores 1/(k+1), however bad it is. So refusal uses a separate confidence: max(cosine, query coverage).</a:t>
            </a:r>
            <a:endParaRPr lang="en-US" sz="1500" dirty="0"/>
          </a:p>
        </p:txBody>
      </p:sp>
      <p:sp>
        <p:nvSpPr>
          <p:cNvPr id="13" name="Shape 9"/>
          <p:cNvSpPr/>
          <p:nvPr/>
        </p:nvSpPr>
        <p:spPr>
          <a:xfrm>
            <a:off x="548640" y="3611880"/>
            <a:ext cx="5410048" cy="2103120"/>
          </a:xfrm>
          <a:prstGeom prst="roundRect">
            <a:avLst>
              <a:gd name="adj" fmla="val 4348"/>
            </a:avLst>
          </a:prstGeom>
          <a:solidFill>
            <a:srgbClr val="F8FAFC"/>
          </a:solidFill>
          <a:ln w="9525">
            <a:solidFill>
              <a:srgbClr val="E2E8F0"/>
            </a:solidFill>
            <a:prstDash val="solid"/>
          </a:ln>
        </p:spPr>
      </p:sp>
      <p:sp>
        <p:nvSpPr>
          <p:cNvPr id="14" name="Shape 10"/>
          <p:cNvSpPr/>
          <p:nvPr/>
        </p:nvSpPr>
        <p:spPr>
          <a:xfrm>
            <a:off x="822960" y="3886200"/>
            <a:ext cx="457200" cy="457200"/>
          </a:xfrm>
          <a:prstGeom prst="ellipse">
            <a:avLst/>
          </a:prstGeom>
          <a:solidFill>
            <a:srgbClr val="0EA5E9"/>
          </a:solidFill>
          <a:ln/>
        </p:spPr>
      </p:sp>
      <p:pic>
        <p:nvPicPr>
          <p:cNvPr id="15" name="Image 2" descr="preencoded.png">    </p:cNvPr>
          <p:cNvPicPr>
            <a:picLocks noChangeAspect="1"/>
          </p:cNvPicPr>
          <p:nvPr/>
        </p:nvPicPr>
        <p:blipFill>
          <a:blip r:embed="rId3"/>
          <a:stretch>
            <a:fillRect/>
          </a:stretch>
        </p:blipFill>
        <p:spPr>
          <a:xfrm>
            <a:off x="932688" y="3995928"/>
            <a:ext cx="237744" cy="237744"/>
          </a:xfrm>
          <a:prstGeom prst="rect">
            <a:avLst/>
          </a:prstGeom>
        </p:spPr>
      </p:pic>
      <p:sp>
        <p:nvSpPr>
          <p:cNvPr id="16" name="Text 11"/>
          <p:cNvSpPr txBox="1"/>
          <p:nvPr/>
        </p:nvSpPr>
        <p:spPr>
          <a:xfrm>
            <a:off x="1463040" y="3886200"/>
            <a:ext cx="4221328" cy="45720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jieba + CJK bigrams</a:t>
            </a:r>
            <a:endParaRPr lang="en-US" sz="1900" dirty="0"/>
          </a:p>
        </p:txBody>
      </p:sp>
      <p:sp>
        <p:nvSpPr>
          <p:cNvPr id="17" name="Text 12"/>
          <p:cNvSpPr txBox="1"/>
          <p:nvPr/>
        </p:nvSpPr>
        <p:spPr>
          <a:xfrm>
            <a:off x="822960" y="4526280"/>
            <a:ext cx="4861408" cy="1097280"/>
          </a:xfrm>
          <a:prstGeom prst="rect">
            <a:avLst/>
          </a:prstGeom>
          <a:noFill/>
          <a:ln/>
        </p:spPr>
        <p:txBody>
          <a:bodyPr wrap="square" lIns="0" tIns="0" rIns="0" bIns="0" rtlCol="0" anchor="t"/>
          <a:lstStyle/>
          <a:p>
            <a:pPr indent="0" marL="0">
              <a:buNone/>
            </a:pPr>
            <a:r>
              <a:rPr lang="en-US" sz="1500" dirty="0">
                <a:solidFill>
                  <a:srgbClr val="475569"/>
                </a:solidFill>
                <a:latin typeface="Calibri" pitchFamily="34" charset="0"/>
                <a:ea typeface="Calibri" pitchFamily="34" charset="-122"/>
                <a:cs typeface="Calibri" pitchFamily="34" charset="-120"/>
              </a:rPr>
              <a:t>jieba splits “學分學程可以抵免” and “各學分學程間可互相抵免” differently. Character bigrams match regardless of segmentation.</a:t>
            </a:r>
            <a:endParaRPr lang="en-US" sz="1500" dirty="0"/>
          </a:p>
        </p:txBody>
      </p:sp>
      <p:sp>
        <p:nvSpPr>
          <p:cNvPr id="18" name="Shape 13"/>
          <p:cNvSpPr/>
          <p:nvPr/>
        </p:nvSpPr>
        <p:spPr>
          <a:xfrm>
            <a:off x="6233008" y="3611880"/>
            <a:ext cx="5410048" cy="2103120"/>
          </a:xfrm>
          <a:prstGeom prst="roundRect">
            <a:avLst>
              <a:gd name="adj" fmla="val 4348"/>
            </a:avLst>
          </a:prstGeom>
          <a:solidFill>
            <a:srgbClr val="F8FAFC"/>
          </a:solidFill>
          <a:ln w="9525">
            <a:solidFill>
              <a:srgbClr val="E2E8F0"/>
            </a:solidFill>
            <a:prstDash val="solid"/>
          </a:ln>
        </p:spPr>
      </p:sp>
      <p:sp>
        <p:nvSpPr>
          <p:cNvPr id="19" name="Shape 14"/>
          <p:cNvSpPr/>
          <p:nvPr/>
        </p:nvSpPr>
        <p:spPr>
          <a:xfrm>
            <a:off x="6507328" y="3886200"/>
            <a:ext cx="457200" cy="457200"/>
          </a:xfrm>
          <a:prstGeom prst="ellipse">
            <a:avLst/>
          </a:prstGeom>
          <a:solidFill>
            <a:srgbClr val="059669"/>
          </a:solidFill>
          <a:ln/>
        </p:spPr>
      </p:sp>
      <p:pic>
        <p:nvPicPr>
          <p:cNvPr id="20" name="Image 3" descr="preencoded.png">    </p:cNvPr>
          <p:cNvPicPr>
            <a:picLocks noChangeAspect="1"/>
          </p:cNvPicPr>
          <p:nvPr/>
        </p:nvPicPr>
        <p:blipFill>
          <a:blip r:embed="rId4"/>
          <a:stretch>
            <a:fillRect/>
          </a:stretch>
        </p:blipFill>
        <p:spPr>
          <a:xfrm>
            <a:off x="6617056" y="3995928"/>
            <a:ext cx="237744" cy="237744"/>
          </a:xfrm>
          <a:prstGeom prst="rect">
            <a:avLst/>
          </a:prstGeom>
        </p:spPr>
      </p:pic>
      <p:sp>
        <p:nvSpPr>
          <p:cNvPr id="21" name="Text 15"/>
          <p:cNvSpPr txBox="1"/>
          <p:nvPr/>
        </p:nvSpPr>
        <p:spPr>
          <a:xfrm>
            <a:off x="7147408" y="3886200"/>
            <a:ext cx="4221328" cy="45720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Heading-aware chunks</a:t>
            </a:r>
            <a:endParaRPr lang="en-US" sz="1900" dirty="0"/>
          </a:p>
        </p:txBody>
      </p:sp>
      <p:sp>
        <p:nvSpPr>
          <p:cNvPr id="22" name="Text 16"/>
          <p:cNvSpPr txBox="1"/>
          <p:nvPr/>
        </p:nvSpPr>
        <p:spPr>
          <a:xfrm>
            <a:off x="6507328" y="4526280"/>
            <a:ext cx="4861408" cy="1097280"/>
          </a:xfrm>
          <a:prstGeom prst="rect">
            <a:avLst/>
          </a:prstGeom>
          <a:noFill/>
          <a:ln/>
        </p:spPr>
        <p:txBody>
          <a:bodyPr wrap="square" lIns="0" tIns="0" rIns="0" bIns="0" rtlCol="0" anchor="t"/>
          <a:lstStyle/>
          <a:p>
            <a:pPr indent="0" marL="0">
              <a:buNone/>
            </a:pPr>
            <a:r>
              <a:rPr lang="en-US" sz="1500" dirty="0">
                <a:solidFill>
                  <a:srgbClr val="475569"/>
                </a:solidFill>
                <a:latin typeface="Calibri" pitchFamily="34" charset="0"/>
                <a:ea typeface="Calibri" pitchFamily="34" charset="-122"/>
                <a:cs typeface="Calibri" pitchFamily="34" charset="-120"/>
              </a:rPr>
              <a:t>500 characters with 80 overlap, cut at sentence ends. Each chunk carries “Title &gt; Heading”, so a fragment keeps its context.</a:t>
            </a:r>
            <a:endParaRPr lang="en-US" sz="1500" dirty="0"/>
          </a:p>
        </p:txBody>
      </p:sp>
      <p:sp>
        <p:nvSpPr>
          <p:cNvPr id="23" name="Text 17"/>
          <p:cNvSpPr txBox="1"/>
          <p:nvPr/>
        </p:nvSpPr>
        <p:spPr>
          <a:xfrm>
            <a:off x="548640" y="5943600"/>
            <a:ext cx="11094415" cy="32004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47 pages · 373 chunks · top 12 dense + top 12 lexical → 5 passages · optional cross-encoder rerank (off)</a:t>
            </a:r>
            <a:endParaRPr lang="en-US" sz="1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Memory: three tiers, three lifetimes</a:t>
            </a:r>
            <a:endParaRPr lang="en-US" sz="3000" dirty="0"/>
          </a:p>
        </p:txBody>
      </p:sp>
      <p:sp>
        <p:nvSpPr>
          <p:cNvPr id="3" name="Shape 1"/>
          <p:cNvSpPr/>
          <p:nvPr/>
        </p:nvSpPr>
        <p:spPr>
          <a:xfrm>
            <a:off x="548640" y="1325880"/>
            <a:ext cx="3515258" cy="2788920"/>
          </a:xfrm>
          <a:prstGeom prst="roundRect">
            <a:avLst>
              <a:gd name="adj" fmla="val 3279"/>
            </a:avLst>
          </a:prstGeom>
          <a:solidFill>
            <a:srgbClr val="F8FAFC"/>
          </a:solidFill>
          <a:ln w="9525">
            <a:solidFill>
              <a:srgbClr val="E2E8F0"/>
            </a:solidFill>
            <a:prstDash val="solid"/>
          </a:ln>
        </p:spPr>
      </p:sp>
      <p:sp>
        <p:nvSpPr>
          <p:cNvPr id="4" name="Text 2"/>
          <p:cNvSpPr txBox="1"/>
          <p:nvPr/>
        </p:nvSpPr>
        <p:spPr>
          <a:xfrm>
            <a:off x="822960" y="1581912"/>
            <a:ext cx="2966618" cy="274320"/>
          </a:xfrm>
          <a:prstGeom prst="rect">
            <a:avLst/>
          </a:prstGeom>
          <a:noFill/>
          <a:ln/>
        </p:spPr>
        <p:txBody>
          <a:bodyPr wrap="square" lIns="0" tIns="0" rIns="0" bIns="0" rtlCol="0" anchor="t"/>
          <a:lstStyle/>
          <a:p>
            <a:pPr indent="0" marL="0">
              <a:buNone/>
            </a:pPr>
            <a:r>
              <a:rPr lang="en-US" sz="1200" b="1" spc="150" kern="0" dirty="0">
                <a:solidFill>
                  <a:srgbClr val="2563EB"/>
                </a:solidFill>
                <a:latin typeface="Calibri" pitchFamily="34" charset="0"/>
                <a:ea typeface="Calibri" pitchFamily="34" charset="-122"/>
                <a:cs typeface="Calibri" pitchFamily="34" charset="-120"/>
              </a:rPr>
              <a:t>SHORT-TERM</a:t>
            </a:r>
            <a:endParaRPr lang="en-US" sz="1200" dirty="0"/>
          </a:p>
        </p:txBody>
      </p:sp>
      <p:sp>
        <p:nvSpPr>
          <p:cNvPr id="5" name="Text 3"/>
          <p:cNvSpPr txBox="1"/>
          <p:nvPr/>
        </p:nvSpPr>
        <p:spPr>
          <a:xfrm>
            <a:off x="822960" y="1920240"/>
            <a:ext cx="2966618" cy="457200"/>
          </a:xfrm>
          <a:prstGeom prst="rect">
            <a:avLst/>
          </a:prstGeom>
          <a:noFill/>
          <a:ln/>
        </p:spPr>
        <p:txBody>
          <a:bodyPr wrap="square" lIns="0" tIns="0" rIns="0" bIns="0" rtlCol="0" anchor="t"/>
          <a:lstStyle/>
          <a:p>
            <a:pPr indent="0" marL="0">
              <a:buNone/>
            </a:pPr>
            <a:r>
              <a:rPr lang="en-US" sz="1900" b="1" dirty="0">
                <a:solidFill>
                  <a:srgbClr val="0F172A"/>
                </a:solidFill>
                <a:latin typeface="Calibri" pitchFamily="34" charset="0"/>
                <a:ea typeface="Calibri" pitchFamily="34" charset="-122"/>
                <a:cs typeface="Calibri" pitchFamily="34" charset="-120"/>
              </a:rPr>
              <a:t>Recent turns</a:t>
            </a:r>
            <a:endParaRPr lang="en-US" sz="1900" dirty="0"/>
          </a:p>
        </p:txBody>
      </p:sp>
      <p:sp>
        <p:nvSpPr>
          <p:cNvPr id="6" name="Text 4"/>
          <p:cNvSpPr txBox="1"/>
          <p:nvPr/>
        </p:nvSpPr>
        <p:spPr>
          <a:xfrm>
            <a:off x="822960" y="2423160"/>
            <a:ext cx="2966618" cy="320040"/>
          </a:xfrm>
          <a:prstGeom prst="rect">
            <a:avLst/>
          </a:prstGeom>
          <a:noFill/>
          <a:ln/>
        </p:spPr>
        <p:txBody>
          <a:bodyPr wrap="square" lIns="0" tIns="0" rIns="0" bIns="0" rtlCol="0" anchor="t"/>
          <a:lstStyle/>
          <a:p>
            <a:pPr indent="0" marL="0">
              <a:buNone/>
            </a:pPr>
            <a:r>
              <a:rPr lang="en-US" sz="1200" dirty="0">
                <a:solidFill>
                  <a:srgbClr val="1D4ED8"/>
                </a:solidFill>
                <a:latin typeface="Courier New" pitchFamily="34" charset="0"/>
                <a:ea typeface="Courier New" pitchFamily="34" charset="-122"/>
                <a:cs typeface="Courier New" pitchFamily="34" charset="-120"/>
              </a:rPr>
              <a:t>last 6 exchanges</a:t>
            </a:r>
            <a:endParaRPr lang="en-US" sz="1200" dirty="0"/>
          </a:p>
        </p:txBody>
      </p:sp>
      <p:sp>
        <p:nvSpPr>
          <p:cNvPr id="7" name="Text 5"/>
          <p:cNvSpPr txBox="1"/>
          <p:nvPr/>
        </p:nvSpPr>
        <p:spPr>
          <a:xfrm>
            <a:off x="822960" y="2834640"/>
            <a:ext cx="2966618" cy="114300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Goes into every prompt, so the model sees the thread without the whole history.</a:t>
            </a:r>
            <a:endParaRPr lang="en-US" sz="1300" dirty="0"/>
          </a:p>
        </p:txBody>
      </p:sp>
      <p:sp>
        <p:nvSpPr>
          <p:cNvPr id="8" name="Shape 6"/>
          <p:cNvSpPr/>
          <p:nvPr/>
        </p:nvSpPr>
        <p:spPr>
          <a:xfrm>
            <a:off x="4338218" y="1325880"/>
            <a:ext cx="3515258" cy="2788920"/>
          </a:xfrm>
          <a:prstGeom prst="roundRect">
            <a:avLst>
              <a:gd name="adj" fmla="val 3279"/>
            </a:avLst>
          </a:prstGeom>
          <a:solidFill>
            <a:srgbClr val="F8FAFC"/>
          </a:solidFill>
          <a:ln w="9525">
            <a:solidFill>
              <a:srgbClr val="E2E8F0"/>
            </a:solidFill>
            <a:prstDash val="solid"/>
          </a:ln>
        </p:spPr>
      </p:sp>
      <p:sp>
        <p:nvSpPr>
          <p:cNvPr id="9" name="Text 7"/>
          <p:cNvSpPr txBox="1"/>
          <p:nvPr/>
        </p:nvSpPr>
        <p:spPr>
          <a:xfrm>
            <a:off x="4612538" y="1581912"/>
            <a:ext cx="2966618" cy="274320"/>
          </a:xfrm>
          <a:prstGeom prst="rect">
            <a:avLst/>
          </a:prstGeom>
          <a:noFill/>
          <a:ln/>
        </p:spPr>
        <p:txBody>
          <a:bodyPr wrap="square" lIns="0" tIns="0" rIns="0" bIns="0" rtlCol="0" anchor="t"/>
          <a:lstStyle/>
          <a:p>
            <a:pPr indent="0" marL="0">
              <a:buNone/>
            </a:pPr>
            <a:r>
              <a:rPr lang="en-US" sz="1200" b="1" spc="150" kern="0" dirty="0">
                <a:solidFill>
                  <a:srgbClr val="2563EB"/>
                </a:solidFill>
                <a:latin typeface="Calibri" pitchFamily="34" charset="0"/>
                <a:ea typeface="Calibri" pitchFamily="34" charset="-122"/>
                <a:cs typeface="Calibri" pitchFamily="34" charset="-120"/>
              </a:rPr>
              <a:t>WORKING</a:t>
            </a:r>
            <a:endParaRPr lang="en-US" sz="1200" dirty="0"/>
          </a:p>
        </p:txBody>
      </p:sp>
      <p:sp>
        <p:nvSpPr>
          <p:cNvPr id="10" name="Text 8"/>
          <p:cNvSpPr txBox="1"/>
          <p:nvPr/>
        </p:nvSpPr>
        <p:spPr>
          <a:xfrm>
            <a:off x="4612538" y="1920240"/>
            <a:ext cx="2966618" cy="457200"/>
          </a:xfrm>
          <a:prstGeom prst="rect">
            <a:avLst/>
          </a:prstGeom>
          <a:noFill/>
          <a:ln/>
        </p:spPr>
        <p:txBody>
          <a:bodyPr wrap="square" lIns="0" tIns="0" rIns="0" bIns="0" rtlCol="0" anchor="t"/>
          <a:lstStyle/>
          <a:p>
            <a:pPr indent="0" marL="0">
              <a:buNone/>
            </a:pPr>
            <a:r>
              <a:rPr lang="en-US" sz="1900" b="1" dirty="0">
                <a:solidFill>
                  <a:srgbClr val="0F172A"/>
                </a:solidFill>
                <a:latin typeface="Calibri" pitchFamily="34" charset="0"/>
                <a:ea typeface="Calibri" pitchFamily="34" charset="-122"/>
                <a:cs typeface="Calibri" pitchFamily="34" charset="-120"/>
              </a:rPr>
              <a:t>Topic &amp; entities</a:t>
            </a:r>
            <a:endParaRPr lang="en-US" sz="1900" dirty="0"/>
          </a:p>
        </p:txBody>
      </p:sp>
      <p:sp>
        <p:nvSpPr>
          <p:cNvPr id="11" name="Text 9"/>
          <p:cNvSpPr txBox="1"/>
          <p:nvPr/>
        </p:nvSpPr>
        <p:spPr>
          <a:xfrm>
            <a:off x="4612538" y="2423160"/>
            <a:ext cx="2966618" cy="320040"/>
          </a:xfrm>
          <a:prstGeom prst="rect">
            <a:avLst/>
          </a:prstGeom>
          <a:noFill/>
          <a:ln/>
        </p:spPr>
        <p:txBody>
          <a:bodyPr wrap="square" lIns="0" tIns="0" rIns="0" bIns="0" rtlCol="0" anchor="t"/>
          <a:lstStyle/>
          <a:p>
            <a:pPr indent="0" marL="0">
              <a:buNone/>
            </a:pPr>
            <a:r>
              <a:rPr lang="en-US" sz="1200" dirty="0">
                <a:solidFill>
                  <a:srgbClr val="1D4ED8"/>
                </a:solidFill>
                <a:latin typeface="Courier New" pitchFamily="34" charset="0"/>
                <a:ea typeface="Courier New" pitchFamily="34" charset="-122"/>
                <a:cs typeface="Courier New" pitchFamily="34" charset="-120"/>
              </a:rPr>
              <a:t>last topic + ≤12 entities</a:t>
            </a:r>
            <a:endParaRPr lang="en-US" sz="1200" dirty="0"/>
          </a:p>
        </p:txBody>
      </p:sp>
      <p:sp>
        <p:nvSpPr>
          <p:cNvPr id="12" name="Text 10"/>
          <p:cNvSpPr txBox="1"/>
          <p:nvPr/>
        </p:nvSpPr>
        <p:spPr>
          <a:xfrm>
            <a:off x="4612538" y="2834640"/>
            <a:ext cx="2966618" cy="114300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What makes “那個學程呢？” answerable — the retrieval agent splices it into the query.</a:t>
            </a:r>
            <a:endParaRPr lang="en-US" sz="1300" dirty="0"/>
          </a:p>
        </p:txBody>
      </p:sp>
      <p:sp>
        <p:nvSpPr>
          <p:cNvPr id="13" name="Shape 11"/>
          <p:cNvSpPr/>
          <p:nvPr/>
        </p:nvSpPr>
        <p:spPr>
          <a:xfrm>
            <a:off x="8127797" y="1325880"/>
            <a:ext cx="3515258" cy="2788920"/>
          </a:xfrm>
          <a:prstGeom prst="roundRect">
            <a:avLst>
              <a:gd name="adj" fmla="val 3279"/>
            </a:avLst>
          </a:prstGeom>
          <a:solidFill>
            <a:srgbClr val="F8FAFC"/>
          </a:solidFill>
          <a:ln w="9525">
            <a:solidFill>
              <a:srgbClr val="E2E8F0"/>
            </a:solidFill>
            <a:prstDash val="solid"/>
          </a:ln>
        </p:spPr>
      </p:sp>
      <p:sp>
        <p:nvSpPr>
          <p:cNvPr id="14" name="Text 12"/>
          <p:cNvSpPr txBox="1"/>
          <p:nvPr/>
        </p:nvSpPr>
        <p:spPr>
          <a:xfrm>
            <a:off x="8402117" y="1581912"/>
            <a:ext cx="2966618" cy="274320"/>
          </a:xfrm>
          <a:prstGeom prst="rect">
            <a:avLst/>
          </a:prstGeom>
          <a:noFill/>
          <a:ln/>
        </p:spPr>
        <p:txBody>
          <a:bodyPr wrap="square" lIns="0" tIns="0" rIns="0" bIns="0" rtlCol="0" anchor="t"/>
          <a:lstStyle/>
          <a:p>
            <a:pPr indent="0" marL="0">
              <a:buNone/>
            </a:pPr>
            <a:r>
              <a:rPr lang="en-US" sz="1200" b="1" spc="150" kern="0" dirty="0">
                <a:solidFill>
                  <a:srgbClr val="2563EB"/>
                </a:solidFill>
                <a:latin typeface="Calibri" pitchFamily="34" charset="0"/>
                <a:ea typeface="Calibri" pitchFamily="34" charset="-122"/>
                <a:cs typeface="Calibri" pitchFamily="34" charset="-120"/>
              </a:rPr>
              <a:t>LONG-TERM</a:t>
            </a:r>
            <a:endParaRPr lang="en-US" sz="1200" dirty="0"/>
          </a:p>
        </p:txBody>
      </p:sp>
      <p:sp>
        <p:nvSpPr>
          <p:cNvPr id="15" name="Text 13"/>
          <p:cNvSpPr txBox="1"/>
          <p:nvPr/>
        </p:nvSpPr>
        <p:spPr>
          <a:xfrm>
            <a:off x="8402117" y="1920240"/>
            <a:ext cx="2966618" cy="457200"/>
          </a:xfrm>
          <a:prstGeom prst="rect">
            <a:avLst/>
          </a:prstGeom>
          <a:noFill/>
          <a:ln/>
        </p:spPr>
        <p:txBody>
          <a:bodyPr wrap="square" lIns="0" tIns="0" rIns="0" bIns="0" rtlCol="0" anchor="t"/>
          <a:lstStyle/>
          <a:p>
            <a:pPr indent="0" marL="0">
              <a:buNone/>
            </a:pPr>
            <a:r>
              <a:rPr lang="en-US" sz="1900" b="1" dirty="0">
                <a:solidFill>
                  <a:srgbClr val="0F172A"/>
                </a:solidFill>
                <a:latin typeface="Calibri" pitchFamily="34" charset="0"/>
                <a:ea typeface="Calibri" pitchFamily="34" charset="-122"/>
                <a:cs typeface="Calibri" pitchFamily="34" charset="-120"/>
              </a:rPr>
              <a:t>Rolling summary</a:t>
            </a:r>
            <a:endParaRPr lang="en-US" sz="1900" dirty="0"/>
          </a:p>
        </p:txBody>
      </p:sp>
      <p:sp>
        <p:nvSpPr>
          <p:cNvPr id="16" name="Text 14"/>
          <p:cNvSpPr txBox="1"/>
          <p:nvPr/>
        </p:nvSpPr>
        <p:spPr>
          <a:xfrm>
            <a:off x="8402117" y="2423160"/>
            <a:ext cx="2966618" cy="320040"/>
          </a:xfrm>
          <a:prstGeom prst="rect">
            <a:avLst/>
          </a:prstGeom>
          <a:noFill/>
          <a:ln/>
        </p:spPr>
        <p:txBody>
          <a:bodyPr wrap="square" lIns="0" tIns="0" rIns="0" bIns="0" rtlCol="0" anchor="t"/>
          <a:lstStyle/>
          <a:p>
            <a:pPr indent="0" marL="0">
              <a:buNone/>
            </a:pPr>
            <a:r>
              <a:rPr lang="en-US" sz="1200" dirty="0">
                <a:solidFill>
                  <a:srgbClr val="1D4ED8"/>
                </a:solidFill>
                <a:latin typeface="Courier New" pitchFamily="34" charset="0"/>
                <a:ea typeface="Courier New" pitchFamily="34" charset="-122"/>
                <a:cs typeface="Courier New" pitchFamily="34" charset="-120"/>
              </a:rPr>
              <a:t>every 8 exchanges</a:t>
            </a:r>
            <a:endParaRPr lang="en-US" sz="1200" dirty="0"/>
          </a:p>
        </p:txBody>
      </p:sp>
      <p:sp>
        <p:nvSpPr>
          <p:cNvPr id="17" name="Text 15"/>
          <p:cNvSpPr txBox="1"/>
          <p:nvPr/>
        </p:nvSpPr>
        <p:spPr>
          <a:xfrm>
            <a:off x="8402117" y="2834640"/>
            <a:ext cx="2966618" cy="114300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The summary subagent folds older turns in, so prompt size stays flat as a chat grows.</a:t>
            </a:r>
            <a:endParaRPr lang="en-US" sz="1300" dirty="0"/>
          </a:p>
        </p:txBody>
      </p:sp>
      <p:sp>
        <p:nvSpPr>
          <p:cNvPr id="18" name="Shape 16"/>
          <p:cNvSpPr/>
          <p:nvPr/>
        </p:nvSpPr>
        <p:spPr>
          <a:xfrm>
            <a:off x="548640" y="4389120"/>
            <a:ext cx="11094415" cy="1005840"/>
          </a:xfrm>
          <a:prstGeom prst="roundRect">
            <a:avLst>
              <a:gd name="adj" fmla="val 9091"/>
            </a:avLst>
          </a:prstGeom>
          <a:solidFill>
            <a:srgbClr val="EFF6FF"/>
          </a:solidFill>
          <a:ln w="9525">
            <a:solidFill>
              <a:srgbClr val="BFDBFE"/>
            </a:solidFill>
            <a:prstDash val="solid"/>
          </a:ln>
        </p:spPr>
      </p:sp>
      <p:sp>
        <p:nvSpPr>
          <p:cNvPr id="19" name="Text 17"/>
          <p:cNvSpPr txBox="1"/>
          <p:nvPr/>
        </p:nvSpPr>
        <p:spPr>
          <a:xfrm>
            <a:off x="822960" y="4526280"/>
            <a:ext cx="3657600" cy="274320"/>
          </a:xfrm>
          <a:prstGeom prst="rect">
            <a:avLst/>
          </a:prstGeom>
          <a:noFill/>
          <a:ln/>
        </p:spPr>
        <p:txBody>
          <a:bodyPr wrap="square" lIns="0" tIns="0" rIns="0" bIns="0" rtlCol="0" anchor="t"/>
          <a:lstStyle/>
          <a:p>
            <a:pPr indent="0" marL="0">
              <a:buNone/>
            </a:pPr>
            <a:r>
              <a:rPr lang="en-US" sz="1100" b="1" spc="150" kern="0" dirty="0">
                <a:solidFill>
                  <a:srgbClr val="2563EB"/>
                </a:solidFill>
                <a:latin typeface="Calibri" pitchFamily="34" charset="0"/>
                <a:ea typeface="Calibri" pitchFamily="34" charset="-122"/>
                <a:cs typeface="Calibri" pitchFamily="34" charset="-120"/>
              </a:rPr>
              <a:t>FOLLOW-UP, RESOLVED</a:t>
            </a:r>
            <a:endParaRPr lang="en-US" sz="1100" dirty="0"/>
          </a:p>
        </p:txBody>
      </p:sp>
      <p:sp>
        <p:nvSpPr>
          <p:cNvPr id="20" name="Text 18"/>
          <p:cNvSpPr txBox="1"/>
          <p:nvPr/>
        </p:nvSpPr>
        <p:spPr>
          <a:xfrm>
            <a:off x="822960" y="4818888"/>
            <a:ext cx="10545775" cy="4572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「那個學程要修幾學分？」</a:t>
            </a:r>
            <a:pPr indent="0" marL="0">
              <a:buNone/>
            </a:pPr>
            <a:r>
              <a:rPr lang="en-US" sz="1500" dirty="0">
                <a:solidFill>
                  <a:srgbClr val="475569"/>
                </a:solidFill>
                <a:latin typeface="Calibri" pitchFamily="34" charset="0"/>
                <a:ea typeface="Calibri" pitchFamily="34" charset="-122"/>
                <a:cs typeface="Calibri" pitchFamily="34" charset="-120"/>
              </a:rPr>
              <a:t>   alone retrieves nothing   →   with working memory   →   </a:t>
            </a:r>
            <a:pPr indent="0" marL="0">
              <a:buNone/>
            </a:pPr>
            <a:r>
              <a:rPr lang="en-US" sz="1500" b="1" dirty="0">
                <a:solidFill>
                  <a:srgbClr val="0F172A"/>
                </a:solidFill>
                <a:latin typeface="Calibri" pitchFamily="34" charset="0"/>
                <a:ea typeface="Calibri" pitchFamily="34" charset="-122"/>
                <a:cs typeface="Calibri" pitchFamily="34" charset="-120"/>
              </a:rPr>
              <a:t>「人工智慧視覺技術學分學程 學分」</a:t>
            </a:r>
            <a:endParaRPr lang="en-US" sz="1500" dirty="0"/>
          </a:p>
        </p:txBody>
      </p:sp>
      <p:sp>
        <p:nvSpPr>
          <p:cNvPr id="21" name="Text 19"/>
          <p:cNvSpPr txBox="1"/>
          <p:nvPr/>
        </p:nvSpPr>
        <p:spPr>
          <a:xfrm>
            <a:off x="548640" y="5577840"/>
            <a:ext cx="11094415" cy="59436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Persistence: each session is a JSON file (up to 200 turns, titled by its first question) — what the sidebar lists and reopens. The turn is saved before summarising, so a failed summary can never lose an answer.</a:t>
            </a:r>
            <a:endParaRPr lang="en-US" sz="13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Refusal is a feature, and it is calibrated</a:t>
            </a:r>
            <a:endParaRPr lang="en-US" sz="3000" dirty="0"/>
          </a:p>
        </p:txBody>
      </p:sp>
      <p:graphicFrame>
        <p:nvGraphicFramePr>
          <p:cNvPr id="3" name="Chart 0" descr=""/>
          <p:cNvGraphicFramePr/>
          <p:nvPr/>
        </p:nvGraphicFramePr>
        <p:xfrm>
          <a:off x="548640" y="1325880"/>
          <a:ext cx="6812280" cy="44348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806440"/>
            <a:ext cx="6812280" cy="50292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Each bar is one calibration question — 6 off-topic, 12 answerable — sorted by confidence. Scale: 0.75 at the bottom to 1.00 at the top, gridlines every 0.05; dashed line = MIN_SCORE 0.854.</a:t>
            </a:r>
            <a:endParaRPr lang="en-US" sz="1100" dirty="0"/>
          </a:p>
        </p:txBody>
      </p:sp>
      <p:sp>
        <p:nvSpPr>
          <p:cNvPr id="5" name="Text 2"/>
          <p:cNvSpPr txBox="1"/>
          <p:nvPr/>
        </p:nvSpPr>
        <p:spPr>
          <a:xfrm>
            <a:off x="7635240" y="1371600"/>
            <a:ext cx="4007815" cy="411480"/>
          </a:xfrm>
          <a:prstGeom prst="rect">
            <a:avLst/>
          </a:prstGeom>
          <a:noFill/>
          <a:ln/>
        </p:spPr>
        <p:txBody>
          <a:bodyPr wrap="square" lIns="0" tIns="0" rIns="0" bIns="0" rtlCol="0" anchor="t"/>
          <a:lstStyle/>
          <a:p>
            <a:pPr indent="0" marL="0">
              <a:buNone/>
            </a:pPr>
            <a:r>
              <a:rPr lang="en-US" sz="1900" b="1" dirty="0">
                <a:solidFill>
                  <a:srgbClr val="0F172A"/>
                </a:solidFill>
                <a:latin typeface="Calibri" pitchFamily="34" charset="0"/>
                <a:ea typeface="Calibri" pitchFamily="34" charset="-122"/>
                <a:cs typeface="Calibri" pitchFamily="34" charset="-120"/>
              </a:rPr>
              <a:t>Refusal happens in control flow</a:t>
            </a:r>
            <a:endParaRPr lang="en-US" sz="1900" dirty="0"/>
          </a:p>
        </p:txBody>
      </p:sp>
      <p:sp>
        <p:nvSpPr>
          <p:cNvPr id="6" name="Text 3"/>
          <p:cNvSpPr txBox="1"/>
          <p:nvPr/>
        </p:nvSpPr>
        <p:spPr>
          <a:xfrm>
            <a:off x="7635240" y="1828800"/>
            <a:ext cx="4007815" cy="10058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If the best passage scores below MIN_SCORE, the answer agent declines before generation. A model handed weak context still writes a confident paragraph.</a:t>
            </a:r>
            <a:endParaRPr lang="en-US" sz="1300" dirty="0"/>
          </a:p>
        </p:txBody>
      </p:sp>
      <p:sp>
        <p:nvSpPr>
          <p:cNvPr id="7" name="Text 4"/>
          <p:cNvSpPr txBox="1"/>
          <p:nvPr/>
        </p:nvSpPr>
        <p:spPr>
          <a:xfrm>
            <a:off x="7635240" y="2880360"/>
            <a:ext cx="4007815" cy="640080"/>
          </a:xfrm>
          <a:prstGeom prst="rect">
            <a:avLst/>
          </a:prstGeom>
          <a:noFill/>
          <a:ln/>
        </p:spPr>
        <p:txBody>
          <a:bodyPr wrap="square" lIns="0" tIns="0" rIns="0" bIns="0" rtlCol="0" anchor="t"/>
          <a:lstStyle/>
          <a:p>
            <a:pPr indent="0" marL="0">
              <a:buNone/>
            </a:pPr>
            <a:r>
              <a:rPr lang="en-US" sz="4000" b="1" dirty="0">
                <a:solidFill>
                  <a:srgbClr val="0F172A"/>
                </a:solidFill>
                <a:latin typeface="Arial" pitchFamily="34" charset="0"/>
                <a:ea typeface="Arial" pitchFamily="34" charset="-122"/>
                <a:cs typeface="Arial" pitchFamily="34" charset="-120"/>
              </a:rPr>
              <a:t>0.854</a:t>
            </a:r>
            <a:endParaRPr lang="en-US" sz="4000" dirty="0"/>
          </a:p>
        </p:txBody>
      </p:sp>
      <p:sp>
        <p:nvSpPr>
          <p:cNvPr id="8" name="Text 5"/>
          <p:cNvSpPr txBox="1"/>
          <p:nvPr/>
        </p:nvSpPr>
        <p:spPr>
          <a:xfrm>
            <a:off x="7635240" y="3520440"/>
            <a:ext cx="4007815" cy="32004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threshold: lowest answerable 0.863, highest off-topic 0.844</a:t>
            </a:r>
            <a:endParaRPr lang="en-US" sz="1200" dirty="0"/>
          </a:p>
        </p:txBody>
      </p:sp>
      <p:sp>
        <p:nvSpPr>
          <p:cNvPr id="9" name="Text 6"/>
          <p:cNvSpPr txBox="1"/>
          <p:nvPr/>
        </p:nvSpPr>
        <p:spPr>
          <a:xfrm>
            <a:off x="7635240" y="3977640"/>
            <a:ext cx="4007815" cy="7315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Margin 0.019 — clean, but thin: e5-small scores even unrelated text at 0.75–0.85.</a:t>
            </a:r>
            <a:endParaRPr lang="en-US" sz="1300" dirty="0"/>
          </a:p>
        </p:txBody>
      </p:sp>
      <p:sp>
        <p:nvSpPr>
          <p:cNvPr id="10" name="Shape 7"/>
          <p:cNvSpPr/>
          <p:nvPr/>
        </p:nvSpPr>
        <p:spPr>
          <a:xfrm>
            <a:off x="7635240" y="4892040"/>
            <a:ext cx="4007815" cy="896112"/>
          </a:xfrm>
          <a:prstGeom prst="roundRect">
            <a:avLst>
              <a:gd name="adj" fmla="val 10204"/>
            </a:avLst>
          </a:prstGeom>
          <a:solidFill>
            <a:srgbClr val="FEF2F2"/>
          </a:solidFill>
          <a:ln w="9525">
            <a:solidFill>
              <a:srgbClr val="FECACA"/>
            </a:solidFill>
            <a:prstDash val="solid"/>
          </a:ln>
        </p:spPr>
      </p:sp>
      <p:sp>
        <p:nvSpPr>
          <p:cNvPr id="11" name="Text 8"/>
          <p:cNvSpPr txBox="1"/>
          <p:nvPr/>
        </p:nvSpPr>
        <p:spPr>
          <a:xfrm>
            <a:off x="7818120" y="5001768"/>
            <a:ext cx="3642055" cy="73152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Found by calibration, not by tests: </a:t>
            </a:r>
            <a:pPr indent="0" marL="0">
              <a:buNone/>
            </a:pPr>
            <a:r>
              <a:rPr lang="en-US" sz="1250" dirty="0">
                <a:solidFill>
                  <a:srgbClr val="0F172A"/>
                </a:solidFill>
                <a:latin typeface="Calibri" pitchFamily="34" charset="0"/>
                <a:ea typeface="Calibri" pitchFamily="34" charset="-122"/>
                <a:cs typeface="Calibri" pitchFamily="34" charset="-120"/>
              </a:rPr>
              <a:t>the threshold sat at 0.35 while every query scored above 0.83. The gate could never fire.</a:t>
            </a:r>
            <a:endParaRPr lang="en-US" sz="125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The crawler was feeding the index noise</a:t>
            </a:r>
            <a:endParaRPr lang="en-US" sz="3000" dirty="0"/>
          </a:p>
        </p:txBody>
      </p:sp>
      <p:sp>
        <p:nvSpPr>
          <p:cNvPr id="3" name="Text 1"/>
          <p:cNvSpPr txBox="1"/>
          <p:nvPr/>
        </p:nvSpPr>
        <p:spPr>
          <a:xfrm>
            <a:off x="548640" y="1097280"/>
            <a:ext cx="11094415" cy="365760"/>
          </a:xfrm>
          <a:prstGeom prst="rect">
            <a:avLst/>
          </a:prstGeom>
          <a:noFill/>
          <a:ln/>
        </p:spPr>
        <p:txBody>
          <a:bodyPr wrap="square" lIns="0" tIns="0" rIns="0" bIns="0" rtlCol="0" anchor="t"/>
          <a:lstStyle/>
          <a:p>
            <a:pPr indent="0" marL="0">
              <a:buNone/>
            </a:pPr>
            <a:r>
              <a:rPr lang="en-US" sz="1500" dirty="0">
                <a:solidFill>
                  <a:srgbClr val="475569"/>
                </a:solidFill>
                <a:latin typeface="Calibri" pitchFamily="34" charset="0"/>
                <a:ea typeface="Calibri" pitchFamily="34" charset="-122"/>
                <a:cs typeface="Calibri" pitchFamily="34" charset="-120"/>
              </a:rPr>
              <a:t>The BFS traversal was sound — 62 pages fetched, none left queued. The extraction was not.</a:t>
            </a:r>
            <a:endParaRPr lang="en-US" sz="1500" dirty="0"/>
          </a:p>
        </p:txBody>
      </p:sp>
      <p:sp>
        <p:nvSpPr>
          <p:cNvPr id="4" name="Shape 2"/>
          <p:cNvSpPr/>
          <p:nvPr/>
        </p:nvSpPr>
        <p:spPr>
          <a:xfrm>
            <a:off x="548640" y="1783080"/>
            <a:ext cx="2567864" cy="1737360"/>
          </a:xfrm>
          <a:prstGeom prst="roundRect">
            <a:avLst>
              <a:gd name="adj" fmla="val 5263"/>
            </a:avLst>
          </a:prstGeom>
          <a:solidFill>
            <a:srgbClr val="EFF6FF"/>
          </a:solidFill>
          <a:ln w="9525">
            <a:solidFill>
              <a:srgbClr val="BFDBFE"/>
            </a:solidFill>
            <a:prstDash val="solid"/>
          </a:ln>
        </p:spPr>
      </p:sp>
      <p:sp>
        <p:nvSpPr>
          <p:cNvPr id="5" name="Text 3"/>
          <p:cNvSpPr txBox="1"/>
          <p:nvPr/>
        </p:nvSpPr>
        <p:spPr>
          <a:xfrm>
            <a:off x="777240" y="2112264"/>
            <a:ext cx="2110664" cy="566928"/>
          </a:xfrm>
          <a:prstGeom prst="rect">
            <a:avLst/>
          </a:prstGeom>
          <a:noFill/>
          <a:ln/>
        </p:spPr>
        <p:txBody>
          <a:bodyPr wrap="square" lIns="0" tIns="0" rIns="0" bIns="0" rtlCol="0" anchor="t"/>
          <a:lstStyle/>
          <a:p>
            <a:pPr indent="0" marL="0">
              <a:buNone/>
            </a:pPr>
            <a:r>
              <a:rPr lang="en-US" sz="2600" b="1" dirty="0">
                <a:solidFill>
                  <a:srgbClr val="2563EB"/>
                </a:solidFill>
                <a:latin typeface="Arial" pitchFamily="34" charset="0"/>
                <a:ea typeface="Arial" pitchFamily="34" charset="-122"/>
                <a:cs typeface="Arial" pitchFamily="34" charset="-120"/>
              </a:rPr>
              <a:t>923 → 373</a:t>
            </a:r>
            <a:endParaRPr lang="en-US" sz="2600" dirty="0"/>
          </a:p>
        </p:txBody>
      </p:sp>
      <p:sp>
        <p:nvSpPr>
          <p:cNvPr id="6" name="Text 4"/>
          <p:cNvSpPr txBox="1"/>
          <p:nvPr/>
        </p:nvSpPr>
        <p:spPr>
          <a:xfrm>
            <a:off x="777240" y="2770632"/>
            <a:ext cx="2110664" cy="64008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chunks in the index — 60% was noise</a:t>
            </a:r>
            <a:endParaRPr lang="en-US" sz="1300" dirty="0"/>
          </a:p>
        </p:txBody>
      </p:sp>
      <p:sp>
        <p:nvSpPr>
          <p:cNvPr id="7" name="Shape 5"/>
          <p:cNvSpPr/>
          <p:nvPr/>
        </p:nvSpPr>
        <p:spPr>
          <a:xfrm>
            <a:off x="3390824" y="1783080"/>
            <a:ext cx="2567864" cy="1737360"/>
          </a:xfrm>
          <a:prstGeom prst="roundRect">
            <a:avLst>
              <a:gd name="adj" fmla="val 5263"/>
            </a:avLst>
          </a:prstGeom>
          <a:solidFill>
            <a:srgbClr val="EFF6FF"/>
          </a:solidFill>
          <a:ln w="9525">
            <a:solidFill>
              <a:srgbClr val="BFDBFE"/>
            </a:solidFill>
            <a:prstDash val="solid"/>
          </a:ln>
        </p:spPr>
      </p:sp>
      <p:sp>
        <p:nvSpPr>
          <p:cNvPr id="8" name="Text 6"/>
          <p:cNvSpPr txBox="1"/>
          <p:nvPr/>
        </p:nvSpPr>
        <p:spPr>
          <a:xfrm>
            <a:off x="3619424" y="2112264"/>
            <a:ext cx="2110664" cy="566928"/>
          </a:xfrm>
          <a:prstGeom prst="rect">
            <a:avLst/>
          </a:prstGeom>
          <a:noFill/>
          <a:ln/>
        </p:spPr>
        <p:txBody>
          <a:bodyPr wrap="square" lIns="0" tIns="0" rIns="0" bIns="0" rtlCol="0" anchor="t"/>
          <a:lstStyle/>
          <a:p>
            <a:pPr indent="0" marL="0">
              <a:buNone/>
            </a:pPr>
            <a:r>
              <a:rPr lang="en-US" sz="2600" b="1" dirty="0">
                <a:solidFill>
                  <a:srgbClr val="2563EB"/>
                </a:solidFill>
                <a:latin typeface="Arial" pitchFamily="34" charset="0"/>
                <a:ea typeface="Arial" pitchFamily="34" charset="-122"/>
                <a:cs typeface="Arial" pitchFamily="34" charset="-120"/>
              </a:rPr>
              <a:t>207 → 4</a:t>
            </a:r>
            <a:endParaRPr lang="en-US" sz="2600" dirty="0"/>
          </a:p>
        </p:txBody>
      </p:sp>
      <p:sp>
        <p:nvSpPr>
          <p:cNvPr id="9" name="Text 7"/>
          <p:cNvSpPr txBox="1"/>
          <p:nvPr/>
        </p:nvSpPr>
        <p:spPr>
          <a:xfrm>
            <a:off x="3619424" y="2770632"/>
            <a:ext cx="2110664" cy="64008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duplicated lines (the 4 left are real)</a:t>
            </a:r>
            <a:endParaRPr lang="en-US" sz="1300" dirty="0"/>
          </a:p>
        </p:txBody>
      </p:sp>
      <p:sp>
        <p:nvSpPr>
          <p:cNvPr id="10" name="Shape 8"/>
          <p:cNvSpPr/>
          <p:nvPr/>
        </p:nvSpPr>
        <p:spPr>
          <a:xfrm>
            <a:off x="6233008" y="1783080"/>
            <a:ext cx="2567864" cy="1737360"/>
          </a:xfrm>
          <a:prstGeom prst="roundRect">
            <a:avLst>
              <a:gd name="adj" fmla="val 5263"/>
            </a:avLst>
          </a:prstGeom>
          <a:solidFill>
            <a:srgbClr val="EFF6FF"/>
          </a:solidFill>
          <a:ln w="9525">
            <a:solidFill>
              <a:srgbClr val="BFDBFE"/>
            </a:solidFill>
            <a:prstDash val="solid"/>
          </a:ln>
        </p:spPr>
      </p:sp>
      <p:sp>
        <p:nvSpPr>
          <p:cNvPr id="11" name="Text 9"/>
          <p:cNvSpPr txBox="1"/>
          <p:nvPr/>
        </p:nvSpPr>
        <p:spPr>
          <a:xfrm>
            <a:off x="6461608" y="2112264"/>
            <a:ext cx="2110664" cy="566928"/>
          </a:xfrm>
          <a:prstGeom prst="rect">
            <a:avLst/>
          </a:prstGeom>
          <a:noFill/>
          <a:ln/>
        </p:spPr>
        <p:txBody>
          <a:bodyPr wrap="square" lIns="0" tIns="0" rIns="0" bIns="0" rtlCol="0" anchor="t"/>
          <a:lstStyle/>
          <a:p>
            <a:pPr indent="0" marL="0">
              <a:buNone/>
            </a:pPr>
            <a:r>
              <a:rPr lang="en-US" sz="2600" b="1" dirty="0">
                <a:solidFill>
                  <a:srgbClr val="2563EB"/>
                </a:solidFill>
                <a:latin typeface="Arial" pitchFamily="34" charset="0"/>
                <a:ea typeface="Arial" pitchFamily="34" charset="-122"/>
                <a:cs typeface="Arial" pitchFamily="34" charset="-120"/>
              </a:rPr>
              <a:t>61% → 46%</a:t>
            </a:r>
            <a:endParaRPr lang="en-US" sz="2600" dirty="0"/>
          </a:p>
        </p:txBody>
      </p:sp>
      <p:sp>
        <p:nvSpPr>
          <p:cNvPr id="12" name="Text 10"/>
          <p:cNvSpPr txBox="1"/>
          <p:nvPr/>
        </p:nvSpPr>
        <p:spPr>
          <a:xfrm>
            <a:off x="6461608" y="2770632"/>
            <a:ext cx="2110664" cy="64008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share of the corpus taken by one page</a:t>
            </a:r>
            <a:endParaRPr lang="en-US" sz="1300" dirty="0"/>
          </a:p>
        </p:txBody>
      </p:sp>
      <p:sp>
        <p:nvSpPr>
          <p:cNvPr id="13" name="Shape 11"/>
          <p:cNvSpPr/>
          <p:nvPr/>
        </p:nvSpPr>
        <p:spPr>
          <a:xfrm>
            <a:off x="9075191" y="1783080"/>
            <a:ext cx="2567864" cy="1737360"/>
          </a:xfrm>
          <a:prstGeom prst="roundRect">
            <a:avLst>
              <a:gd name="adj" fmla="val 5263"/>
            </a:avLst>
          </a:prstGeom>
          <a:solidFill>
            <a:srgbClr val="EFF6FF"/>
          </a:solidFill>
          <a:ln w="9525">
            <a:solidFill>
              <a:srgbClr val="BFDBFE"/>
            </a:solidFill>
            <a:prstDash val="solid"/>
          </a:ln>
        </p:spPr>
      </p:sp>
      <p:sp>
        <p:nvSpPr>
          <p:cNvPr id="14" name="Text 12"/>
          <p:cNvSpPr txBox="1"/>
          <p:nvPr/>
        </p:nvSpPr>
        <p:spPr>
          <a:xfrm>
            <a:off x="9303791" y="2112264"/>
            <a:ext cx="2110664" cy="566928"/>
          </a:xfrm>
          <a:prstGeom prst="rect">
            <a:avLst/>
          </a:prstGeom>
          <a:noFill/>
          <a:ln/>
        </p:spPr>
        <p:txBody>
          <a:bodyPr wrap="square" lIns="0" tIns="0" rIns="0" bIns="0" rtlCol="0" anchor="t"/>
          <a:lstStyle/>
          <a:p>
            <a:pPr indent="0" marL="0">
              <a:buNone/>
            </a:pPr>
            <a:r>
              <a:rPr lang="en-US" sz="2600" b="1" dirty="0">
                <a:solidFill>
                  <a:srgbClr val="2563EB"/>
                </a:solidFill>
                <a:latin typeface="Arial" pitchFamily="34" charset="0"/>
                <a:ea typeface="Arial" pitchFamily="34" charset="-122"/>
                <a:cs typeface="Arial" pitchFamily="34" charset="-120"/>
              </a:rPr>
              <a:t>0 → 168</a:t>
            </a:r>
            <a:endParaRPr lang="en-US" sz="2600" dirty="0"/>
          </a:p>
        </p:txBody>
      </p:sp>
      <p:sp>
        <p:nvSpPr>
          <p:cNvPr id="15" name="Text 13"/>
          <p:cNvSpPr txBox="1"/>
          <p:nvPr/>
        </p:nvSpPr>
        <p:spPr>
          <a:xfrm>
            <a:off x="9303791" y="2770632"/>
            <a:ext cx="2110664" cy="64008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table rows kept intact, not flattened</a:t>
            </a:r>
            <a:endParaRPr lang="en-US" sz="1300" dirty="0"/>
          </a:p>
        </p:txBody>
      </p:sp>
      <p:sp>
        <p:nvSpPr>
          <p:cNvPr id="16" name="Shape 14"/>
          <p:cNvSpPr/>
          <p:nvPr/>
        </p:nvSpPr>
        <p:spPr>
          <a:xfrm>
            <a:off x="548640" y="3794760"/>
            <a:ext cx="11094415" cy="2240280"/>
          </a:xfrm>
          <a:prstGeom prst="roundRect">
            <a:avLst>
              <a:gd name="adj" fmla="val 4082"/>
            </a:avLst>
          </a:prstGeom>
          <a:solidFill>
            <a:srgbClr val="F8FAFC"/>
          </a:solidFill>
          <a:ln w="9525">
            <a:solidFill>
              <a:srgbClr val="E2E8F0"/>
            </a:solidFill>
            <a:prstDash val="solid"/>
          </a:ln>
        </p:spPr>
      </p:sp>
      <p:sp>
        <p:nvSpPr>
          <p:cNvPr id="17" name="Text 15"/>
          <p:cNvSpPr txBox="1"/>
          <p:nvPr/>
        </p:nvSpPr>
        <p:spPr>
          <a:xfrm>
            <a:off x="868680" y="3977640"/>
            <a:ext cx="5486400" cy="36576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Three extraction bugs</a:t>
            </a:r>
            <a:endParaRPr lang="en-US" sz="1700" dirty="0"/>
          </a:p>
        </p:txBody>
      </p:sp>
      <p:sp>
        <p:nvSpPr>
          <p:cNvPr id="18" name="Shape 16"/>
          <p:cNvSpPr/>
          <p:nvPr/>
        </p:nvSpPr>
        <p:spPr>
          <a:xfrm>
            <a:off x="914400" y="4553712"/>
            <a:ext cx="128016" cy="128016"/>
          </a:xfrm>
          <a:prstGeom prst="ellipse">
            <a:avLst/>
          </a:prstGeom>
          <a:solidFill>
            <a:srgbClr val="2563EB"/>
          </a:solidFill>
          <a:ln/>
        </p:spPr>
      </p:sp>
      <p:sp>
        <p:nvSpPr>
          <p:cNvPr id="19" name="Text 17"/>
          <p:cNvSpPr txBox="1"/>
          <p:nvPr/>
        </p:nvSpPr>
        <p:spPr>
          <a:xfrm>
            <a:off x="1234440" y="4480560"/>
            <a:ext cx="10088575" cy="457200"/>
          </a:xfrm>
          <a:prstGeom prst="rect">
            <a:avLst/>
          </a:prstGeom>
          <a:noFill/>
          <a:ln/>
        </p:spPr>
        <p:txBody>
          <a:bodyPr wrap="square" lIns="0" tIns="0" rIns="0" bIns="0" rtlCol="0" anchor="t"/>
          <a:lstStyle/>
          <a:p>
            <a:pPr indent="0" marL="0">
              <a:buNone/>
            </a:pPr>
            <a:r>
              <a:rPr lang="en-US" sz="1350" b="1" dirty="0">
                <a:solidFill>
                  <a:srgbClr val="0F172A"/>
                </a:solidFill>
                <a:latin typeface="Calibri" pitchFamily="34" charset="0"/>
                <a:ea typeface="Calibri" pitchFamily="34" charset="-122"/>
                <a:cs typeface="Calibri" pitchFamily="34" charset="-120"/>
              </a:rPr>
              <a:t>Site name as prefix, not suffix. </a:t>
            </a:r>
            <a:pPr indent="0" marL="0">
              <a:buNone/>
            </a:pPr>
            <a:r>
              <a:rPr lang="en-US" sz="1350" dirty="0">
                <a:solidFill>
                  <a:srgbClr val="475569"/>
                </a:solidFill>
                <a:latin typeface="Calibri" pitchFamily="34" charset="0"/>
                <a:ea typeface="Calibri" pitchFamily="34" charset="-122"/>
                <a:cs typeface="Calibri" pitchFamily="34" charset="-120"/>
              </a:rPr>
              <a:t>The strip matched the wrong end, so all 47 titles — and all 923 chunks — opened with the site name.</a:t>
            </a:r>
            <a:endParaRPr lang="en-US" sz="1350" dirty="0"/>
          </a:p>
        </p:txBody>
      </p:sp>
      <p:sp>
        <p:nvSpPr>
          <p:cNvPr id="20" name="Shape 18"/>
          <p:cNvSpPr/>
          <p:nvPr/>
        </p:nvSpPr>
        <p:spPr>
          <a:xfrm>
            <a:off x="914400" y="5056632"/>
            <a:ext cx="128016" cy="128016"/>
          </a:xfrm>
          <a:prstGeom prst="ellipse">
            <a:avLst/>
          </a:prstGeom>
          <a:solidFill>
            <a:srgbClr val="2563EB"/>
          </a:solidFill>
          <a:ln/>
        </p:spPr>
      </p:sp>
      <p:sp>
        <p:nvSpPr>
          <p:cNvPr id="21" name="Text 19"/>
          <p:cNvSpPr txBox="1"/>
          <p:nvPr/>
        </p:nvSpPr>
        <p:spPr>
          <a:xfrm>
            <a:off x="1234440" y="4983480"/>
            <a:ext cx="10088575" cy="457200"/>
          </a:xfrm>
          <a:prstGeom prst="rect">
            <a:avLst/>
          </a:prstGeom>
          <a:noFill/>
          <a:ln/>
        </p:spPr>
        <p:txBody>
          <a:bodyPr wrap="square" lIns="0" tIns="0" rIns="0" bIns="0" rtlCol="0" anchor="t"/>
          <a:lstStyle/>
          <a:p>
            <a:pPr indent="0" marL="0">
              <a:buNone/>
            </a:pPr>
            <a:r>
              <a:rPr lang="en-US" sz="1350" b="1" dirty="0">
                <a:solidFill>
                  <a:srgbClr val="0F172A"/>
                </a:solidFill>
                <a:latin typeface="Calibri" pitchFamily="34" charset="0"/>
                <a:ea typeface="Calibri" pitchFamily="34" charset="-122"/>
                <a:cs typeface="Calibri" pitchFamily="34" charset="-120"/>
              </a:rPr>
              <a:t>find_all() is recursive. </a:t>
            </a:r>
            <a:pPr indent="0" marL="0">
              <a:buNone/>
            </a:pPr>
            <a:r>
              <a:rPr lang="en-US" sz="1350" dirty="0">
                <a:solidFill>
                  <a:srgbClr val="475569"/>
                </a:solidFill>
                <a:latin typeface="Calibri" pitchFamily="34" charset="0"/>
                <a:ea typeface="Calibri" pitchFamily="34" charset="-122"/>
                <a:cs typeface="Calibri" pitchFamily="34" charset="-120"/>
              </a:rPr>
              <a:t>A &lt;li&gt; wrapping a &lt;p&gt; emitted its text twice; each block is now emitted once, tracked by element identity.</a:t>
            </a:r>
            <a:endParaRPr lang="en-US" sz="1350" dirty="0"/>
          </a:p>
        </p:txBody>
      </p:sp>
      <p:sp>
        <p:nvSpPr>
          <p:cNvPr id="22" name="Shape 20"/>
          <p:cNvSpPr/>
          <p:nvPr/>
        </p:nvSpPr>
        <p:spPr>
          <a:xfrm>
            <a:off x="914400" y="5559552"/>
            <a:ext cx="128016" cy="128016"/>
          </a:xfrm>
          <a:prstGeom prst="ellipse">
            <a:avLst/>
          </a:prstGeom>
          <a:solidFill>
            <a:srgbClr val="2563EB"/>
          </a:solidFill>
          <a:ln/>
        </p:spPr>
      </p:sp>
      <p:sp>
        <p:nvSpPr>
          <p:cNvPr id="23" name="Text 21"/>
          <p:cNvSpPr txBox="1"/>
          <p:nvPr/>
        </p:nvSpPr>
        <p:spPr>
          <a:xfrm>
            <a:off x="1234440" y="5486400"/>
            <a:ext cx="10088575" cy="457200"/>
          </a:xfrm>
          <a:prstGeom prst="rect">
            <a:avLst/>
          </a:prstGeom>
          <a:noFill/>
          <a:ln/>
        </p:spPr>
        <p:txBody>
          <a:bodyPr wrap="square" lIns="0" tIns="0" rIns="0" bIns="0" rtlCol="0" anchor="t"/>
          <a:lstStyle/>
          <a:p>
            <a:pPr indent="0" marL="0">
              <a:buNone/>
            </a:pPr>
            <a:r>
              <a:rPr lang="en-US" sz="1350" b="1" dirty="0">
                <a:solidFill>
                  <a:srgbClr val="0F172A"/>
                </a:solidFill>
                <a:latin typeface="Calibri" pitchFamily="34" charset="0"/>
                <a:ea typeface="Calibri" pitchFamily="34" charset="-122"/>
                <a:cs typeface="Calibri" pitchFamily="34" charset="-120"/>
              </a:rPr>
              <a:t>Tables flattened per cell. </a:t>
            </a:r>
            <a:pPr indent="0" marL="0">
              <a:buNone/>
            </a:pPr>
            <a:r>
              <a:rPr lang="en-US" sz="1350" dirty="0">
                <a:solidFill>
                  <a:srgbClr val="475569"/>
                </a:solidFill>
                <a:latin typeface="Calibri" pitchFamily="34" charset="0"/>
                <a:ea typeface="Calibri" pitchFamily="34" charset="-122"/>
                <a:cs typeface="Calibri" pitchFamily="34" charset="-120"/>
              </a:rPr>
              <a:t>A credit count lost its course name; each table row is now kept as one row.</a:t>
            </a:r>
            <a:endParaRPr lang="en-US" sz="135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Three bugs the build found</a:t>
            </a:r>
            <a:endParaRPr lang="en-US" sz="3000" dirty="0"/>
          </a:p>
        </p:txBody>
      </p:sp>
      <p:sp>
        <p:nvSpPr>
          <p:cNvPr id="3" name="Shape 1"/>
          <p:cNvSpPr/>
          <p:nvPr/>
        </p:nvSpPr>
        <p:spPr>
          <a:xfrm>
            <a:off x="548640" y="1325880"/>
            <a:ext cx="3515258" cy="4343400"/>
          </a:xfrm>
          <a:prstGeom prst="roundRect">
            <a:avLst>
              <a:gd name="adj" fmla="val 2601"/>
            </a:avLst>
          </a:prstGeom>
          <a:solidFill>
            <a:srgbClr val="F8FAFC"/>
          </a:solidFill>
          <a:ln w="9525">
            <a:solidFill>
              <a:srgbClr val="E2E8F0"/>
            </a:solidFill>
            <a:prstDash val="solid"/>
          </a:ln>
        </p:spPr>
      </p:sp>
      <p:sp>
        <p:nvSpPr>
          <p:cNvPr id="4" name="Shape 2"/>
          <p:cNvSpPr/>
          <p:nvPr/>
        </p:nvSpPr>
        <p:spPr>
          <a:xfrm>
            <a:off x="822960" y="1600200"/>
            <a:ext cx="502920" cy="502920"/>
          </a:xfrm>
          <a:prstGeom prst="ellipse">
            <a:avLst/>
          </a:prstGeom>
          <a:solidFill>
            <a:srgbClr val="DC2626"/>
          </a:solidFill>
          <a:ln/>
        </p:spPr>
      </p:sp>
      <p:pic>
        <p:nvPicPr>
          <p:cNvPr id="5" name="Image 0" descr="preencoded.png">    </p:cNvPr>
          <p:cNvPicPr>
            <a:picLocks noChangeAspect="1"/>
          </p:cNvPicPr>
          <p:nvPr/>
        </p:nvPicPr>
        <p:blipFill>
          <a:blip r:embed="rId1"/>
          <a:stretch>
            <a:fillRect/>
          </a:stretch>
        </p:blipFill>
        <p:spPr>
          <a:xfrm>
            <a:off x="943661" y="1720901"/>
            <a:ext cx="261518" cy="261518"/>
          </a:xfrm>
          <a:prstGeom prst="rect">
            <a:avLst/>
          </a:prstGeom>
        </p:spPr>
      </p:pic>
      <p:sp>
        <p:nvSpPr>
          <p:cNvPr id="6" name="Text 3"/>
          <p:cNvSpPr txBox="1"/>
          <p:nvPr/>
        </p:nvSpPr>
        <p:spPr>
          <a:xfrm>
            <a:off x="822960" y="2240280"/>
            <a:ext cx="2966618" cy="73152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The refusal gate never fired</a:t>
            </a:r>
            <a:endParaRPr lang="en-US" sz="1700" dirty="0"/>
          </a:p>
        </p:txBody>
      </p:sp>
      <p:sp>
        <p:nvSpPr>
          <p:cNvPr id="7" name="Text 4"/>
          <p:cNvSpPr txBox="1"/>
          <p:nvPr/>
        </p:nvSpPr>
        <p:spPr>
          <a:xfrm>
            <a:off x="822960" y="3063240"/>
            <a:ext cx="2966618" cy="2514600"/>
          </a:xfrm>
          <a:prstGeom prst="rect">
            <a:avLst/>
          </a:prstGeom>
          <a:noFill/>
          <a:ln/>
        </p:spPr>
        <p:txBody>
          <a:bodyPr wrap="square" lIns="0" tIns="0" rIns="0" bIns="0" rtlCol="0" anchor="t"/>
          <a:lstStyle/>
          <a:p>
            <a:pPr indent="0" marL="0">
              <a:buNone/>
            </a:pPr>
            <a:r>
              <a:rPr lang="en-US" sz="1050" b="1" spc="100" kern="0" dirty="0">
                <a:solidFill>
                  <a:srgbClr val="2563EB"/>
                </a:solidFill>
                <a:latin typeface="Calibri" pitchFamily="34" charset="0"/>
                <a:ea typeface="Calibri" pitchFamily="34" charset="-122"/>
                <a:cs typeface="Calibri" pitchFamily="34" charset="-120"/>
              </a:rPr>
              <a:t>SYMPTOM</a:t>
            </a:r>
            <a:endParaRPr lang="en-US" sz="1400" dirty="0"/>
          </a:p>
          <a:p>
            <a:pPr indent="0" marL="0">
              <a:spcAft>
                <a:spcPts val="900"/>
              </a:spcAft>
              <a:buNone/>
            </a:pPr>
            <a:r>
              <a:rPr lang="en-US" sz="1300" dirty="0">
                <a:solidFill>
                  <a:srgbClr val="0F172A"/>
                </a:solidFill>
                <a:latin typeface="Calibri" pitchFamily="34" charset="0"/>
                <a:ea typeface="Calibri" pitchFamily="34" charset="-122"/>
                <a:cs typeface="Calibri" pitchFamily="34" charset="-120"/>
              </a:rPr>
              <a:t>Off-topic questions got confident answers.</a:t>
            </a:r>
            <a:endParaRPr lang="en-US" sz="1400" dirty="0"/>
          </a:p>
          <a:p>
            <a:pPr indent="0" marL="0">
              <a:buNone/>
            </a:pPr>
            <a:r>
              <a:rPr lang="en-US" sz="1050" b="1" spc="100" kern="0" dirty="0">
                <a:solidFill>
                  <a:srgbClr val="2563EB"/>
                </a:solidFill>
                <a:latin typeface="Calibri" pitchFamily="34" charset="0"/>
                <a:ea typeface="Calibri" pitchFamily="34" charset="-122"/>
                <a:cs typeface="Calibri" pitchFamily="34" charset="-120"/>
              </a:rPr>
              <a:t>CAUSE</a:t>
            </a:r>
            <a:endParaRPr lang="en-US" sz="1400" dirty="0"/>
          </a:p>
          <a:p>
            <a:pPr indent="0" marL="0">
              <a:spcAft>
                <a:spcPts val="900"/>
              </a:spcAft>
              <a:buNone/>
            </a:pPr>
            <a:r>
              <a:rPr lang="en-US" sz="1300" dirty="0">
                <a:solidFill>
                  <a:srgbClr val="0F172A"/>
                </a:solidFill>
                <a:latin typeface="Calibri" pitchFamily="34" charset="0"/>
                <a:ea typeface="Calibri" pitchFamily="34" charset="-122"/>
                <a:cs typeface="Calibri" pitchFamily="34" charset="-120"/>
              </a:rPr>
              <a:t>MIN_SCORE was 0.35; every query scored above 0.83 — the e5 similarity floor.</a:t>
            </a:r>
            <a:endParaRPr lang="en-US" sz="1400" dirty="0"/>
          </a:p>
          <a:p>
            <a:pPr indent="0" marL="0">
              <a:buNone/>
            </a:pPr>
            <a:r>
              <a:rPr lang="en-US" sz="1050" b="1" spc="100" kern="0" dirty="0">
                <a:solidFill>
                  <a:srgbClr val="2563EB"/>
                </a:solidFill>
                <a:latin typeface="Calibri" pitchFamily="34" charset="0"/>
                <a:ea typeface="Calibri" pitchFamily="34" charset="-122"/>
                <a:cs typeface="Calibri" pitchFamily="34" charset="-120"/>
              </a:rPr>
              <a:t>FIX</a:t>
            </a:r>
            <a:endParaRPr lang="en-US" sz="1400" dirty="0"/>
          </a:p>
          <a:p>
            <a:pPr indent="0" marL="0">
              <a:buNone/>
            </a:pPr>
            <a:r>
              <a:rPr lang="en-US" sz="1300" dirty="0">
                <a:solidFill>
                  <a:srgbClr val="0F172A"/>
                </a:solidFill>
                <a:latin typeface="Calibri" pitchFamily="34" charset="0"/>
                <a:ea typeface="Calibri" pitchFamily="34" charset="-122"/>
                <a:cs typeface="Calibri" pitchFamily="34" charset="-120"/>
              </a:rPr>
              <a:t>Calibrated to 0.854 from 18 labelled questions.</a:t>
            </a:r>
            <a:endParaRPr lang="en-US" sz="1400" dirty="0"/>
          </a:p>
        </p:txBody>
      </p:sp>
      <p:sp>
        <p:nvSpPr>
          <p:cNvPr id="8" name="Shape 5"/>
          <p:cNvSpPr/>
          <p:nvPr/>
        </p:nvSpPr>
        <p:spPr>
          <a:xfrm>
            <a:off x="4338218" y="1325880"/>
            <a:ext cx="3515258" cy="4343400"/>
          </a:xfrm>
          <a:prstGeom prst="roundRect">
            <a:avLst>
              <a:gd name="adj" fmla="val 2601"/>
            </a:avLst>
          </a:prstGeom>
          <a:solidFill>
            <a:srgbClr val="F8FAFC"/>
          </a:solidFill>
          <a:ln w="9525">
            <a:solidFill>
              <a:srgbClr val="E2E8F0"/>
            </a:solidFill>
            <a:prstDash val="solid"/>
          </a:ln>
        </p:spPr>
      </p:sp>
      <p:sp>
        <p:nvSpPr>
          <p:cNvPr id="9" name="Shape 6"/>
          <p:cNvSpPr/>
          <p:nvPr/>
        </p:nvSpPr>
        <p:spPr>
          <a:xfrm>
            <a:off x="4612538" y="1600200"/>
            <a:ext cx="502920" cy="502920"/>
          </a:xfrm>
          <a:prstGeom prst="ellipse">
            <a:avLst/>
          </a:prstGeom>
          <a:solidFill>
            <a:srgbClr val="7C3AED"/>
          </a:solidFill>
          <a:ln/>
        </p:spPr>
      </p:sp>
      <p:pic>
        <p:nvPicPr>
          <p:cNvPr id="10" name="Image 1" descr="preencoded.png">    </p:cNvPr>
          <p:cNvPicPr>
            <a:picLocks noChangeAspect="1"/>
          </p:cNvPicPr>
          <p:nvPr/>
        </p:nvPicPr>
        <p:blipFill>
          <a:blip r:embed="rId2"/>
          <a:stretch>
            <a:fillRect/>
          </a:stretch>
        </p:blipFill>
        <p:spPr>
          <a:xfrm>
            <a:off x="4733239" y="1720901"/>
            <a:ext cx="261518" cy="261518"/>
          </a:xfrm>
          <a:prstGeom prst="rect">
            <a:avLst/>
          </a:prstGeom>
        </p:spPr>
      </p:pic>
      <p:sp>
        <p:nvSpPr>
          <p:cNvPr id="11" name="Text 7"/>
          <p:cNvSpPr txBox="1"/>
          <p:nvPr/>
        </p:nvSpPr>
        <p:spPr>
          <a:xfrm>
            <a:off x="4612538" y="2240280"/>
            <a:ext cx="2966618" cy="73152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One page won every search</a:t>
            </a:r>
            <a:endParaRPr lang="en-US" sz="1700" dirty="0"/>
          </a:p>
        </p:txBody>
      </p:sp>
      <p:sp>
        <p:nvSpPr>
          <p:cNvPr id="12" name="Text 8"/>
          <p:cNvSpPr txBox="1"/>
          <p:nvPr/>
        </p:nvSpPr>
        <p:spPr>
          <a:xfrm>
            <a:off x="4612538" y="3063240"/>
            <a:ext cx="2966618" cy="2514600"/>
          </a:xfrm>
          <a:prstGeom prst="rect">
            <a:avLst/>
          </a:prstGeom>
          <a:noFill/>
          <a:ln/>
        </p:spPr>
        <p:txBody>
          <a:bodyPr wrap="square" lIns="0" tIns="0" rIns="0" bIns="0" rtlCol="0" anchor="t"/>
          <a:lstStyle/>
          <a:p>
            <a:pPr indent="0" marL="0">
              <a:buNone/>
            </a:pPr>
            <a:r>
              <a:rPr lang="en-US" sz="1050" b="1" spc="100" kern="0" dirty="0">
                <a:solidFill>
                  <a:srgbClr val="2563EB"/>
                </a:solidFill>
                <a:latin typeface="Calibri" pitchFamily="34" charset="0"/>
                <a:ea typeface="Calibri" pitchFamily="34" charset="-122"/>
                <a:cs typeface="Calibri" pitchFamily="34" charset="-120"/>
              </a:rPr>
              <a:t>SYMPTOM</a:t>
            </a:r>
            <a:endParaRPr lang="en-US" sz="1400" dirty="0"/>
          </a:p>
          <a:p>
            <a:pPr indent="0" marL="0">
              <a:spcAft>
                <a:spcPts val="900"/>
              </a:spcAft>
              <a:buNone/>
            </a:pPr>
            <a:r>
              <a:rPr lang="en-US" sz="1300" dirty="0">
                <a:solidFill>
                  <a:srgbClr val="0F172A"/>
                </a:solidFill>
                <a:latin typeface="Calibri" pitchFamily="34" charset="0"/>
                <a:ea typeface="Calibri" pitchFamily="34" charset="-122"/>
                <a:cs typeface="Calibri" pitchFamily="34" charset="-120"/>
              </a:rPr>
              <a:t>“quantum blockchain marketing strategy” matched a professor’s page.</a:t>
            </a:r>
            <a:endParaRPr lang="en-US" sz="1400" dirty="0"/>
          </a:p>
          <a:p>
            <a:pPr indent="0" marL="0">
              <a:buNone/>
            </a:pPr>
            <a:r>
              <a:rPr lang="en-US" sz="1050" b="1" spc="100" kern="0" dirty="0">
                <a:solidFill>
                  <a:srgbClr val="2563EB"/>
                </a:solidFill>
                <a:latin typeface="Calibri" pitchFamily="34" charset="0"/>
                <a:ea typeface="Calibri" pitchFamily="34" charset="-122"/>
                <a:cs typeface="Calibri" pitchFamily="34" charset="-120"/>
              </a:rPr>
              <a:t>CAUSE</a:t>
            </a:r>
            <a:endParaRPr lang="en-US" sz="1400" dirty="0"/>
          </a:p>
          <a:p>
            <a:pPr indent="0" marL="0">
              <a:spcAft>
                <a:spcPts val="900"/>
              </a:spcAft>
              <a:buNone/>
            </a:pPr>
            <a:r>
              <a:rPr lang="en-US" sz="1300" dirty="0">
                <a:solidFill>
                  <a:srgbClr val="0F172A"/>
                </a:solidFill>
                <a:latin typeface="Calibri" pitchFamily="34" charset="0"/>
                <a:ea typeface="Calibri" pitchFamily="34" charset="-122"/>
                <a:cs typeface="Calibri" pitchFamily="34" charset="-120"/>
              </a:rPr>
              <a:t>His 47,000-character publication list was served under two tabs and indexed twice — 57% of the corpus.</a:t>
            </a:r>
            <a:endParaRPr lang="en-US" sz="1400" dirty="0"/>
          </a:p>
          <a:p>
            <a:pPr indent="0" marL="0">
              <a:buNone/>
            </a:pPr>
            <a:r>
              <a:rPr lang="en-US" sz="1050" b="1" spc="100" kern="0" dirty="0">
                <a:solidFill>
                  <a:srgbClr val="2563EB"/>
                </a:solidFill>
                <a:latin typeface="Calibri" pitchFamily="34" charset="0"/>
                <a:ea typeface="Calibri" pitchFamily="34" charset="-122"/>
                <a:cs typeface="Calibri" pitchFamily="34" charset="-120"/>
              </a:rPr>
              <a:t>FIX</a:t>
            </a:r>
            <a:endParaRPr lang="en-US" sz="1400" dirty="0"/>
          </a:p>
          <a:p>
            <a:pPr indent="0" marL="0">
              <a:buNone/>
            </a:pPr>
            <a:r>
              <a:rPr lang="en-US" sz="1300" dirty="0">
                <a:solidFill>
                  <a:srgbClr val="0F172A"/>
                </a:solidFill>
                <a:latin typeface="Calibri" pitchFamily="34" charset="0"/>
                <a:ea typeface="Calibri" pitchFamily="34" charset="-122"/>
                <a:cs typeface="Calibri" pitchFamily="34" charset="-120"/>
              </a:rPr>
              <a:t>Drop near-duplicate blocks by matching an interior window of normalised text.</a:t>
            </a:r>
            <a:endParaRPr lang="en-US" sz="1400" dirty="0"/>
          </a:p>
        </p:txBody>
      </p:sp>
      <p:sp>
        <p:nvSpPr>
          <p:cNvPr id="13" name="Shape 9"/>
          <p:cNvSpPr/>
          <p:nvPr/>
        </p:nvSpPr>
        <p:spPr>
          <a:xfrm>
            <a:off x="8127797" y="1325880"/>
            <a:ext cx="3515258" cy="4343400"/>
          </a:xfrm>
          <a:prstGeom prst="roundRect">
            <a:avLst>
              <a:gd name="adj" fmla="val 2601"/>
            </a:avLst>
          </a:prstGeom>
          <a:solidFill>
            <a:srgbClr val="F8FAFC"/>
          </a:solidFill>
          <a:ln w="9525">
            <a:solidFill>
              <a:srgbClr val="E2E8F0"/>
            </a:solidFill>
            <a:prstDash val="solid"/>
          </a:ln>
        </p:spPr>
      </p:sp>
      <p:sp>
        <p:nvSpPr>
          <p:cNvPr id="14" name="Shape 10"/>
          <p:cNvSpPr/>
          <p:nvPr/>
        </p:nvSpPr>
        <p:spPr>
          <a:xfrm>
            <a:off x="8402117" y="1600200"/>
            <a:ext cx="502920" cy="502920"/>
          </a:xfrm>
          <a:prstGeom prst="ellipse">
            <a:avLst/>
          </a:prstGeom>
          <a:solidFill>
            <a:srgbClr val="059669"/>
          </a:solidFill>
          <a:ln/>
        </p:spPr>
      </p:sp>
      <p:pic>
        <p:nvPicPr>
          <p:cNvPr id="15" name="Image 2" descr="preencoded.png">    </p:cNvPr>
          <p:cNvPicPr>
            <a:picLocks noChangeAspect="1"/>
          </p:cNvPicPr>
          <p:nvPr/>
        </p:nvPicPr>
        <p:blipFill>
          <a:blip r:embed="rId3"/>
          <a:stretch>
            <a:fillRect/>
          </a:stretch>
        </p:blipFill>
        <p:spPr>
          <a:xfrm>
            <a:off x="8522818" y="1720901"/>
            <a:ext cx="261518" cy="261518"/>
          </a:xfrm>
          <a:prstGeom prst="rect">
            <a:avLst/>
          </a:prstGeom>
        </p:spPr>
      </p:pic>
      <p:sp>
        <p:nvSpPr>
          <p:cNvPr id="16" name="Text 11"/>
          <p:cNvSpPr txBox="1"/>
          <p:nvPr/>
        </p:nvSpPr>
        <p:spPr>
          <a:xfrm>
            <a:off x="8402117" y="2240280"/>
            <a:ext cx="2966618" cy="73152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Concurrent tool calls broke ChromaDB</a:t>
            </a:r>
            <a:endParaRPr lang="en-US" sz="1700" dirty="0"/>
          </a:p>
        </p:txBody>
      </p:sp>
      <p:sp>
        <p:nvSpPr>
          <p:cNvPr id="17" name="Text 12"/>
          <p:cNvSpPr txBox="1"/>
          <p:nvPr/>
        </p:nvSpPr>
        <p:spPr>
          <a:xfrm>
            <a:off x="8402117" y="3063240"/>
            <a:ext cx="2966618" cy="2514600"/>
          </a:xfrm>
          <a:prstGeom prst="rect">
            <a:avLst/>
          </a:prstGeom>
          <a:noFill/>
          <a:ln/>
        </p:spPr>
        <p:txBody>
          <a:bodyPr wrap="square" lIns="0" tIns="0" rIns="0" bIns="0" rtlCol="0" anchor="t"/>
          <a:lstStyle/>
          <a:p>
            <a:pPr indent="0" marL="0">
              <a:buNone/>
            </a:pPr>
            <a:r>
              <a:rPr lang="en-US" sz="1050" b="1" spc="100" kern="0" dirty="0">
                <a:solidFill>
                  <a:srgbClr val="2563EB"/>
                </a:solidFill>
                <a:latin typeface="Calibri" pitchFamily="34" charset="0"/>
                <a:ea typeface="Calibri" pitchFamily="34" charset="-122"/>
                <a:cs typeface="Calibri" pitchFamily="34" charset="-120"/>
              </a:rPr>
              <a:t>SYMPTOM</a:t>
            </a:r>
            <a:endParaRPr lang="en-US" sz="1400" dirty="0"/>
          </a:p>
          <a:p>
            <a:pPr indent="0" marL="0">
              <a:spcAft>
                <a:spcPts val="900"/>
              </a:spcAft>
              <a:buNone/>
            </a:pPr>
            <a:r>
              <a:rPr lang="en-US" sz="1300" dirty="0">
                <a:solidFill>
                  <a:srgbClr val="0F172A"/>
                </a:solidFill>
                <a:latin typeface="Calibri" pitchFamily="34" charset="0"/>
                <a:ea typeface="Calibri" pitchFamily="34" charset="-122"/>
                <a:cs typeface="Calibri" pitchFamily="34" charset="-120"/>
              </a:rPr>
              <a:t>The first question on a cold server intermittently returned nothing.</a:t>
            </a:r>
            <a:endParaRPr lang="en-US" sz="1400" dirty="0"/>
          </a:p>
          <a:p>
            <a:pPr indent="0" marL="0">
              <a:buNone/>
            </a:pPr>
            <a:r>
              <a:rPr lang="en-US" sz="1050" b="1" spc="100" kern="0" dirty="0">
                <a:solidFill>
                  <a:srgbClr val="2563EB"/>
                </a:solidFill>
                <a:latin typeface="Calibri" pitchFamily="34" charset="0"/>
                <a:ea typeface="Calibri" pitchFamily="34" charset="-122"/>
                <a:cs typeface="Calibri" pitchFamily="34" charset="-120"/>
              </a:rPr>
              <a:t>CAUSE</a:t>
            </a:r>
            <a:endParaRPr lang="en-US" sz="1400" dirty="0"/>
          </a:p>
          <a:p>
            <a:pPr indent="0" marL="0">
              <a:spcAft>
                <a:spcPts val="900"/>
              </a:spcAft>
              <a:buNone/>
            </a:pPr>
            <a:r>
              <a:rPr lang="en-US" sz="1300" dirty="0">
                <a:solidFill>
                  <a:srgbClr val="0F172A"/>
                </a:solidFill>
                <a:latin typeface="Calibri" pitchFamily="34" charset="0"/>
                <a:ea typeface="Calibri" pitchFamily="34" charset="-122"/>
                <a:cs typeface="Calibri" pitchFamily="34" charset="-120"/>
              </a:rPr>
              <a:t>One question fans out to parallel calls; three threads built the client at once — lru_cache does not serialise construction.</a:t>
            </a:r>
            <a:endParaRPr lang="en-US" sz="1400" dirty="0"/>
          </a:p>
          <a:p>
            <a:pPr indent="0" marL="0">
              <a:buNone/>
            </a:pPr>
            <a:r>
              <a:rPr lang="en-US" sz="1050" b="1" spc="100" kern="0" dirty="0">
                <a:solidFill>
                  <a:srgbClr val="2563EB"/>
                </a:solidFill>
                <a:latin typeface="Calibri" pitchFamily="34" charset="0"/>
                <a:ea typeface="Calibri" pitchFamily="34" charset="-122"/>
                <a:cs typeface="Calibri" pitchFamily="34" charset="-120"/>
              </a:rPr>
              <a:t>FIX</a:t>
            </a:r>
            <a:endParaRPr lang="en-US" sz="1400" dirty="0"/>
          </a:p>
          <a:p>
            <a:pPr indent="0" marL="0">
              <a:buNone/>
            </a:pPr>
            <a:r>
              <a:rPr lang="en-US" sz="1300" dirty="0">
                <a:solidFill>
                  <a:srgbClr val="0F172A"/>
                </a:solidFill>
                <a:latin typeface="Calibri" pitchFamily="34" charset="0"/>
                <a:ea typeface="Calibri" pitchFamily="34" charset="-122"/>
                <a:cs typeface="Calibri" pitchFamily="34" charset="-120"/>
              </a:rPr>
              <a:t>Double-checked locking. Reproduced with 4 threads and a barrier; now 5 of 5 runs clean.</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Measured, and built to degrade</a:t>
            </a:r>
            <a:endParaRPr lang="en-US" sz="3000" dirty="0"/>
          </a:p>
        </p:txBody>
      </p:sp>
      <p:sp>
        <p:nvSpPr>
          <p:cNvPr id="3" name="Text 1"/>
          <p:cNvSpPr txBox="1"/>
          <p:nvPr/>
        </p:nvSpPr>
        <p:spPr>
          <a:xfrm>
            <a:off x="548640" y="1188720"/>
            <a:ext cx="548640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Retrieval quality — 15-question evaluation set</a:t>
            </a:r>
            <a:endParaRPr lang="en-US" sz="1500" dirty="0"/>
          </a:p>
        </p:txBody>
      </p:sp>
      <p:sp>
        <p:nvSpPr>
          <p:cNvPr id="4" name="Shape 2"/>
          <p:cNvSpPr/>
          <p:nvPr/>
        </p:nvSpPr>
        <p:spPr>
          <a:xfrm>
            <a:off x="548640" y="1691640"/>
            <a:ext cx="2606040" cy="1188720"/>
          </a:xfrm>
          <a:prstGeom prst="roundRect">
            <a:avLst>
              <a:gd name="adj" fmla="val 7692"/>
            </a:avLst>
          </a:prstGeom>
          <a:solidFill>
            <a:srgbClr val="EFF6FF"/>
          </a:solidFill>
          <a:ln w="9525">
            <a:solidFill>
              <a:srgbClr val="BFDBFE"/>
            </a:solidFill>
            <a:prstDash val="solid"/>
          </a:ln>
        </p:spPr>
      </p:sp>
      <p:sp>
        <p:nvSpPr>
          <p:cNvPr id="5" name="Text 3"/>
          <p:cNvSpPr txBox="1"/>
          <p:nvPr/>
        </p:nvSpPr>
        <p:spPr>
          <a:xfrm>
            <a:off x="777240" y="1856232"/>
            <a:ext cx="2148840" cy="548640"/>
          </a:xfrm>
          <a:prstGeom prst="rect">
            <a:avLst/>
          </a:prstGeom>
          <a:noFill/>
          <a:ln/>
        </p:spPr>
        <p:txBody>
          <a:bodyPr wrap="square" lIns="0" tIns="0" rIns="0" bIns="0" rtlCol="0" anchor="t"/>
          <a:lstStyle/>
          <a:p>
            <a:pPr indent="0" marL="0">
              <a:buNone/>
            </a:pPr>
            <a:r>
              <a:rPr lang="en-US" sz="3200" b="1" dirty="0">
                <a:solidFill>
                  <a:srgbClr val="2563EB"/>
                </a:solidFill>
                <a:latin typeface="Arial" pitchFamily="34" charset="0"/>
                <a:ea typeface="Arial" pitchFamily="34" charset="-122"/>
                <a:cs typeface="Arial" pitchFamily="34" charset="-120"/>
              </a:rPr>
              <a:t>0.933</a:t>
            </a:r>
            <a:endParaRPr lang="en-US" sz="3200" dirty="0"/>
          </a:p>
        </p:txBody>
      </p:sp>
      <p:sp>
        <p:nvSpPr>
          <p:cNvPr id="6" name="Text 4"/>
          <p:cNvSpPr txBox="1"/>
          <p:nvPr/>
        </p:nvSpPr>
        <p:spPr>
          <a:xfrm>
            <a:off x="777240" y="2441448"/>
            <a:ext cx="2148840" cy="32004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doc hit @5</a:t>
            </a:r>
            <a:endParaRPr lang="en-US" sz="1200" dirty="0"/>
          </a:p>
        </p:txBody>
      </p:sp>
      <p:sp>
        <p:nvSpPr>
          <p:cNvPr id="7" name="Shape 5"/>
          <p:cNvSpPr/>
          <p:nvPr/>
        </p:nvSpPr>
        <p:spPr>
          <a:xfrm>
            <a:off x="3429000" y="1691640"/>
            <a:ext cx="2606040" cy="1188720"/>
          </a:xfrm>
          <a:prstGeom prst="roundRect">
            <a:avLst>
              <a:gd name="adj" fmla="val 7692"/>
            </a:avLst>
          </a:prstGeom>
          <a:solidFill>
            <a:srgbClr val="EFF6FF"/>
          </a:solidFill>
          <a:ln w="9525">
            <a:solidFill>
              <a:srgbClr val="BFDBFE"/>
            </a:solidFill>
            <a:prstDash val="solid"/>
          </a:ln>
        </p:spPr>
      </p:sp>
      <p:sp>
        <p:nvSpPr>
          <p:cNvPr id="8" name="Text 6"/>
          <p:cNvSpPr txBox="1"/>
          <p:nvPr/>
        </p:nvSpPr>
        <p:spPr>
          <a:xfrm>
            <a:off x="3657600" y="1856232"/>
            <a:ext cx="2148840" cy="548640"/>
          </a:xfrm>
          <a:prstGeom prst="rect">
            <a:avLst/>
          </a:prstGeom>
          <a:noFill/>
          <a:ln/>
        </p:spPr>
        <p:txBody>
          <a:bodyPr wrap="square" lIns="0" tIns="0" rIns="0" bIns="0" rtlCol="0" anchor="t"/>
          <a:lstStyle/>
          <a:p>
            <a:pPr indent="0" marL="0">
              <a:buNone/>
            </a:pPr>
            <a:r>
              <a:rPr lang="en-US" sz="3200" b="1" dirty="0">
                <a:solidFill>
                  <a:srgbClr val="2563EB"/>
                </a:solidFill>
                <a:latin typeface="Arial" pitchFamily="34" charset="0"/>
                <a:ea typeface="Arial" pitchFamily="34" charset="-122"/>
                <a:cs typeface="Arial" pitchFamily="34" charset="-120"/>
              </a:rPr>
              <a:t>0.813</a:t>
            </a:r>
            <a:endParaRPr lang="en-US" sz="3200" dirty="0"/>
          </a:p>
        </p:txBody>
      </p:sp>
      <p:sp>
        <p:nvSpPr>
          <p:cNvPr id="9" name="Text 7"/>
          <p:cNvSpPr txBox="1"/>
          <p:nvPr/>
        </p:nvSpPr>
        <p:spPr>
          <a:xfrm>
            <a:off x="3657600" y="2441448"/>
            <a:ext cx="2148840" cy="32004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doc MRR</a:t>
            </a:r>
            <a:endParaRPr lang="en-US" sz="1200" dirty="0"/>
          </a:p>
        </p:txBody>
      </p:sp>
      <p:sp>
        <p:nvSpPr>
          <p:cNvPr id="10" name="Shape 8"/>
          <p:cNvSpPr/>
          <p:nvPr/>
        </p:nvSpPr>
        <p:spPr>
          <a:xfrm>
            <a:off x="548640" y="3063240"/>
            <a:ext cx="2606040" cy="1188720"/>
          </a:xfrm>
          <a:prstGeom prst="roundRect">
            <a:avLst>
              <a:gd name="adj" fmla="val 7692"/>
            </a:avLst>
          </a:prstGeom>
          <a:solidFill>
            <a:srgbClr val="EFF6FF"/>
          </a:solidFill>
          <a:ln w="9525">
            <a:solidFill>
              <a:srgbClr val="BFDBFE"/>
            </a:solidFill>
            <a:prstDash val="solid"/>
          </a:ln>
        </p:spPr>
      </p:sp>
      <p:sp>
        <p:nvSpPr>
          <p:cNvPr id="11" name="Text 9"/>
          <p:cNvSpPr txBox="1"/>
          <p:nvPr/>
        </p:nvSpPr>
        <p:spPr>
          <a:xfrm>
            <a:off x="777240" y="3227832"/>
            <a:ext cx="2148840" cy="548640"/>
          </a:xfrm>
          <a:prstGeom prst="rect">
            <a:avLst/>
          </a:prstGeom>
          <a:noFill/>
          <a:ln/>
        </p:spPr>
        <p:txBody>
          <a:bodyPr wrap="square" lIns="0" tIns="0" rIns="0" bIns="0" rtlCol="0" anchor="t"/>
          <a:lstStyle/>
          <a:p>
            <a:pPr indent="0" marL="0">
              <a:buNone/>
            </a:pPr>
            <a:r>
              <a:rPr lang="en-US" sz="3200" b="1" dirty="0">
                <a:solidFill>
                  <a:srgbClr val="2563EB"/>
                </a:solidFill>
                <a:latin typeface="Arial" pitchFamily="34" charset="0"/>
                <a:ea typeface="Arial" pitchFamily="34" charset="-122"/>
                <a:cs typeface="Arial" pitchFamily="34" charset="-120"/>
              </a:rPr>
              <a:t>0.667</a:t>
            </a:r>
            <a:endParaRPr lang="en-US" sz="3200" dirty="0"/>
          </a:p>
        </p:txBody>
      </p:sp>
      <p:sp>
        <p:nvSpPr>
          <p:cNvPr id="12" name="Text 10"/>
          <p:cNvSpPr txBox="1"/>
          <p:nvPr/>
        </p:nvSpPr>
        <p:spPr>
          <a:xfrm>
            <a:off x="777240" y="3813048"/>
            <a:ext cx="2148840" cy="32004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answer span @5</a:t>
            </a:r>
            <a:endParaRPr lang="en-US" sz="1200" dirty="0"/>
          </a:p>
        </p:txBody>
      </p:sp>
      <p:sp>
        <p:nvSpPr>
          <p:cNvPr id="13" name="Shape 11"/>
          <p:cNvSpPr/>
          <p:nvPr/>
        </p:nvSpPr>
        <p:spPr>
          <a:xfrm>
            <a:off x="3429000" y="3063240"/>
            <a:ext cx="2606040" cy="1188720"/>
          </a:xfrm>
          <a:prstGeom prst="roundRect">
            <a:avLst>
              <a:gd name="adj" fmla="val 7692"/>
            </a:avLst>
          </a:prstGeom>
          <a:solidFill>
            <a:srgbClr val="EFF6FF"/>
          </a:solidFill>
          <a:ln w="9525">
            <a:solidFill>
              <a:srgbClr val="BFDBFE"/>
            </a:solidFill>
            <a:prstDash val="solid"/>
          </a:ln>
        </p:spPr>
      </p:sp>
      <p:sp>
        <p:nvSpPr>
          <p:cNvPr id="14" name="Text 12"/>
          <p:cNvSpPr txBox="1"/>
          <p:nvPr/>
        </p:nvSpPr>
        <p:spPr>
          <a:xfrm>
            <a:off x="3657600" y="3227832"/>
            <a:ext cx="2148840" cy="548640"/>
          </a:xfrm>
          <a:prstGeom prst="rect">
            <a:avLst/>
          </a:prstGeom>
          <a:noFill/>
          <a:ln/>
        </p:spPr>
        <p:txBody>
          <a:bodyPr wrap="square" lIns="0" tIns="0" rIns="0" bIns="0" rtlCol="0" anchor="t"/>
          <a:lstStyle/>
          <a:p>
            <a:pPr indent="0" marL="0">
              <a:buNone/>
            </a:pPr>
            <a:r>
              <a:rPr lang="en-US" sz="3200" b="1" dirty="0">
                <a:solidFill>
                  <a:srgbClr val="2563EB"/>
                </a:solidFill>
                <a:latin typeface="Arial" pitchFamily="34" charset="0"/>
                <a:ea typeface="Arial" pitchFamily="34" charset="-122"/>
                <a:cs typeface="Arial" pitchFamily="34" charset="-120"/>
              </a:rPr>
              <a:t>70 ms</a:t>
            </a:r>
            <a:endParaRPr lang="en-US" sz="3200" dirty="0"/>
          </a:p>
        </p:txBody>
      </p:sp>
      <p:sp>
        <p:nvSpPr>
          <p:cNvPr id="15" name="Text 13"/>
          <p:cNvSpPr txBox="1"/>
          <p:nvPr/>
        </p:nvSpPr>
        <p:spPr>
          <a:xfrm>
            <a:off x="3657600" y="3813048"/>
            <a:ext cx="2148840" cy="32004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retrieval p50</a:t>
            </a:r>
            <a:endParaRPr lang="en-US" sz="1200" dirty="0"/>
          </a:p>
        </p:txBody>
      </p:sp>
      <p:sp>
        <p:nvSpPr>
          <p:cNvPr id="16" name="Shape 14"/>
          <p:cNvSpPr/>
          <p:nvPr/>
        </p:nvSpPr>
        <p:spPr>
          <a:xfrm>
            <a:off x="548640" y="4480560"/>
            <a:ext cx="5486400" cy="1280160"/>
          </a:xfrm>
          <a:prstGeom prst="roundRect">
            <a:avLst>
              <a:gd name="adj" fmla="val 7143"/>
            </a:avLst>
          </a:prstGeom>
          <a:solidFill>
            <a:srgbClr val="FFFBEB"/>
          </a:solidFill>
          <a:ln w="9525">
            <a:solidFill>
              <a:srgbClr val="FDE68A"/>
            </a:solidFill>
            <a:prstDash val="solid"/>
          </a:ln>
        </p:spPr>
      </p:sp>
      <p:sp>
        <p:nvSpPr>
          <p:cNvPr id="17" name="Text 15"/>
          <p:cNvSpPr txBox="1"/>
          <p:nvPr/>
        </p:nvSpPr>
        <p:spPr>
          <a:xfrm>
            <a:off x="777240" y="4590288"/>
            <a:ext cx="5029200" cy="1097280"/>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Why 0.667: </a:t>
            </a:r>
            <a:pPr indent="0" marL="0">
              <a:buNone/>
            </a:pPr>
            <a:r>
              <a:rPr lang="en-US" sz="1250" dirty="0">
                <a:solidFill>
                  <a:srgbClr val="0F172A"/>
                </a:solidFill>
                <a:latin typeface="Calibri" pitchFamily="34" charset="0"/>
                <a:ea typeface="Calibri" pitchFamily="34" charset="-122"/>
                <a:cs typeface="Calibri" pitchFamily="34" charset="-120"/>
              </a:rPr>
              <a:t>3 of the 5 misses are a Unicode bug, not retrieval. The site uses compatibility ideographs — 領 U+F9B4 — that look identical to what users type, 領 U+9818. The facts are in the index; keyword matching cannot see them. Fix: normalise at ingest and query time.</a:t>
            </a:r>
            <a:endParaRPr lang="en-US" sz="1250" dirty="0"/>
          </a:p>
        </p:txBody>
      </p:sp>
      <p:sp>
        <p:nvSpPr>
          <p:cNvPr id="18" name="Text 16"/>
          <p:cNvSpPr txBox="1"/>
          <p:nvPr/>
        </p:nvSpPr>
        <p:spPr>
          <a:xfrm>
            <a:off x="6355080" y="1188720"/>
            <a:ext cx="5287975" cy="36576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When something is missing</a:t>
            </a:r>
            <a:endParaRPr lang="en-US" sz="1700" dirty="0"/>
          </a:p>
        </p:txBody>
      </p:sp>
      <p:sp>
        <p:nvSpPr>
          <p:cNvPr id="19" name="Shape 17"/>
          <p:cNvSpPr/>
          <p:nvPr/>
        </p:nvSpPr>
        <p:spPr>
          <a:xfrm>
            <a:off x="6355080" y="1819656"/>
            <a:ext cx="420624" cy="420624"/>
          </a:xfrm>
          <a:prstGeom prst="ellipse">
            <a:avLst/>
          </a:prstGeom>
          <a:solidFill>
            <a:srgbClr val="64748B"/>
          </a:solidFill>
          <a:ln/>
        </p:spPr>
      </p:sp>
      <p:pic>
        <p:nvPicPr>
          <p:cNvPr id="20" name="Image 0" descr="preencoded.png">    </p:cNvPr>
          <p:cNvPicPr>
            <a:picLocks noChangeAspect="1"/>
          </p:cNvPicPr>
          <p:nvPr/>
        </p:nvPicPr>
        <p:blipFill>
          <a:blip r:embed="rId1"/>
          <a:stretch>
            <a:fillRect/>
          </a:stretch>
        </p:blipFill>
        <p:spPr>
          <a:xfrm>
            <a:off x="6456030" y="1920606"/>
            <a:ext cx="218724" cy="218724"/>
          </a:xfrm>
          <a:prstGeom prst="rect">
            <a:avLst/>
          </a:prstGeom>
        </p:spPr>
      </p:pic>
      <p:sp>
        <p:nvSpPr>
          <p:cNvPr id="21" name="Text 18"/>
          <p:cNvSpPr txBox="1"/>
          <p:nvPr/>
        </p:nvSpPr>
        <p:spPr>
          <a:xfrm>
            <a:off x="6949440" y="1783080"/>
            <a:ext cx="4693615" cy="27432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No LLM, or no network</a:t>
            </a:r>
            <a:endParaRPr lang="en-US" sz="1400" dirty="0"/>
          </a:p>
        </p:txBody>
      </p:sp>
      <p:sp>
        <p:nvSpPr>
          <p:cNvPr id="22" name="Text 19"/>
          <p:cNvSpPr txBox="1"/>
          <p:nvPr/>
        </p:nvSpPr>
        <p:spPr>
          <a:xfrm>
            <a:off x="6949440" y="2075688"/>
            <a:ext cx="4693615" cy="5029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Answers become cited excerpts. Verified with LLM_MODE=offline and HF_HUB_OFFLINE=1.</a:t>
            </a:r>
            <a:endParaRPr lang="en-US" sz="1200" dirty="0"/>
          </a:p>
        </p:txBody>
      </p:sp>
      <p:sp>
        <p:nvSpPr>
          <p:cNvPr id="23" name="Shape 20"/>
          <p:cNvSpPr/>
          <p:nvPr/>
        </p:nvSpPr>
        <p:spPr>
          <a:xfrm>
            <a:off x="6355080" y="2660904"/>
            <a:ext cx="420624" cy="420624"/>
          </a:xfrm>
          <a:prstGeom prst="ellipse">
            <a:avLst/>
          </a:prstGeom>
          <a:solidFill>
            <a:srgbClr val="2563EB"/>
          </a:solidFill>
          <a:ln/>
        </p:spPr>
      </p:sp>
      <p:pic>
        <p:nvPicPr>
          <p:cNvPr id="24" name="Image 1" descr="preencoded.png">    </p:cNvPr>
          <p:cNvPicPr>
            <a:picLocks noChangeAspect="1"/>
          </p:cNvPicPr>
          <p:nvPr/>
        </p:nvPicPr>
        <p:blipFill>
          <a:blip r:embed="rId2"/>
          <a:stretch>
            <a:fillRect/>
          </a:stretch>
        </p:blipFill>
        <p:spPr>
          <a:xfrm>
            <a:off x="6456030" y="2761854"/>
            <a:ext cx="218724" cy="218724"/>
          </a:xfrm>
          <a:prstGeom prst="rect">
            <a:avLst/>
          </a:prstGeom>
        </p:spPr>
      </p:pic>
      <p:sp>
        <p:nvSpPr>
          <p:cNvPr id="25" name="Text 21"/>
          <p:cNvSpPr txBox="1"/>
          <p:nvPr/>
        </p:nvSpPr>
        <p:spPr>
          <a:xfrm>
            <a:off x="6949440" y="2624328"/>
            <a:ext cx="4693615" cy="27432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No embedding model</a:t>
            </a:r>
            <a:endParaRPr lang="en-US" sz="1400" dirty="0"/>
          </a:p>
        </p:txBody>
      </p:sp>
      <p:sp>
        <p:nvSpPr>
          <p:cNvPr id="26" name="Text 22"/>
          <p:cNvSpPr txBox="1"/>
          <p:nvPr/>
        </p:nvSpPr>
        <p:spPr>
          <a:xfrm>
            <a:off x="6949440" y="2916936"/>
            <a:ext cx="4693615" cy="5029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Falls back to BM25 alone, and the status badge says “lexical”.</a:t>
            </a:r>
            <a:endParaRPr lang="en-US" sz="1200" dirty="0"/>
          </a:p>
        </p:txBody>
      </p:sp>
      <p:sp>
        <p:nvSpPr>
          <p:cNvPr id="27" name="Shape 23"/>
          <p:cNvSpPr/>
          <p:nvPr/>
        </p:nvSpPr>
        <p:spPr>
          <a:xfrm>
            <a:off x="6355080" y="3502152"/>
            <a:ext cx="420624" cy="420624"/>
          </a:xfrm>
          <a:prstGeom prst="ellipse">
            <a:avLst/>
          </a:prstGeom>
          <a:solidFill>
            <a:srgbClr val="059669"/>
          </a:solidFill>
          <a:ln/>
        </p:spPr>
      </p:sp>
      <p:pic>
        <p:nvPicPr>
          <p:cNvPr id="28" name="Image 2" descr="preencoded.png">    </p:cNvPr>
          <p:cNvPicPr>
            <a:picLocks noChangeAspect="1"/>
          </p:cNvPicPr>
          <p:nvPr/>
        </p:nvPicPr>
        <p:blipFill>
          <a:blip r:embed="rId3"/>
          <a:stretch>
            <a:fillRect/>
          </a:stretch>
        </p:blipFill>
        <p:spPr>
          <a:xfrm>
            <a:off x="6456030" y="3603102"/>
            <a:ext cx="218724" cy="218724"/>
          </a:xfrm>
          <a:prstGeom prst="rect">
            <a:avLst/>
          </a:prstGeom>
        </p:spPr>
      </p:pic>
      <p:sp>
        <p:nvSpPr>
          <p:cNvPr id="29" name="Text 24"/>
          <p:cNvSpPr txBox="1"/>
          <p:nvPr/>
        </p:nvSpPr>
        <p:spPr>
          <a:xfrm>
            <a:off x="6949440" y="3465576"/>
            <a:ext cx="4693615" cy="27432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stdio or HTTP</a:t>
            </a:r>
            <a:endParaRPr lang="en-US" sz="1400" dirty="0"/>
          </a:p>
        </p:txBody>
      </p:sp>
      <p:sp>
        <p:nvSpPr>
          <p:cNvPr id="30" name="Text 25"/>
          <p:cNvSpPr txBox="1"/>
          <p:nvPr/>
        </p:nvSpPr>
        <p:spPr>
          <a:xfrm>
            <a:off x="6949440" y="3758184"/>
            <a:ext cx="4693615" cy="5029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Transport is one environment variable, not an architecture change.</a:t>
            </a:r>
            <a:endParaRPr lang="en-US" sz="1200" dirty="0"/>
          </a:p>
        </p:txBody>
      </p:sp>
      <p:sp>
        <p:nvSpPr>
          <p:cNvPr id="31" name="Shape 26"/>
          <p:cNvSpPr/>
          <p:nvPr/>
        </p:nvSpPr>
        <p:spPr>
          <a:xfrm>
            <a:off x="6355080" y="4343400"/>
            <a:ext cx="420624" cy="420624"/>
          </a:xfrm>
          <a:prstGeom prst="ellipse">
            <a:avLst/>
          </a:prstGeom>
          <a:solidFill>
            <a:srgbClr val="0EA5E9"/>
          </a:solidFill>
          <a:ln/>
        </p:spPr>
      </p:sp>
      <p:pic>
        <p:nvPicPr>
          <p:cNvPr id="32" name="Image 3" descr="preencoded.png">    </p:cNvPr>
          <p:cNvPicPr>
            <a:picLocks noChangeAspect="1"/>
          </p:cNvPicPr>
          <p:nvPr/>
        </p:nvPicPr>
        <p:blipFill>
          <a:blip r:embed="rId4"/>
          <a:stretch>
            <a:fillRect/>
          </a:stretch>
        </p:blipFill>
        <p:spPr>
          <a:xfrm>
            <a:off x="6456030" y="4444350"/>
            <a:ext cx="218724" cy="218724"/>
          </a:xfrm>
          <a:prstGeom prst="rect">
            <a:avLst/>
          </a:prstGeom>
        </p:spPr>
      </p:pic>
      <p:sp>
        <p:nvSpPr>
          <p:cNvPr id="33" name="Text 27"/>
          <p:cNvSpPr txBox="1"/>
          <p:nvPr/>
        </p:nvSpPr>
        <p:spPr>
          <a:xfrm>
            <a:off x="6949440" y="4306824"/>
            <a:ext cx="4693615" cy="27432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A different MCP host</a:t>
            </a:r>
            <a:endParaRPr lang="en-US" sz="1400" dirty="0"/>
          </a:p>
        </p:txBody>
      </p:sp>
      <p:sp>
        <p:nvSpPr>
          <p:cNvPr id="34" name="Text 28"/>
          <p:cNvSpPr txBox="1"/>
          <p:nvPr/>
        </p:nvSpPr>
        <p:spPr>
          <a:xfrm>
            <a:off x="6949440" y="4599432"/>
            <a:ext cx="4693615" cy="5029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Claude Desktop runs the same server with no code change.</a:t>
            </a:r>
            <a:endParaRPr lang="en-US" sz="1200" dirty="0"/>
          </a:p>
        </p:txBody>
      </p:sp>
      <p:sp>
        <p:nvSpPr>
          <p:cNvPr id="35" name="Shape 29"/>
          <p:cNvSpPr/>
          <p:nvPr/>
        </p:nvSpPr>
        <p:spPr>
          <a:xfrm>
            <a:off x="6355080" y="5184648"/>
            <a:ext cx="420624" cy="420624"/>
          </a:xfrm>
          <a:prstGeom prst="ellipse">
            <a:avLst/>
          </a:prstGeom>
          <a:solidFill>
            <a:srgbClr val="059669"/>
          </a:solidFill>
          <a:ln/>
        </p:spPr>
      </p:sp>
      <p:pic>
        <p:nvPicPr>
          <p:cNvPr id="36" name="Image 4" descr="preencoded.png">    </p:cNvPr>
          <p:cNvPicPr>
            <a:picLocks noChangeAspect="1"/>
          </p:cNvPicPr>
          <p:nvPr/>
        </p:nvPicPr>
        <p:blipFill>
          <a:blip r:embed="rId5"/>
          <a:stretch>
            <a:fillRect/>
          </a:stretch>
        </p:blipFill>
        <p:spPr>
          <a:xfrm>
            <a:off x="6456030" y="5285598"/>
            <a:ext cx="218724" cy="218724"/>
          </a:xfrm>
          <a:prstGeom prst="rect">
            <a:avLst/>
          </a:prstGeom>
        </p:spPr>
      </p:pic>
      <p:sp>
        <p:nvSpPr>
          <p:cNvPr id="37" name="Text 30"/>
          <p:cNvSpPr txBox="1"/>
          <p:nvPr/>
        </p:nvSpPr>
        <p:spPr>
          <a:xfrm>
            <a:off x="6949440" y="5148072"/>
            <a:ext cx="4693615" cy="27432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Checked continuously</a:t>
            </a:r>
            <a:endParaRPr lang="en-US" sz="1400" dirty="0"/>
          </a:p>
        </p:txBody>
      </p:sp>
      <p:sp>
        <p:nvSpPr>
          <p:cNvPr id="38" name="Text 31"/>
          <p:cNvSpPr txBox="1"/>
          <p:nvPr/>
        </p:nvSpPr>
        <p:spPr>
          <a:xfrm>
            <a:off x="6949440" y="5440680"/>
            <a:ext cx="4693615" cy="5029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17 unit tests, lint clean, evaluation and calibration scripts.</a:t>
            </a:r>
            <a:endParaRPr lang="en-US" sz="1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Known limits, and what comes next</a:t>
            </a:r>
            <a:endParaRPr lang="en-US" sz="3000" dirty="0"/>
          </a:p>
        </p:txBody>
      </p:sp>
      <p:sp>
        <p:nvSpPr>
          <p:cNvPr id="3" name="Shape 1"/>
          <p:cNvSpPr/>
          <p:nvPr/>
        </p:nvSpPr>
        <p:spPr>
          <a:xfrm>
            <a:off x="548640" y="1234440"/>
            <a:ext cx="5257800" cy="4846320"/>
          </a:xfrm>
          <a:prstGeom prst="roundRect">
            <a:avLst>
              <a:gd name="adj" fmla="val 1887"/>
            </a:avLst>
          </a:prstGeom>
          <a:solidFill>
            <a:srgbClr val="F8FAFC"/>
          </a:solidFill>
          <a:ln w="9525">
            <a:solidFill>
              <a:srgbClr val="E2E8F0"/>
            </a:solidFill>
            <a:prstDash val="solid"/>
          </a:ln>
        </p:spPr>
      </p:sp>
      <p:sp>
        <p:nvSpPr>
          <p:cNvPr id="4" name="Shape 2"/>
          <p:cNvSpPr/>
          <p:nvPr/>
        </p:nvSpPr>
        <p:spPr>
          <a:xfrm>
            <a:off x="6400800" y="1234440"/>
            <a:ext cx="5242255" cy="4846320"/>
          </a:xfrm>
          <a:prstGeom prst="roundRect">
            <a:avLst>
              <a:gd name="adj" fmla="val 1887"/>
            </a:avLst>
          </a:prstGeom>
          <a:solidFill>
            <a:srgbClr val="EFF6FF"/>
          </a:solidFill>
          <a:ln w="9525">
            <a:solidFill>
              <a:srgbClr val="BFDBFE"/>
            </a:solidFill>
            <a:prstDash val="solid"/>
          </a:ln>
        </p:spPr>
      </p:sp>
      <p:sp>
        <p:nvSpPr>
          <p:cNvPr id="5" name="Text 3"/>
          <p:cNvSpPr txBox="1"/>
          <p:nvPr/>
        </p:nvSpPr>
        <p:spPr>
          <a:xfrm>
            <a:off x="822960" y="1417320"/>
            <a:ext cx="4709160" cy="36576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Known limits</a:t>
            </a:r>
            <a:endParaRPr lang="en-US" sz="1700" dirty="0"/>
          </a:p>
        </p:txBody>
      </p:sp>
      <p:sp>
        <p:nvSpPr>
          <p:cNvPr id="6" name="Text 4"/>
          <p:cNvSpPr txBox="1"/>
          <p:nvPr/>
        </p:nvSpPr>
        <p:spPr>
          <a:xfrm>
            <a:off x="6675120" y="1417320"/>
            <a:ext cx="4693615" cy="365760"/>
          </a:xfrm>
          <a:prstGeom prst="rect">
            <a:avLst/>
          </a:prstGeom>
          <a:noFill/>
          <a:ln/>
        </p:spPr>
        <p:txBody>
          <a:bodyPr wrap="square" lIns="0" tIns="0" rIns="0" bIns="0" rtlCol="0" anchor="t"/>
          <a:lstStyle/>
          <a:p>
            <a:pPr indent="0" marL="0">
              <a:buNone/>
            </a:pPr>
            <a:r>
              <a:rPr lang="en-US" sz="1700" b="1" dirty="0">
                <a:solidFill>
                  <a:srgbClr val="1E3A8A"/>
                </a:solidFill>
                <a:latin typeface="Calibri" pitchFamily="34" charset="0"/>
                <a:ea typeface="Calibri" pitchFamily="34" charset="-122"/>
                <a:cs typeface="Calibri" pitchFamily="34" charset="-120"/>
              </a:rPr>
              <a:t>Next</a:t>
            </a:r>
            <a:endParaRPr lang="en-US" sz="1700" dirty="0"/>
          </a:p>
        </p:txBody>
      </p:sp>
      <p:sp>
        <p:nvSpPr>
          <p:cNvPr id="7" name="Text 5"/>
          <p:cNvSpPr txBox="1"/>
          <p:nvPr/>
        </p:nvSpPr>
        <p:spPr>
          <a:xfrm>
            <a:off x="822960" y="1920240"/>
            <a:ext cx="4709160" cy="685800"/>
          </a:xfrm>
          <a:prstGeom prst="rect">
            <a:avLst/>
          </a:prstGeom>
          <a:noFill/>
          <a:ln/>
        </p:spPr>
        <p:txBody>
          <a:bodyPr wrap="square" lIns="0" tIns="0" rIns="0" bIns="0" rtlCol="0" anchor="t"/>
          <a:lstStyle/>
          <a:p>
            <a:pPr indent="0" marL="0">
              <a:buNone/>
            </a:pPr>
            <a:r>
              <a:rPr lang="en-US" sz="1350" dirty="0">
                <a:solidFill>
                  <a:srgbClr val="0F172A"/>
                </a:solidFill>
                <a:latin typeface="Calibri" pitchFamily="34" charset="0"/>
                <a:ea typeface="Calibri" pitchFamily="34" charset="-122"/>
                <a:cs typeface="Calibri" pitchFamily="34" charset="-120"/>
              </a:rPr>
              <a:t>Refusal margin is 0.019 — the e5 similarity floor.</a:t>
            </a:r>
            <a:endParaRPr lang="en-US" sz="1350" dirty="0"/>
          </a:p>
        </p:txBody>
      </p:sp>
      <p:pic>
        <p:nvPicPr>
          <p:cNvPr id="8" name="Image 0" descr="preencoded.png">    </p:cNvPr>
          <p:cNvPicPr>
            <a:picLocks noChangeAspect="1"/>
          </p:cNvPicPr>
          <p:nvPr/>
        </p:nvPicPr>
        <p:blipFill>
          <a:blip r:embed="rId1"/>
          <a:stretch>
            <a:fillRect/>
          </a:stretch>
        </p:blipFill>
        <p:spPr>
          <a:xfrm>
            <a:off x="5961888" y="1901952"/>
            <a:ext cx="274320" cy="274320"/>
          </a:xfrm>
          <a:prstGeom prst="rect">
            <a:avLst/>
          </a:prstGeom>
        </p:spPr>
      </p:pic>
      <p:sp>
        <p:nvSpPr>
          <p:cNvPr id="9" name="Text 6"/>
          <p:cNvSpPr txBox="1"/>
          <p:nvPr/>
        </p:nvSpPr>
        <p:spPr>
          <a:xfrm>
            <a:off x="6675120" y="1920240"/>
            <a:ext cx="4693615" cy="685800"/>
          </a:xfrm>
          <a:prstGeom prst="rect">
            <a:avLst/>
          </a:prstGeom>
          <a:noFill/>
          <a:ln/>
        </p:spPr>
        <p:txBody>
          <a:bodyPr wrap="square" lIns="0" tIns="0" rIns="0" bIns="0" rtlCol="0" anchor="t"/>
          <a:lstStyle/>
          <a:p>
            <a:pPr indent="0" marL="0">
              <a:buNone/>
            </a:pPr>
            <a:r>
              <a:rPr lang="en-US" sz="1350" dirty="0">
                <a:solidFill>
                  <a:srgbClr val="0F172A"/>
                </a:solidFill>
                <a:latin typeface="Calibri" pitchFamily="34" charset="0"/>
                <a:ea typeface="Calibri" pitchFamily="34" charset="-122"/>
                <a:cs typeface="Calibri" pitchFamily="34" charset="-120"/>
              </a:rPr>
              <a:t>Score the top hit against the corpus’s own background similarity.</a:t>
            </a:r>
            <a:endParaRPr lang="en-US" sz="1350" dirty="0"/>
          </a:p>
        </p:txBody>
      </p:sp>
      <p:sp>
        <p:nvSpPr>
          <p:cNvPr id="10" name="Text 7"/>
          <p:cNvSpPr txBox="1"/>
          <p:nvPr/>
        </p:nvSpPr>
        <p:spPr>
          <a:xfrm>
            <a:off x="822960" y="2724912"/>
            <a:ext cx="4709160" cy="685800"/>
          </a:xfrm>
          <a:prstGeom prst="rect">
            <a:avLst/>
          </a:prstGeom>
          <a:noFill/>
          <a:ln/>
        </p:spPr>
        <p:txBody>
          <a:bodyPr wrap="square" lIns="0" tIns="0" rIns="0" bIns="0" rtlCol="0" anchor="t"/>
          <a:lstStyle/>
          <a:p>
            <a:pPr indent="0" marL="0">
              <a:buNone/>
            </a:pPr>
            <a:r>
              <a:rPr lang="en-US" sz="1350" dirty="0">
                <a:solidFill>
                  <a:srgbClr val="0F172A"/>
                </a:solidFill>
                <a:latin typeface="Calibri" pitchFamily="34" charset="0"/>
                <a:ea typeface="Calibri" pitchFamily="34" charset="-122"/>
                <a:cs typeface="Calibri" pitchFamily="34" charset="-120"/>
              </a:rPr>
              <a:t>3 evaluation misses from Unicode look-alike characters.</a:t>
            </a:r>
            <a:endParaRPr lang="en-US" sz="1350" dirty="0"/>
          </a:p>
        </p:txBody>
      </p:sp>
      <p:pic>
        <p:nvPicPr>
          <p:cNvPr id="11" name="Image 1" descr="preencoded.png">    </p:cNvPr>
          <p:cNvPicPr>
            <a:picLocks noChangeAspect="1"/>
          </p:cNvPicPr>
          <p:nvPr/>
        </p:nvPicPr>
        <p:blipFill>
          <a:blip r:embed="rId2"/>
          <a:stretch>
            <a:fillRect/>
          </a:stretch>
        </p:blipFill>
        <p:spPr>
          <a:xfrm>
            <a:off x="5961888" y="2706624"/>
            <a:ext cx="274320" cy="274320"/>
          </a:xfrm>
          <a:prstGeom prst="rect">
            <a:avLst/>
          </a:prstGeom>
        </p:spPr>
      </p:pic>
      <p:sp>
        <p:nvSpPr>
          <p:cNvPr id="12" name="Text 8"/>
          <p:cNvSpPr txBox="1"/>
          <p:nvPr/>
        </p:nvSpPr>
        <p:spPr>
          <a:xfrm>
            <a:off x="6675120" y="2724912"/>
            <a:ext cx="4693615" cy="685800"/>
          </a:xfrm>
          <a:prstGeom prst="rect">
            <a:avLst/>
          </a:prstGeom>
          <a:noFill/>
          <a:ln/>
        </p:spPr>
        <p:txBody>
          <a:bodyPr wrap="square" lIns="0" tIns="0" rIns="0" bIns="0" rtlCol="0" anchor="t"/>
          <a:lstStyle/>
          <a:p>
            <a:pPr indent="0" marL="0">
              <a:buNone/>
            </a:pPr>
            <a:r>
              <a:rPr lang="en-US" sz="1350" dirty="0">
                <a:solidFill>
                  <a:srgbClr val="0F172A"/>
                </a:solidFill>
                <a:latin typeface="Calibri" pitchFamily="34" charset="0"/>
                <a:ea typeface="Calibri" pitchFamily="34" charset="-122"/>
                <a:cs typeface="Calibri" pitchFamily="34" charset="-120"/>
              </a:rPr>
              <a:t>Normalise compatibility ideographs at ingest and query time.</a:t>
            </a:r>
            <a:endParaRPr lang="en-US" sz="1350" dirty="0"/>
          </a:p>
        </p:txBody>
      </p:sp>
      <p:sp>
        <p:nvSpPr>
          <p:cNvPr id="13" name="Text 9"/>
          <p:cNvSpPr txBox="1"/>
          <p:nvPr/>
        </p:nvSpPr>
        <p:spPr>
          <a:xfrm>
            <a:off x="822960" y="3529584"/>
            <a:ext cx="4709160" cy="685800"/>
          </a:xfrm>
          <a:prstGeom prst="rect">
            <a:avLst/>
          </a:prstGeom>
          <a:noFill/>
          <a:ln/>
        </p:spPr>
        <p:txBody>
          <a:bodyPr wrap="square" lIns="0" tIns="0" rIns="0" bIns="0" rtlCol="0" anchor="t"/>
          <a:lstStyle/>
          <a:p>
            <a:pPr indent="0" marL="0">
              <a:buNone/>
            </a:pPr>
            <a:r>
              <a:rPr lang="en-US" sz="1350" dirty="0">
                <a:solidFill>
                  <a:srgbClr val="0F172A"/>
                </a:solidFill>
                <a:latin typeface="Calibri" pitchFamily="34" charset="0"/>
                <a:ea typeface="Calibri" pitchFamily="34" charset="-122"/>
                <a:cs typeface="Calibri" pitchFamily="34" charset="-120"/>
              </a:rPr>
              <a:t>One page is 46% of the corpus.</a:t>
            </a:r>
            <a:endParaRPr lang="en-US" sz="1350" dirty="0"/>
          </a:p>
        </p:txBody>
      </p:sp>
      <p:pic>
        <p:nvPicPr>
          <p:cNvPr id="14" name="Image 2" descr="preencoded.png">    </p:cNvPr>
          <p:cNvPicPr>
            <a:picLocks noChangeAspect="1"/>
          </p:cNvPicPr>
          <p:nvPr/>
        </p:nvPicPr>
        <p:blipFill>
          <a:blip r:embed="rId3"/>
          <a:stretch>
            <a:fillRect/>
          </a:stretch>
        </p:blipFill>
        <p:spPr>
          <a:xfrm>
            <a:off x="5961888" y="3511296"/>
            <a:ext cx="274320" cy="274320"/>
          </a:xfrm>
          <a:prstGeom prst="rect">
            <a:avLst/>
          </a:prstGeom>
        </p:spPr>
      </p:pic>
      <p:sp>
        <p:nvSpPr>
          <p:cNvPr id="15" name="Text 10"/>
          <p:cNvSpPr txBox="1"/>
          <p:nvPr/>
        </p:nvSpPr>
        <p:spPr>
          <a:xfrm>
            <a:off x="6675120" y="3529584"/>
            <a:ext cx="4693615" cy="685800"/>
          </a:xfrm>
          <a:prstGeom prst="rect">
            <a:avLst/>
          </a:prstGeom>
          <a:noFill/>
          <a:ln/>
        </p:spPr>
        <p:txBody>
          <a:bodyPr wrap="square" lIns="0" tIns="0" rIns="0" bIns="0" rtlCol="0" anchor="t"/>
          <a:lstStyle/>
          <a:p>
            <a:pPr indent="0" marL="0">
              <a:buNone/>
            </a:pPr>
            <a:r>
              <a:rPr lang="en-US" sz="1350" dirty="0">
                <a:solidFill>
                  <a:srgbClr val="0F172A"/>
                </a:solidFill>
                <a:latin typeface="Calibri" pitchFamily="34" charset="0"/>
                <a:ea typeface="Calibri" pitchFamily="34" charset="-122"/>
                <a:cs typeface="Calibri" pitchFamily="34" charset="-120"/>
              </a:rPr>
              <a:t>Cap or down-weight each document’s share of the index.</a:t>
            </a:r>
            <a:endParaRPr lang="en-US" sz="1350" dirty="0"/>
          </a:p>
        </p:txBody>
      </p:sp>
      <p:sp>
        <p:nvSpPr>
          <p:cNvPr id="16" name="Text 11"/>
          <p:cNvSpPr txBox="1"/>
          <p:nvPr/>
        </p:nvSpPr>
        <p:spPr>
          <a:xfrm>
            <a:off x="822960" y="4334256"/>
            <a:ext cx="4709160" cy="685800"/>
          </a:xfrm>
          <a:prstGeom prst="rect">
            <a:avLst/>
          </a:prstGeom>
          <a:noFill/>
          <a:ln/>
        </p:spPr>
        <p:txBody>
          <a:bodyPr wrap="square" lIns="0" tIns="0" rIns="0" bIns="0" rtlCol="0" anchor="t"/>
          <a:lstStyle/>
          <a:p>
            <a:pPr indent="0" marL="0">
              <a:buNone/>
            </a:pPr>
            <a:r>
              <a:rPr lang="en-US" sz="1350" dirty="0">
                <a:solidFill>
                  <a:srgbClr val="0F172A"/>
                </a:solidFill>
                <a:latin typeface="Calibri" pitchFamily="34" charset="0"/>
                <a:ea typeface="Calibri" pitchFamily="34" charset="-122"/>
                <a:cs typeface="Calibri" pitchFamily="34" charset="-120"/>
              </a:rPr>
              <a:t>The index is a snapshot, with no change detection.</a:t>
            </a:r>
            <a:endParaRPr lang="en-US" sz="1350" dirty="0"/>
          </a:p>
        </p:txBody>
      </p:sp>
      <p:pic>
        <p:nvPicPr>
          <p:cNvPr id="17" name="Image 3" descr="preencoded.png">    </p:cNvPr>
          <p:cNvPicPr>
            <a:picLocks noChangeAspect="1"/>
          </p:cNvPicPr>
          <p:nvPr/>
        </p:nvPicPr>
        <p:blipFill>
          <a:blip r:embed="rId4"/>
          <a:stretch>
            <a:fillRect/>
          </a:stretch>
        </p:blipFill>
        <p:spPr>
          <a:xfrm>
            <a:off x="5961888" y="4315968"/>
            <a:ext cx="274320" cy="274320"/>
          </a:xfrm>
          <a:prstGeom prst="rect">
            <a:avLst/>
          </a:prstGeom>
        </p:spPr>
      </p:pic>
      <p:sp>
        <p:nvSpPr>
          <p:cNvPr id="18" name="Text 12"/>
          <p:cNvSpPr txBox="1"/>
          <p:nvPr/>
        </p:nvSpPr>
        <p:spPr>
          <a:xfrm>
            <a:off x="6675120" y="4334256"/>
            <a:ext cx="4693615" cy="685800"/>
          </a:xfrm>
          <a:prstGeom prst="rect">
            <a:avLst/>
          </a:prstGeom>
          <a:noFill/>
          <a:ln/>
        </p:spPr>
        <p:txBody>
          <a:bodyPr wrap="square" lIns="0" tIns="0" rIns="0" bIns="0" rtlCol="0" anchor="t"/>
          <a:lstStyle/>
          <a:p>
            <a:pPr indent="0" marL="0">
              <a:buNone/>
            </a:pPr>
            <a:r>
              <a:rPr lang="en-US" sz="1350" dirty="0">
                <a:solidFill>
                  <a:srgbClr val="0F172A"/>
                </a:solidFill>
                <a:latin typeface="Calibri" pitchFamily="34" charset="0"/>
                <a:ea typeface="Calibri" pitchFamily="34" charset="-122"/>
                <a:cs typeface="Calibri" pitchFamily="34" charset="-120"/>
              </a:rPr>
              <a:t>Incremental crawl: hash pages, re-embed only what changed.</a:t>
            </a:r>
            <a:endParaRPr lang="en-US" sz="1350" dirty="0"/>
          </a:p>
        </p:txBody>
      </p:sp>
      <p:sp>
        <p:nvSpPr>
          <p:cNvPr id="19" name="Text 13"/>
          <p:cNvSpPr txBox="1"/>
          <p:nvPr/>
        </p:nvSpPr>
        <p:spPr>
          <a:xfrm>
            <a:off x="822960" y="5138928"/>
            <a:ext cx="4709160" cy="685800"/>
          </a:xfrm>
          <a:prstGeom prst="rect">
            <a:avLst/>
          </a:prstGeom>
          <a:noFill/>
          <a:ln/>
        </p:spPr>
        <p:txBody>
          <a:bodyPr wrap="square" lIns="0" tIns="0" rIns="0" bIns="0" rtlCol="0" anchor="t"/>
          <a:lstStyle/>
          <a:p>
            <a:pPr indent="0" marL="0">
              <a:buNone/>
            </a:pPr>
            <a:r>
              <a:rPr lang="en-US" sz="1350" dirty="0">
                <a:solidFill>
                  <a:srgbClr val="0F172A"/>
                </a:solidFill>
                <a:latin typeface="Calibri" pitchFamily="34" charset="0"/>
                <a:ea typeface="Calibri" pitchFamily="34" charset="-122"/>
                <a:cs typeface="Calibri" pitchFamily="34" charset="-120"/>
              </a:rPr>
              <a:t>Generated answers are checked by hand.</a:t>
            </a:r>
            <a:endParaRPr lang="en-US" sz="1350" dirty="0"/>
          </a:p>
        </p:txBody>
      </p:sp>
      <p:pic>
        <p:nvPicPr>
          <p:cNvPr id="20" name="Image 4" descr="preencoded.png">    </p:cNvPr>
          <p:cNvPicPr>
            <a:picLocks noChangeAspect="1"/>
          </p:cNvPicPr>
          <p:nvPr/>
        </p:nvPicPr>
        <p:blipFill>
          <a:blip r:embed="rId5"/>
          <a:stretch>
            <a:fillRect/>
          </a:stretch>
        </p:blipFill>
        <p:spPr>
          <a:xfrm>
            <a:off x="5961888" y="5120640"/>
            <a:ext cx="274320" cy="274320"/>
          </a:xfrm>
          <a:prstGeom prst="rect">
            <a:avLst/>
          </a:prstGeom>
        </p:spPr>
      </p:pic>
      <p:sp>
        <p:nvSpPr>
          <p:cNvPr id="21" name="Text 14"/>
          <p:cNvSpPr txBox="1"/>
          <p:nvPr/>
        </p:nvSpPr>
        <p:spPr>
          <a:xfrm>
            <a:off x="6675120" y="5138928"/>
            <a:ext cx="4693615" cy="685800"/>
          </a:xfrm>
          <a:prstGeom prst="rect">
            <a:avLst/>
          </a:prstGeom>
          <a:noFill/>
          <a:ln/>
        </p:spPr>
        <p:txBody>
          <a:bodyPr wrap="square" lIns="0" tIns="0" rIns="0" bIns="0" rtlCol="0" anchor="t"/>
          <a:lstStyle/>
          <a:p>
            <a:pPr indent="0" marL="0">
              <a:buNone/>
            </a:pPr>
            <a:r>
              <a:rPr lang="en-US" sz="1350" dirty="0">
                <a:solidFill>
                  <a:srgbClr val="0F172A"/>
                </a:solidFill>
                <a:latin typeface="Calibri" pitchFamily="34" charset="0"/>
                <a:ea typeface="Calibri" pitchFamily="34" charset="-122"/>
                <a:cs typeface="Calibri" pitchFamily="34" charset="-120"/>
              </a:rPr>
              <a:t>Faithfulness scoring (RAGAS), and tests for orchestration and tool choice.</a:t>
            </a:r>
            <a:endParaRPr lang="en-US" sz="135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914400"/>
            <a:ext cx="4114800" cy="4114800"/>
          </a:xfrm>
          <a:prstGeom prst="rect">
            <a:avLst/>
          </a:prstGeom>
        </p:spPr>
      </p:pic>
      <p:sp>
        <p:nvSpPr>
          <p:cNvPr id="3" name="Text 0"/>
          <p:cNvSpPr txBox="1"/>
          <p:nvPr/>
        </p:nvSpPr>
        <p:spPr>
          <a:xfrm>
            <a:off x="548640" y="1600200"/>
            <a:ext cx="685800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Questions?</a:t>
            </a:r>
            <a:endParaRPr lang="en-US" sz="4800" dirty="0"/>
          </a:p>
        </p:txBody>
      </p:sp>
      <p:sp>
        <p:nvSpPr>
          <p:cNvPr id="4" name="Text 1"/>
          <p:cNvSpPr txBox="1"/>
          <p:nvPr/>
        </p:nvSpPr>
        <p:spPr>
          <a:xfrm>
            <a:off x="548640" y="2560320"/>
            <a:ext cx="6400800" cy="457200"/>
          </a:xfrm>
          <a:prstGeom prst="rect">
            <a:avLst/>
          </a:prstGeom>
          <a:noFill/>
          <a:ln/>
        </p:spPr>
        <p:txBody>
          <a:bodyPr wrap="square" lIns="0" tIns="0" rIns="0" bIns="0" rtlCol="0" anchor="t"/>
          <a:lstStyle/>
          <a:p>
            <a:pPr indent="0" marL="0">
              <a:buNone/>
            </a:pPr>
            <a:r>
              <a:rPr lang="en-US" sz="2000" dirty="0">
                <a:solidFill>
                  <a:srgbClr val="CBD5E1"/>
                </a:solidFill>
                <a:latin typeface="Calibri" pitchFamily="34" charset="0"/>
                <a:ea typeface="Calibri" pitchFamily="34" charset="-122"/>
                <a:cs typeface="Calibri" pitchFamily="34" charset="-120"/>
              </a:rPr>
              <a:t>Thank you.</a:t>
            </a:r>
            <a:endParaRPr lang="en-US" sz="2000" dirty="0"/>
          </a:p>
        </p:txBody>
      </p:sp>
      <p:sp>
        <p:nvSpPr>
          <p:cNvPr id="5" name="Shape 2"/>
          <p:cNvSpPr/>
          <p:nvPr/>
        </p:nvSpPr>
        <p:spPr>
          <a:xfrm>
            <a:off x="548640" y="3429000"/>
            <a:ext cx="6035040" cy="1371600"/>
          </a:xfrm>
          <a:prstGeom prst="roundRect">
            <a:avLst>
              <a:gd name="adj" fmla="val 6667"/>
            </a:avLst>
          </a:prstGeom>
          <a:solidFill>
            <a:srgbClr val="1E293B"/>
          </a:solidFill>
          <a:ln w="9525">
            <a:solidFill>
              <a:srgbClr val="1E293B"/>
            </a:solidFill>
            <a:prstDash val="solid"/>
          </a:ln>
        </p:spPr>
      </p:sp>
      <p:sp>
        <p:nvSpPr>
          <p:cNvPr id="6" name="Text 3"/>
          <p:cNvSpPr txBox="1"/>
          <p:nvPr/>
        </p:nvSpPr>
        <p:spPr>
          <a:xfrm>
            <a:off x="868680" y="3611880"/>
            <a:ext cx="5486400" cy="1051560"/>
          </a:xfrm>
          <a:prstGeom prst="rect">
            <a:avLst/>
          </a:prstGeom>
          <a:noFill/>
          <a:ln/>
        </p:spPr>
        <p:txBody>
          <a:bodyPr wrap="square" lIns="0" tIns="0" rIns="0" bIns="0" rtlCol="0" anchor="t"/>
          <a:lstStyle/>
          <a:p>
            <a:pPr indent="0" marL="0">
              <a:spcAft>
                <a:spcPts val="600"/>
              </a:spcAft>
              <a:buNone/>
            </a:pPr>
            <a:r>
              <a:rPr lang="en-US" sz="1500" dirty="0">
                <a:solidFill>
                  <a:srgbClr val="CBD5E1"/>
                </a:solidFill>
                <a:latin typeface="Courier New" pitchFamily="34" charset="0"/>
                <a:ea typeface="Courier New" pitchFamily="34" charset="-122"/>
                <a:cs typeface="Courier New" pitchFamily="34" charset="-120"/>
              </a:rPr>
              <a:t>make install</a:t>
            </a:r>
            <a:endParaRPr lang="en-US" sz="1500" dirty="0"/>
          </a:p>
          <a:p>
            <a:pPr indent="0" marL="0">
              <a:spcAft>
                <a:spcPts val="600"/>
              </a:spcAft>
              <a:buNone/>
            </a:pPr>
            <a:r>
              <a:rPr lang="en-US" sz="1500" dirty="0">
                <a:solidFill>
                  <a:srgbClr val="CBD5E1"/>
                </a:solidFill>
                <a:latin typeface="Courier New" pitchFamily="34" charset="0"/>
                <a:ea typeface="Courier New" pitchFamily="34" charset="-122"/>
                <a:cs typeface="Courier New" pitchFamily="34" charset="-120"/>
              </a:rPr>
              <a:t>make ingest</a:t>
            </a:r>
            <a:endParaRPr lang="en-US" sz="1500" dirty="0"/>
          </a:p>
          <a:p>
            <a:pPr indent="0" marL="0">
              <a:spcAft>
                <a:spcPts val="600"/>
              </a:spcAft>
              <a:buNone/>
            </a:pPr>
            <a:r>
              <a:rPr lang="en-US" sz="1500" dirty="0">
                <a:solidFill>
                  <a:srgbClr val="CBD5E1"/>
                </a:solidFill>
                <a:latin typeface="Courier New" pitchFamily="34" charset="0"/>
                <a:ea typeface="Courier New" pitchFamily="34" charset="-122"/>
                <a:cs typeface="Courier New" pitchFamily="34" charset="-120"/>
              </a:rPr>
              <a:t>make run      # http://127.0.0.1:8000</a:t>
            </a:r>
            <a:endParaRPr lang="en-US" sz="1500" dirty="0"/>
          </a:p>
        </p:txBody>
      </p:sp>
      <p:sp>
        <p:nvSpPr>
          <p:cNvPr id="7" name="Text 4"/>
          <p:cNvSpPr txBox="1"/>
          <p:nvPr/>
        </p:nvSpPr>
        <p:spPr>
          <a:xfrm>
            <a:off x="548640" y="5074920"/>
            <a:ext cx="6949440" cy="36576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Spec: docs/functional-spec.md   ·   Design notes and demo script: README.md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YZU AI Center Assistant</dc:title>
  <dc:subject>PptxGenJS Presentation</dc:subject>
  <dc:creator>Anh Cao</dc:creator>
  <cp:lastModifiedBy>Anh Cao</cp:lastModifiedBy>
  <cp:revision>1</cp:revision>
  <dcterms:created xsi:type="dcterms:W3CDTF">2026-09-10T14:38:08Z</dcterms:created>
  <dcterms:modified xsi:type="dcterms:W3CDTF">2026-09-10T14:38:08Z</dcterms:modified>
</cp:coreProperties>
</file>